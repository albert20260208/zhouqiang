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828800"/>
            <a:ext cx="54864" cy="3200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11680"/>
            <a:ext cx="9144000" cy="1097280"/>
          </a:xfrm>
          <a:prstGeom prst="rect">
            <a:avLst/>
          </a:prstGeom>
          <a:noFill/>
        </p:spPr>
        <p:txBody>
          <a:bodyPr wrap="square">
            <a:spAutoFit/>
          </a:bodyPr>
          <a:lstStyle/>
          <a:p>
            <a:pPr algn="l">
              <a:defRPr sz="4400" b="1">
                <a:solidFill>
                  <a:srgbClr val="003D7C"/>
                </a:solidFill>
                <a:latin typeface="微软雅黑"/>
              </a:defRPr>
            </a:pPr>
            <a:r>
              <a:t>上海银行安防数智化应用展示</a:t>
            </a:r>
          </a:p>
        </p:txBody>
      </p:sp>
      <p:sp>
        <p:nvSpPr>
          <p:cNvPr id="6" name="TextBox 5"/>
          <p:cNvSpPr txBox="1"/>
          <p:nvPr/>
        </p:nvSpPr>
        <p:spPr>
          <a:xfrm>
            <a:off x="1188720" y="3200400"/>
            <a:ext cx="9144000" cy="731520"/>
          </a:xfrm>
          <a:prstGeom prst="rect">
            <a:avLst/>
          </a:prstGeom>
          <a:noFill/>
        </p:spPr>
        <p:txBody>
          <a:bodyPr wrap="square">
            <a:spAutoFit/>
          </a:bodyPr>
          <a:lstStyle/>
          <a:p>
            <a:pPr algn="l">
              <a:defRPr sz="2400" b="0">
                <a:solidFill>
                  <a:srgbClr val="4A4A4A"/>
                </a:solidFill>
                <a:latin typeface="微软雅黑"/>
              </a:defRPr>
            </a:pPr>
            <a:r>
              <a:t>统筹发展与安全，筑牢金融安全防线</a:t>
            </a:r>
          </a:p>
        </p:txBody>
      </p:sp>
      <p:sp>
        <p:nvSpPr>
          <p:cNvPr id="7" name="Rectangle 6"/>
          <p:cNvSpPr/>
          <p:nvPr/>
        </p:nvSpPr>
        <p:spPr>
          <a:xfrm>
            <a:off x="1188720" y="4206240"/>
            <a:ext cx="27432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572000"/>
            <a:ext cx="9144000" cy="548640"/>
          </a:xfrm>
          <a:prstGeom prst="rect">
            <a:avLst/>
          </a:prstGeom>
          <a:noFill/>
        </p:spPr>
        <p:txBody>
          <a:bodyPr wrap="square">
            <a:spAutoFit/>
          </a:bodyPr>
          <a:lstStyle/>
          <a:p>
            <a:pPr algn="l">
              <a:defRPr sz="1600" b="0">
                <a:solidFill>
                  <a:srgbClr val="8A8A8A"/>
                </a:solidFill>
                <a:latin typeface="微软雅黑"/>
              </a:defRPr>
            </a:pPr>
            <a:r>
              <a:t>上篇 · 安防数智化探索实践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560320"/>
            <a:ext cx="9601200" cy="1097280"/>
          </a:xfrm>
          <a:prstGeom prst="rect">
            <a:avLst/>
          </a:prstGeom>
          <a:noFill/>
        </p:spPr>
        <p:txBody>
          <a:bodyPr wrap="square">
            <a:spAutoFit/>
          </a:bodyPr>
          <a:lstStyle/>
          <a:p>
            <a:pPr algn="l">
              <a:defRPr sz="4000" b="1">
                <a:solidFill>
                  <a:srgbClr val="FFFFFF"/>
                </a:solidFill>
                <a:latin typeface="微软雅黑"/>
              </a:defRPr>
            </a:pPr>
            <a:r>
              <a:t>开篇 · 背景与发展概况</a:t>
            </a:r>
          </a:p>
        </p:txBody>
      </p:sp>
      <p:sp>
        <p:nvSpPr>
          <p:cNvPr id="5" name="Rectangle 4"/>
          <p:cNvSpPr/>
          <p:nvPr/>
        </p:nvSpPr>
        <p:spPr>
          <a:xfrm>
            <a:off x="1371600" y="3840480"/>
            <a:ext cx="1828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601200" cy="731520"/>
          </a:xfrm>
          <a:prstGeom prst="rect">
            <a:avLst/>
          </a:prstGeom>
          <a:noFill/>
        </p:spPr>
        <p:txBody>
          <a:bodyPr wrap="square">
            <a:spAutoFit/>
          </a:bodyPr>
          <a:lstStyle/>
          <a:p>
            <a:pPr algn="l">
              <a:defRPr sz="2000" b="0">
                <a:solidFill>
                  <a:srgbClr val="CCDDF0"/>
                </a:solidFill>
                <a:latin typeface="微软雅黑"/>
              </a:defRPr>
            </a:pPr>
            <a:r>
              <a:t>模拟安防 → 数字安防 → 智能应用 → 数智化阶段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02</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第一章 开篇与背景</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051560"/>
            <a:ext cx="10362895" cy="640080"/>
          </a:xfrm>
          <a:prstGeom prst="rect">
            <a:avLst/>
          </a:prstGeom>
          <a:noFill/>
        </p:spPr>
        <p:txBody>
          <a:bodyPr wrap="square">
            <a:spAutoFit/>
          </a:bodyPr>
          <a:lstStyle/>
          <a:p>
            <a:pPr algn="l">
              <a:defRPr sz="2400" b="1">
                <a:solidFill>
                  <a:srgbClr val="003D7C"/>
                </a:solidFill>
                <a:latin typeface="微软雅黑"/>
              </a:defRPr>
            </a:pPr>
            <a:r>
              <a:t>镜号 1 | 00:00-00:03</a:t>
            </a:r>
          </a:p>
        </p:txBody>
      </p:sp>
      <p:sp>
        <p:nvSpPr>
          <p:cNvPr id="8" name="Rectangle 7"/>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0" name="TextBox 9"/>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统筹发展与安全，筑牢金融安全防线。</a:t>
            </a:r>
          </a:p>
        </p:txBody>
      </p:sp>
      <p:sp>
        <p:nvSpPr>
          <p:cNvPr id="11" name="TextBox 10"/>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2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03</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第一章 开篇与背景</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贯彻监管与总行领导要求，坚定践行‘一管三化’工作体系，推进安防数智化升级，加速安全管理向‘人防、技防、智防’深度融合的现</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贯彻监管与总行领导要求，坚定践行‘一管三化’工作体系，推进安防数智化升级，加速安全管理向‘人防、技防、智防’深度融合的现代化模式加速转型。</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近年来，上海银行坚持统筹发展和安全，践行‘一管三化’工作体系，聚焦安全管理主责主业，以数智模型建设为核心，构建全量风险预警体系，打造“一屏观全行，一网管全行”，牢牢守住安全底线。</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3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04</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第一章 开篇与背景</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模拟安防→数字安防→智能应用→数智化阶段</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模拟安防→数字安防→智能应用→数智化阶段</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银行业安防历经模拟、数字、智能三大阶段，目前全面迈入数智化新时代。</a:t>
            </a:r>
          </a:p>
        </p:txBody>
      </p:sp>
      <p:sp>
        <p:nvSpPr>
          <p:cNvPr id="13" name="TextBox 12"/>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4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05</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第一章 开篇与背景</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物联感知・自动预警・数据赋能</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物联感知・自动预警・数据赋能</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我行先行探索以物联网、自动化、数据驱动为技术底座，实现物理空间感知、行为识别预警、数据辅助决策，让安防从 “管设备” 逐步转向 “管行为、控风险”。</a:t>
            </a:r>
          </a:p>
        </p:txBody>
      </p:sp>
      <p:sp>
        <p:nvSpPr>
          <p:cNvPr id="13" name="TextBox 12"/>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5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560320"/>
            <a:ext cx="9601200" cy="1097280"/>
          </a:xfrm>
          <a:prstGeom prst="rect">
            <a:avLst/>
          </a:prstGeom>
          <a:noFill/>
        </p:spPr>
        <p:txBody>
          <a:bodyPr wrap="square">
            <a:spAutoFit/>
          </a:bodyPr>
          <a:lstStyle/>
          <a:p>
            <a:pPr algn="l">
              <a:defRPr sz="4000" b="1">
                <a:solidFill>
                  <a:srgbClr val="FFFFFF"/>
                </a:solidFill>
                <a:latin typeface="微软雅黑"/>
              </a:defRPr>
            </a:pPr>
            <a:r>
              <a:t>整体规划框架</a:t>
            </a:r>
          </a:p>
        </p:txBody>
      </p:sp>
      <p:sp>
        <p:nvSpPr>
          <p:cNvPr id="5" name="Rectangle 4"/>
          <p:cNvSpPr/>
          <p:nvPr/>
        </p:nvSpPr>
        <p:spPr>
          <a:xfrm>
            <a:off x="1371600" y="3840480"/>
            <a:ext cx="1828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601200" cy="731520"/>
          </a:xfrm>
          <a:prstGeom prst="rect">
            <a:avLst/>
          </a:prstGeom>
          <a:noFill/>
        </p:spPr>
        <p:txBody>
          <a:bodyPr wrap="square">
            <a:spAutoFit/>
          </a:bodyPr>
          <a:lstStyle/>
          <a:p>
            <a:pPr algn="l">
              <a:defRPr sz="2000" b="0">
                <a:solidFill>
                  <a:srgbClr val="CCDDF0"/>
                </a:solidFill>
                <a:latin typeface="微软雅黑"/>
              </a:defRPr>
            </a:pPr>
            <a:r>
              <a:t>看得到 · 管得牢 · 用得优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07</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第二章 规划框架</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051560"/>
            <a:ext cx="10362895" cy="640080"/>
          </a:xfrm>
          <a:prstGeom prst="rect">
            <a:avLst/>
          </a:prstGeom>
          <a:noFill/>
        </p:spPr>
        <p:txBody>
          <a:bodyPr wrap="square">
            <a:spAutoFit/>
          </a:bodyPr>
          <a:lstStyle/>
          <a:p>
            <a:pPr algn="l">
              <a:defRPr sz="2400" b="1">
                <a:solidFill>
                  <a:srgbClr val="003D7C"/>
                </a:solidFill>
                <a:latin typeface="微软雅黑"/>
              </a:defRPr>
            </a:pPr>
            <a:r>
              <a:t>镜号 5 | 00:30-00:50</a:t>
            </a:r>
          </a:p>
        </p:txBody>
      </p:sp>
      <p:sp>
        <p:nvSpPr>
          <p:cNvPr id="8" name="Rectangle 7"/>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0" name="TextBox 9"/>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依托坚实技术底座，确立 “看、管、用” 三大建设方向，锚定一屏观全行、一网管全行总体目标，数智安防建设成果全面落地，各项规划有序推进。</a:t>
            </a:r>
          </a:p>
        </p:txBody>
      </p:sp>
      <p:sp>
        <p:nvSpPr>
          <p:cNvPr id="11" name="TextBox 10"/>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7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560320"/>
            <a:ext cx="9601200" cy="1097280"/>
          </a:xfrm>
          <a:prstGeom prst="rect">
            <a:avLst/>
          </a:prstGeom>
          <a:noFill/>
        </p:spPr>
        <p:txBody>
          <a:bodyPr wrap="square">
            <a:spAutoFit/>
          </a:bodyPr>
          <a:lstStyle/>
          <a:p>
            <a:pPr algn="l">
              <a:defRPr sz="4000" b="1">
                <a:solidFill>
                  <a:srgbClr val="FFFFFF"/>
                </a:solidFill>
                <a:latin typeface="微软雅黑"/>
              </a:defRPr>
            </a:pPr>
            <a:r>
              <a:t>核心实践成果</a:t>
            </a:r>
          </a:p>
        </p:txBody>
      </p:sp>
      <p:sp>
        <p:nvSpPr>
          <p:cNvPr id="5" name="Rectangle 4"/>
          <p:cNvSpPr/>
          <p:nvPr/>
        </p:nvSpPr>
        <p:spPr>
          <a:xfrm>
            <a:off x="1371600" y="3840480"/>
            <a:ext cx="1828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601200" cy="731520"/>
          </a:xfrm>
          <a:prstGeom prst="rect">
            <a:avLst/>
          </a:prstGeom>
          <a:noFill/>
        </p:spPr>
        <p:txBody>
          <a:bodyPr wrap="square">
            <a:spAutoFit/>
          </a:bodyPr>
          <a:lstStyle/>
          <a:p>
            <a:pPr algn="l">
              <a:defRPr sz="2000" b="0">
                <a:solidFill>
                  <a:srgbClr val="CCDDF0"/>
                </a:solidFill>
                <a:latin typeface="微软雅黑"/>
              </a:defRPr>
            </a:pPr>
            <a:r>
              <a:t>三大板块 · "看管用"全面落地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09</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板块一 视觉与监测突破</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1、业内率先实现上海地区安防专网全覆盖，实现监控中心的“多场所”。</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50"/>
              </a:spcAft>
              <a:defRPr sz="1500" b="0">
                <a:solidFill>
                  <a:srgbClr val="4A4A4A"/>
                </a:solidFill>
                <a:latin typeface="微软雅黑"/>
              </a:defRPr>
            </a:pPr>
            <a:r>
              <a:t>  1、业内率先实现上海地区安防专网全覆盖，实现监控中心的“多场所”。</a:t>
            </a:r>
          </a:p>
          <a:p>
            <a:pPr algn="l">
              <a:spcAft>
                <a:spcPts val="450"/>
              </a:spcAft>
              <a:defRPr sz="1500" b="0">
                <a:solidFill>
                  <a:srgbClr val="4A4A4A"/>
                </a:solidFill>
                <a:latin typeface="微软雅黑"/>
              </a:defRPr>
            </a:pPr>
            <a:r>
              <a:t>  2、业内首家对办公场所、重控场所的重点部位24小时监测，如燃气阀门等，发现问题实时通知整改。</a:t>
            </a:r>
          </a:p>
          <a:p>
            <a:pPr algn="l">
              <a:spcAft>
                <a:spcPts val="450"/>
              </a:spcAft>
              <a:defRPr sz="1500" b="0">
                <a:solidFill>
                  <a:srgbClr val="4A4A4A"/>
                </a:solidFill>
                <a:latin typeface="微软雅黑"/>
              </a:defRPr>
            </a:pPr>
            <a:r>
              <a:t>  3、搭建业内首个网络安全管理平台，实现安防设备在线准入、预防外部攻击、隔离内部网络侵袭、扫描系统漏洞、监测网络稳定性、入侵预警6大功能的监测模型。</a:t>
            </a:r>
          </a:p>
          <a:p>
            <a:pPr algn="l">
              <a:spcAft>
                <a:spcPts val="420"/>
              </a:spcAft>
              <a:defRPr sz="1400" b="0">
                <a:solidFill>
                  <a:srgbClr val="2563EB"/>
                </a:solidFill>
                <a:latin typeface="微软雅黑"/>
              </a:defRPr>
            </a:pPr>
            <a:r>
              <a:t>▸ 下阶段：加快推进各地分行安防专网建设</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专网建设取得突破，夯实硬件基础，实现“看得到”。</a:t>
            </a:r>
            <a:br/>
            <a:br/>
            <a:r>
              <a:t>1、业内率先实现上海地区安防专网全覆盖，实现监控中心的“多场所”。</a:t>
            </a:r>
            <a:br/>
            <a:r>
              <a:t>2、业内首家对办公场所、重控场所的重点部位24小时监测，发现问题实时通知整改。</a:t>
            </a:r>
            <a:br/>
            <a:r>
              <a:t>3、搭建业内首个网络安全管理平台，实现防泄密、防入侵等6大功能的监测模型。</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9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10</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板块一 视觉与监测突破</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1、预警信息看得清，建立消防云平台，消防设施感知与视频联动。</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50"/>
              </a:spcAft>
              <a:defRPr sz="1500" b="0">
                <a:solidFill>
                  <a:srgbClr val="4A4A4A"/>
                </a:solidFill>
                <a:latin typeface="微软雅黑"/>
              </a:defRPr>
            </a:pPr>
            <a:r>
              <a:t>  1、预警信息看得清，建立消防云平台，消防设施感知与视频联动。</a:t>
            </a:r>
          </a:p>
          <a:p>
            <a:pPr algn="l">
              <a:spcAft>
                <a:spcPts val="450"/>
              </a:spcAft>
              <a:defRPr sz="1500" b="0">
                <a:solidFill>
                  <a:srgbClr val="4A4A4A"/>
                </a:solidFill>
                <a:latin typeface="微软雅黑"/>
              </a:defRPr>
            </a:pPr>
            <a:r>
              <a:t>  2、管理手势看得清，建立智慧楼宇管理平台，实现总行本级办公楼宇可视化管理。</a:t>
            </a:r>
          </a:p>
          <a:p>
            <a:pPr algn="l">
              <a:spcAft>
                <a:spcPts val="450"/>
              </a:spcAft>
              <a:defRPr sz="1500" b="0">
                <a:solidFill>
                  <a:srgbClr val="4A4A4A"/>
                </a:solidFill>
                <a:latin typeface="微软雅黑"/>
              </a:defRPr>
            </a:pPr>
            <a:r>
              <a:t>  3、处置流程看得清，建设金库智能安防系统，实现金库安全数字化统一管理。</a:t>
            </a:r>
          </a:p>
          <a:p>
            <a:pPr algn="l">
              <a:spcAft>
                <a:spcPts val="420"/>
              </a:spcAft>
              <a:defRPr sz="1400" b="0">
                <a:solidFill>
                  <a:srgbClr val="2563EB"/>
                </a:solidFill>
                <a:latin typeface="微软雅黑"/>
              </a:defRPr>
            </a:pPr>
            <a:r>
              <a:t>▸ 下阶段：搭建数据湖，打通四大平台数据链路，安防 APP 接入 E 事通，构建统一风险预警视图</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系统整合取得突破，打通信息孤岛，消防云平台、智慧楼宇管理平台（通行）、金库智能安防系统界面联动演示全场景态势实现可视化管理，实现“看得清”。</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10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11</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板块一 视觉与监测突破</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全域看得全，上线运行35类风险场景监测模型，包括接送库等8个监管要求场景监测，赋能绿营 5个场景、赋能安全生产 7个场景</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全域看得全，上线运行35类风险场景监测模型，包括接送库等8个监管要求场景监测，赋能绿营 5个场景、赋能安全生产 7个场景、赋能服务 15个场景。</a:t>
            </a:r>
          </a:p>
          <a:p>
            <a:pPr algn="l">
              <a:spcAft>
                <a:spcPts val="420"/>
              </a:spcAft>
              <a:defRPr sz="1400" b="0">
                <a:solidFill>
                  <a:srgbClr val="2563EB"/>
                </a:solidFill>
                <a:latin typeface="微软雅黑"/>
              </a:defRPr>
            </a:pPr>
            <a:r>
              <a:t>▸ 下阶段：升级 2 项人员履职监测场景，新增 3 项操作履职、3 项高风险行为自动监测场景。</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数智化监测取得突破，探索AI识别，35类风险场景智能监测、安防网络安全全维度防护，实现“看得全”。</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11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12</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板块二 全流程管理创新</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1、率先建设安全综合管理平台，打造风险监测、预警、处置、线上归档、管理评估与质量分析等风险监测与预警处置的全流程数字化管</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50"/>
              </a:spcAft>
              <a:defRPr sz="1500" b="0">
                <a:solidFill>
                  <a:srgbClr val="4A4A4A"/>
                </a:solidFill>
                <a:latin typeface="微软雅黑"/>
              </a:defRPr>
            </a:pPr>
            <a:r>
              <a:t>  1、率先建设安全综合管理平台，打造风险监测、预警、处置、线上归档、管理评估与质量分析等风险监测与预警处置的全流程数字化管理驾驶舱。</a:t>
            </a:r>
          </a:p>
          <a:p>
            <a:pPr algn="l">
              <a:spcAft>
                <a:spcPts val="450"/>
              </a:spcAft>
              <a:defRPr sz="1500" b="0">
                <a:solidFill>
                  <a:srgbClr val="4A4A4A"/>
                </a:solidFill>
                <a:latin typeface="微软雅黑"/>
              </a:defRPr>
            </a:pPr>
            <a:r>
              <a:t>  2、建立非现场检查模式，每周对上海地区240家、各地122家网点实现常态化安全检查全覆盖（数据）。</a:t>
            </a:r>
          </a:p>
          <a:p>
            <a:pPr algn="l">
              <a:spcAft>
                <a:spcPts val="450"/>
              </a:spcAft>
              <a:defRPr sz="1500" b="0">
                <a:solidFill>
                  <a:srgbClr val="4A4A4A"/>
                </a:solidFill>
                <a:latin typeface="微软雅黑"/>
              </a:defRPr>
            </a:pPr>
            <a:r>
              <a:t>  3、率先建设行业首家金库安全线上管理平台，实现金库全流程线上闭环管理。</a:t>
            </a:r>
          </a:p>
          <a:p>
            <a:pPr algn="l">
              <a:spcAft>
                <a:spcPts val="420"/>
              </a:spcAft>
              <a:defRPr sz="1400" b="0">
                <a:solidFill>
                  <a:srgbClr val="2563EB"/>
                </a:solidFill>
                <a:latin typeface="微软雅黑"/>
              </a:defRPr>
            </a:pPr>
            <a:r>
              <a:t>▸ 下阶段：依托《基于专业视角的全量风险管理能力再提升》课题研究，构建数据湖完善线上流程，新增安全态势 AI 智能分析辅助决策。</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创新数智化全流程闭环管理，风险预警“防得住”。</a:t>
            </a:r>
            <a:br/>
            <a:br/>
            <a:r>
              <a:t>1、率先建设安全综合管理平台，打造风险监测与预警处置的全流程数字化管理驾驶舱。</a:t>
            </a:r>
            <a:br/>
            <a:r>
              <a:t>2、建立非现场检查模式，定期开展全行安全检查，实现常态化安全检查全覆盖。</a:t>
            </a:r>
            <a:br/>
            <a:r>
              <a:t>3、率先建设行业首家金库安全线上管理平台，实现金库全流程线上闭环管理。</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12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13</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板块二 全流程管理创新</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率先建设安全管理数字画像，实现全行各层级安全生产风险图谱评估与管理履职闭环数字化管理，推动安全责任可视化。</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率先建设安全管理数字画像，实现全行各层级安全生产风险图谱评估与管理履职闭环数字化管理，推动安全责任可视化。</a:t>
            </a:r>
          </a:p>
          <a:p>
            <a:pPr algn="l">
              <a:spcAft>
                <a:spcPts val="420"/>
              </a:spcAft>
              <a:defRPr sz="1400" b="0">
                <a:solidFill>
                  <a:srgbClr val="2563EB"/>
                </a:solidFill>
                <a:latin typeface="微软雅黑"/>
              </a:defRPr>
            </a:pPr>
            <a:r>
              <a:t>▸ 下阶段：进一步推动《基于组织架构改革的基层安全生产再赋能》课题研究，完善分支行风险画像，上线 PC 端管理驾驶舱。</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创新安全生产数字画像，质效达标“管得牢”。</a:t>
            </a:r>
            <a:br/>
            <a:br/>
            <a:r>
              <a:t>率先建设安全管理数字画像，实现全行各层级安全生产风险图谱评估与管理履职闭环数字化管理。</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13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14</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板块二 全流程管理创新</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全面推广安防 APP ，线上履职渠道全面铺开，安防检查、整改、演练等日常工作实现线上流转。</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全面推广安防 APP ，线上履职渠道全面铺开，安防检查、整改、演练等日常工作实现线上流转。</a:t>
            </a:r>
          </a:p>
          <a:p>
            <a:pPr algn="l">
              <a:spcAft>
                <a:spcPts val="420"/>
              </a:spcAft>
              <a:defRPr sz="1400" b="0">
                <a:solidFill>
                  <a:srgbClr val="2563EB"/>
                </a:solidFill>
                <a:latin typeface="微软雅黑"/>
              </a:defRPr>
            </a:pPr>
            <a:r>
              <a:t>▸ 下阶段：完善检查整改功能，新增演练、任务预警功能，APP 接入 E事通。</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创新全员安防线上履职APP，尽职履职“抓得实”。</a:t>
            </a:r>
            <a:br/>
            <a:br/>
            <a:r>
              <a:t>线上履职渠道全面铺开，安防检查、整改、演练等日常工作实现线上流转。</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14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15</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板块三 AI赋能业务与基层</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1、推广安防台账电子化，通过复用安防门禁系统，实现台账“线上化”、“智能化”，全年全行可节约5900小时操作时长。</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50"/>
              </a:spcAft>
              <a:defRPr sz="1500" b="0">
                <a:solidFill>
                  <a:srgbClr val="4A4A4A"/>
                </a:solidFill>
                <a:latin typeface="微软雅黑"/>
              </a:defRPr>
            </a:pPr>
            <a:r>
              <a:t>  1、推广安防台账电子化，通过复用安防门禁系统，实现台账“线上化”、“智能化”，全年全行可节约5900小时操作时长。</a:t>
            </a:r>
          </a:p>
          <a:p>
            <a:pPr algn="l">
              <a:spcAft>
                <a:spcPts val="450"/>
              </a:spcAft>
              <a:defRPr sz="1500" b="0">
                <a:solidFill>
                  <a:srgbClr val="4A4A4A"/>
                </a:solidFill>
                <a:latin typeface="微软雅黑"/>
              </a:defRPr>
            </a:pPr>
            <a:r>
              <a:t>  2、试点安防设备AI质检，通过平台AI智能巡检功能，自动巡查监控图像质量，推广全行后，全年可节约3000小时操作时长。</a:t>
            </a:r>
          </a:p>
          <a:p>
            <a:pPr algn="l">
              <a:spcAft>
                <a:spcPts val="420"/>
              </a:spcAft>
              <a:defRPr sz="1400" b="0">
                <a:solidFill>
                  <a:srgbClr val="2563EB"/>
                </a:solidFill>
                <a:latin typeface="微软雅黑"/>
              </a:defRPr>
            </a:pPr>
            <a:r>
              <a:t>▸ 下阶段：深入研究《基于数字技术的安防主动管理能力再提升》课题，全面推广电子台账，将 AI 质检巡检由每日调整为每周。</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探索AI质检的基层纵向履职赋能，</a:t>
            </a:r>
            <a:br/>
            <a:r>
              <a:t>实现“用得顺”。</a:t>
            </a:r>
            <a:br/>
            <a:br/>
            <a:r>
              <a:t>1、推广安防台账电子化，实现台账“线上化”、“智能化”，全年全行可节约5900小时操作时长。</a:t>
            </a:r>
            <a:br/>
            <a:r>
              <a:t>2、试点安防设备AI质检，通过平台AI智能巡检功能，自动巡查监控图像质量，推广全行后，全年可节约3000小时操作时长。</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15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16</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板块三 AI赋能业务与基层</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1、推动数智安防深度融入经营场景，部署17 项案防与合规智能识别模型，20 家网点先行试点。</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50"/>
              </a:spcAft>
              <a:defRPr sz="1500" b="0">
                <a:solidFill>
                  <a:srgbClr val="4A4A4A"/>
                </a:solidFill>
                <a:latin typeface="微软雅黑"/>
              </a:defRPr>
            </a:pPr>
            <a:r>
              <a:t>  1、推动数智安防深度融入经营场景，部署17 项案防与合规智能识别模型，20 家网点先行试点。</a:t>
            </a:r>
          </a:p>
          <a:p>
            <a:pPr algn="l">
              <a:spcAft>
                <a:spcPts val="450"/>
              </a:spcAft>
              <a:defRPr sz="1500" b="0">
                <a:solidFill>
                  <a:srgbClr val="4A4A4A"/>
                </a:solidFill>
                <a:latin typeface="微软雅黑"/>
              </a:defRPr>
            </a:pPr>
            <a:r>
              <a:t>  2、针对养老客户排队难题，定期推送高峰时段网点客流数据，助力人力精准调配。</a:t>
            </a:r>
          </a:p>
          <a:p>
            <a:pPr algn="l">
              <a:spcAft>
                <a:spcPts val="420"/>
              </a:spcAft>
              <a:defRPr sz="1400" b="0">
                <a:solidFill>
                  <a:srgbClr val="2563EB"/>
                </a:solidFill>
                <a:latin typeface="微软雅黑"/>
              </a:defRPr>
            </a:pPr>
            <a:r>
              <a:t>▸ 下阶段：试点扩至上海全域，新增 3 类交易联动智能监测模型</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探索AI模型的业务横向经营赋能，</a:t>
            </a:r>
            <a:br/>
            <a:r>
              <a:t>实现“用得优”。</a:t>
            </a:r>
            <a:br/>
            <a:br/>
            <a:r>
              <a:t>1、推动数智安防深度融入经营场景，部署智能识别模型，在部分网点先行试点。</a:t>
            </a:r>
            <a:br/>
            <a:r>
              <a:t>2、针对养老客户排队难题，定期推送高峰时段网点客流数据，助力人力精准调配。</a:t>
            </a:r>
            <a:br/>
            <a:r>
              <a:t>3、开展网点服务质量非现场检查，为前台业务发展筑牢支撑。</a:t>
            </a:r>
          </a:p>
        </p:txBody>
      </p:sp>
      <p:sp>
        <p:nvSpPr>
          <p:cNvPr id="13" name="TextBox 12"/>
          <p:cNvSpPr txBox="1"/>
          <p:nvPr/>
        </p:nvSpPr>
        <p:spPr>
          <a:xfrm>
            <a:off x="8686800" y="320040"/>
            <a:ext cx="3200400" cy="365760"/>
          </a:xfrm>
          <a:prstGeom prst="rect">
            <a:avLst/>
          </a:prstGeom>
          <a:noFill/>
        </p:spPr>
        <p:txBody>
          <a:bodyPr wrap="square">
            <a:spAutoFit/>
          </a:bodyPr>
          <a:lstStyle/>
          <a:p>
            <a:pPr algn="r">
              <a:defRPr sz="1000" b="0">
                <a:solidFill>
                  <a:srgbClr val="8A8A8A"/>
                </a:solidFill>
                <a:latin typeface="微软雅黑"/>
              </a:defRPr>
            </a:pPr>
            <a:r>
              <a:t>📎 素材</a:t>
            </a:r>
          </a:p>
        </p:txBody>
      </p:sp>
      <p:sp>
        <p:nvSpPr>
          <p:cNvPr id="14" name="TextBox 13"/>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16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560320"/>
            <a:ext cx="9601200" cy="1097280"/>
          </a:xfrm>
          <a:prstGeom prst="rect">
            <a:avLst/>
          </a:prstGeom>
          <a:noFill/>
        </p:spPr>
        <p:txBody>
          <a:bodyPr wrap="square">
            <a:spAutoFit/>
          </a:bodyPr>
          <a:lstStyle/>
          <a:p>
            <a:pPr algn="l">
              <a:defRPr sz="4000" b="1">
                <a:solidFill>
                  <a:srgbClr val="FFFFFF"/>
                </a:solidFill>
                <a:latin typeface="微软雅黑"/>
              </a:defRPr>
            </a:pPr>
            <a:r>
              <a:t>上篇 · 总结展望</a:t>
            </a:r>
          </a:p>
        </p:txBody>
      </p:sp>
      <p:sp>
        <p:nvSpPr>
          <p:cNvPr id="5" name="Rectangle 4"/>
          <p:cNvSpPr/>
          <p:nvPr/>
        </p:nvSpPr>
        <p:spPr>
          <a:xfrm>
            <a:off x="1371600" y="3840480"/>
            <a:ext cx="1828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9601200" cy="731520"/>
          </a:xfrm>
          <a:prstGeom prst="rect">
            <a:avLst/>
          </a:prstGeom>
          <a:noFill/>
        </p:spPr>
        <p:txBody>
          <a:bodyPr wrap="square">
            <a:spAutoFit/>
          </a:bodyPr>
          <a:lstStyle/>
          <a:p>
            <a:pPr algn="l">
              <a:defRPr sz="2000" b="0">
                <a:solidFill>
                  <a:srgbClr val="CCDDF0"/>
                </a:solidFill>
                <a:latin typeface="微软雅黑"/>
              </a:defRPr>
            </a:pPr>
            <a:r>
              <a:t>立足安防 · 服务全行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4572000" cy="365760"/>
          </a:xfrm>
          <a:prstGeom prst="rect">
            <a:avLst/>
          </a:prstGeom>
          <a:noFill/>
        </p:spPr>
        <p:txBody>
          <a:bodyPr wrap="square">
            <a:spAutoFit/>
          </a:bodyPr>
          <a:lstStyle/>
          <a:p>
            <a:pPr algn="l">
              <a:defRPr sz="2800" b="1">
                <a:solidFill>
                  <a:srgbClr val="003D7C"/>
                </a:solidFill>
                <a:latin typeface="Segoe UI"/>
              </a:defRPr>
            </a:pPr>
            <a:r>
              <a:t>18</a:t>
            </a:r>
          </a:p>
        </p:txBody>
      </p:sp>
      <p:sp>
        <p:nvSpPr>
          <p:cNvPr id="5" name="TextBox 4"/>
          <p:cNvSpPr txBox="1"/>
          <p:nvPr/>
        </p:nvSpPr>
        <p:spPr>
          <a:xfrm>
            <a:off x="1828800" y="320040"/>
            <a:ext cx="7315200" cy="365760"/>
          </a:xfrm>
          <a:prstGeom prst="rect">
            <a:avLst/>
          </a:prstGeom>
          <a:noFill/>
        </p:spPr>
        <p:txBody>
          <a:bodyPr wrap="square">
            <a:spAutoFit/>
          </a:bodyPr>
          <a:lstStyle/>
          <a:p>
            <a:pPr algn="l">
              <a:defRPr sz="1400" b="0">
                <a:solidFill>
                  <a:srgbClr val="8A8A8A"/>
                </a:solidFill>
                <a:latin typeface="微软雅黑"/>
              </a:defRPr>
            </a:pPr>
            <a:r>
              <a:t>第四章 总结展望</a:t>
            </a:r>
          </a:p>
        </p:txBody>
      </p:sp>
      <p:sp>
        <p:nvSpPr>
          <p:cNvPr id="6" name="Rectangle 5"/>
          <p:cNvSpPr/>
          <p:nvPr/>
        </p:nvSpPr>
        <p:spPr>
          <a:xfrm>
            <a:off x="731520" y="777240"/>
            <a:ext cx="10728655" cy="9144"/>
          </a:xfrm>
          <a:prstGeom prst="rect">
            <a:avLst/>
          </a:prstGeom>
          <a:solidFill>
            <a:srgbClr val="E0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005840"/>
            <a:ext cx="10728655" cy="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051560"/>
            <a:ext cx="10362895" cy="640080"/>
          </a:xfrm>
          <a:prstGeom prst="rect">
            <a:avLst/>
          </a:prstGeom>
          <a:noFill/>
        </p:spPr>
        <p:txBody>
          <a:bodyPr wrap="square">
            <a:spAutoFit/>
          </a:bodyPr>
          <a:lstStyle/>
          <a:p>
            <a:pPr algn="l">
              <a:defRPr sz="2800" b="1">
                <a:solidFill>
                  <a:srgbClr val="003D7C"/>
                </a:solidFill>
                <a:latin typeface="微软雅黑"/>
              </a:defRPr>
            </a:pPr>
            <a:r>
              <a:t>持续数智创新 筑牢金融安全屏障</a:t>
            </a:r>
          </a:p>
        </p:txBody>
      </p:sp>
      <p:sp>
        <p:nvSpPr>
          <p:cNvPr id="9" name="TextBox 8"/>
          <p:cNvSpPr txBox="1"/>
          <p:nvPr/>
        </p:nvSpPr>
        <p:spPr>
          <a:xfrm>
            <a:off x="914400" y="1920240"/>
            <a:ext cx="10362895" cy="4114800"/>
          </a:xfrm>
          <a:prstGeom prst="rect">
            <a:avLst/>
          </a:prstGeom>
          <a:noFill/>
        </p:spPr>
        <p:txBody>
          <a:bodyPr wrap="square">
            <a:spAutoFit/>
          </a:bodyPr>
          <a:lstStyle/>
          <a:p>
            <a:pPr algn="l">
              <a:spcAft>
                <a:spcPts val="480"/>
              </a:spcAft>
              <a:defRPr sz="1600" b="0">
                <a:solidFill>
                  <a:srgbClr val="1A1A1A"/>
                </a:solidFill>
                <a:latin typeface="微软雅黑"/>
              </a:defRPr>
            </a:pPr>
            <a:r>
              <a:t>持续数智创新 筑牢金融安全屏障</a:t>
            </a:r>
          </a:p>
        </p:txBody>
      </p:sp>
      <p:sp>
        <p:nvSpPr>
          <p:cNvPr id="10" name="Rectangle 9"/>
          <p:cNvSpPr/>
          <p:nvPr/>
        </p:nvSpPr>
        <p:spPr>
          <a:xfrm>
            <a:off x="731520" y="5760720"/>
            <a:ext cx="10728655" cy="822960"/>
          </a:xfrm>
          <a:prstGeom prst="rect">
            <a:avLst/>
          </a:prstGeom>
          <a:solidFill>
            <a:srgbClr val="F5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371600" cy="274320"/>
          </a:xfrm>
          <a:prstGeom prst="rect">
            <a:avLst/>
          </a:prstGeom>
          <a:noFill/>
        </p:spPr>
        <p:txBody>
          <a:bodyPr wrap="square">
            <a:spAutoFit/>
          </a:bodyPr>
          <a:lstStyle/>
          <a:p>
            <a:pPr algn="l">
              <a:defRPr sz="1000" b="1">
                <a:solidFill>
                  <a:srgbClr val="2563EB"/>
                </a:solidFill>
                <a:latin typeface="微软雅黑"/>
              </a:defRPr>
            </a:pPr>
            <a:r>
              <a:t>旁白</a:t>
            </a:r>
          </a:p>
        </p:txBody>
      </p:sp>
      <p:sp>
        <p:nvSpPr>
          <p:cNvPr id="12" name="TextBox 11"/>
          <p:cNvSpPr txBox="1"/>
          <p:nvPr/>
        </p:nvSpPr>
        <p:spPr>
          <a:xfrm>
            <a:off x="914400" y="5989320"/>
            <a:ext cx="10362895" cy="548640"/>
          </a:xfrm>
          <a:prstGeom prst="rect">
            <a:avLst/>
          </a:prstGeom>
          <a:noFill/>
        </p:spPr>
        <p:txBody>
          <a:bodyPr wrap="square">
            <a:spAutoFit/>
          </a:bodyPr>
          <a:lstStyle/>
          <a:p>
            <a:pPr algn="l">
              <a:defRPr sz="1100" b="0">
                <a:solidFill>
                  <a:srgbClr val="4A4A4A"/>
                </a:solidFill>
                <a:latin typeface="微软雅黑"/>
              </a:defRPr>
            </a:pPr>
            <a:r>
              <a:t>安防数智化道阻且长，我们将继续秉承“立足安防、服务全行”理念，坚持专业主义、长期主义，拥抱AI，依托课题研究，深挖安防数据价值，以科技兴安、智慧赋能，为我行高质量发展保驾护航。</a:t>
            </a:r>
          </a:p>
        </p:txBody>
      </p:sp>
      <p:sp>
        <p:nvSpPr>
          <p:cNvPr id="13" name="TextBox 12"/>
          <p:cNvSpPr txBox="1"/>
          <p:nvPr/>
        </p:nvSpPr>
        <p:spPr>
          <a:xfrm>
            <a:off x="10515600" y="6446520"/>
            <a:ext cx="1371600" cy="274320"/>
          </a:xfrm>
          <a:prstGeom prst="rect">
            <a:avLst/>
          </a:prstGeom>
          <a:noFill/>
        </p:spPr>
        <p:txBody>
          <a:bodyPr wrap="square">
            <a:spAutoFit/>
          </a:bodyPr>
          <a:lstStyle/>
          <a:p>
            <a:pPr algn="r">
              <a:defRPr sz="900" b="0">
                <a:solidFill>
                  <a:srgbClr val="8A8A8A"/>
                </a:solidFill>
                <a:latin typeface="Segoe UI"/>
              </a:defRPr>
            </a:pPr>
            <a:r>
              <a:t>18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286000"/>
            <a:ext cx="7772400" cy="914400"/>
          </a:xfrm>
          <a:prstGeom prst="rect">
            <a:avLst/>
          </a:prstGeom>
          <a:noFill/>
        </p:spPr>
        <p:txBody>
          <a:bodyPr wrap="square">
            <a:spAutoFit/>
          </a:bodyPr>
          <a:lstStyle/>
          <a:p>
            <a:pPr algn="ctr">
              <a:defRPr sz="3600" b="1">
                <a:solidFill>
                  <a:srgbClr val="003D7C"/>
                </a:solidFill>
                <a:latin typeface="微软雅黑"/>
              </a:defRPr>
            </a:pPr>
            <a:r>
              <a:t>持续数智创新  筑牢金融安全屏障</a:t>
            </a:r>
          </a:p>
        </p:txBody>
      </p:sp>
      <p:sp>
        <p:nvSpPr>
          <p:cNvPr id="5" name="Rectangle 4"/>
          <p:cNvSpPr/>
          <p:nvPr/>
        </p:nvSpPr>
        <p:spPr>
          <a:xfrm>
            <a:off x="5029200" y="3200400"/>
            <a:ext cx="213329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474720"/>
            <a:ext cx="7772400" cy="548640"/>
          </a:xfrm>
          <a:prstGeom prst="rect">
            <a:avLst/>
          </a:prstGeom>
          <a:noFill/>
        </p:spPr>
        <p:txBody>
          <a:bodyPr wrap="square">
            <a:spAutoFit/>
          </a:bodyPr>
          <a:lstStyle/>
          <a:p>
            <a:pPr algn="ctr">
              <a:defRPr sz="2200" b="0">
                <a:solidFill>
                  <a:srgbClr val="4A4A4A"/>
                </a:solidFill>
                <a:latin typeface="微软雅黑"/>
              </a:defRPr>
            </a:pPr>
            <a:r>
              <a:t>金融让生活更美好</a:t>
            </a:r>
          </a:p>
        </p:txBody>
      </p:sp>
      <p:sp>
        <p:nvSpPr>
          <p:cNvPr id="7" name="TextBox 6"/>
          <p:cNvSpPr txBox="1"/>
          <p:nvPr/>
        </p:nvSpPr>
        <p:spPr>
          <a:xfrm>
            <a:off x="2286000" y="4206240"/>
            <a:ext cx="7772400" cy="457200"/>
          </a:xfrm>
          <a:prstGeom prst="rect">
            <a:avLst/>
          </a:prstGeom>
          <a:noFill/>
        </p:spPr>
        <p:txBody>
          <a:bodyPr wrap="square">
            <a:spAutoFit/>
          </a:bodyPr>
          <a:lstStyle/>
          <a:p>
            <a:pPr algn="ctr">
              <a:defRPr sz="2000" b="0">
                <a:solidFill>
                  <a:srgbClr val="8A8A8A"/>
                </a:solidFill>
                <a:latin typeface="微软雅黑"/>
              </a:defRPr>
            </a:pPr>
            <a:r>
              <a:t>上海银行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