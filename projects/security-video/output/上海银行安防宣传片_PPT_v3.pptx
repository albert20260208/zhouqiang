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80C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45720"/>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371600"/>
            <a:ext cx="11064240" cy="1463040"/>
          </a:xfrm>
          <a:prstGeom prst="rect">
            <a:avLst/>
          </a:prstGeom>
          <a:noFill/>
        </p:spPr>
        <p:txBody>
          <a:bodyPr wrap="square">
            <a:spAutoFit/>
          </a:bodyPr>
          <a:lstStyle/>
          <a:p>
            <a:pPr algn="l">
              <a:defRPr sz="6400" b="1">
                <a:solidFill>
                  <a:srgbClr val="FFFFFF"/>
                </a:solidFill>
                <a:latin typeface="微软雅黑"/>
              </a:defRPr>
            </a:pPr>
            <a:r>
              <a:t>上海银行</a:t>
            </a:r>
          </a:p>
        </p:txBody>
      </p:sp>
      <p:sp>
        <p:nvSpPr>
          <p:cNvPr id="5" name="TextBox 4"/>
          <p:cNvSpPr txBox="1"/>
          <p:nvPr/>
        </p:nvSpPr>
        <p:spPr>
          <a:xfrm>
            <a:off x="548640" y="2468880"/>
            <a:ext cx="11064240" cy="1097280"/>
          </a:xfrm>
          <a:prstGeom prst="rect">
            <a:avLst/>
          </a:prstGeom>
          <a:noFill/>
        </p:spPr>
        <p:txBody>
          <a:bodyPr wrap="square">
            <a:spAutoFit/>
          </a:bodyPr>
          <a:lstStyle/>
          <a:p>
            <a:pPr algn="l">
              <a:defRPr sz="5000" b="1">
                <a:solidFill>
                  <a:srgbClr val="3B82F6"/>
                </a:solidFill>
                <a:latin typeface="微软雅黑"/>
              </a:defRPr>
            </a:pPr>
            <a:r>
              <a:t>安防数智化应用展示</a:t>
            </a:r>
          </a:p>
        </p:txBody>
      </p:sp>
      <p:sp>
        <p:nvSpPr>
          <p:cNvPr id="6" name="Rectangle 5"/>
          <p:cNvSpPr/>
          <p:nvPr/>
        </p:nvSpPr>
        <p:spPr>
          <a:xfrm>
            <a:off x="548640" y="3657600"/>
            <a:ext cx="3657600" cy="18288"/>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3931920"/>
            <a:ext cx="11064240" cy="731520"/>
          </a:xfrm>
          <a:prstGeom prst="rect">
            <a:avLst/>
          </a:prstGeom>
          <a:noFill/>
        </p:spPr>
        <p:txBody>
          <a:bodyPr wrap="square">
            <a:spAutoFit/>
          </a:bodyPr>
          <a:lstStyle/>
          <a:p>
            <a:pPr algn="l">
              <a:defRPr sz="2800" b="0">
                <a:solidFill>
                  <a:srgbClr val="9CA3AF"/>
                </a:solidFill>
                <a:latin typeface="微软雅黑"/>
              </a:defRPr>
            </a:pPr>
            <a:r>
              <a:t>统筹发展与安全，筑牢金融安全防线</a:t>
            </a:r>
          </a:p>
        </p:txBody>
      </p:sp>
      <p:sp>
        <p:nvSpPr>
          <p:cNvPr id="8" name="TextBox 7"/>
          <p:cNvSpPr txBox="1"/>
          <p:nvPr/>
        </p:nvSpPr>
        <p:spPr>
          <a:xfrm>
            <a:off x="548640" y="4754880"/>
            <a:ext cx="11064240" cy="457200"/>
          </a:xfrm>
          <a:prstGeom prst="rect">
            <a:avLst/>
          </a:prstGeom>
          <a:noFill/>
        </p:spPr>
        <p:txBody>
          <a:bodyPr wrap="square">
            <a:spAutoFit/>
          </a:bodyPr>
          <a:lstStyle/>
          <a:p>
            <a:pPr algn="l">
              <a:defRPr sz="2000" b="0">
                <a:solidFill>
                  <a:srgbClr val="6B7280"/>
                </a:solidFill>
                <a:latin typeface="微软雅黑"/>
              </a:defRPr>
            </a:pPr>
            <a:r>
              <a:t>上篇 · 安防数智化探索实践</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80C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45720"/>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731520"/>
            <a:ext cx="3657600" cy="548640"/>
          </a:xfrm>
          <a:prstGeom prst="rect">
            <a:avLst/>
          </a:prstGeom>
          <a:noFill/>
        </p:spPr>
        <p:txBody>
          <a:bodyPr wrap="square">
            <a:spAutoFit/>
          </a:bodyPr>
          <a:lstStyle/>
          <a:p>
            <a:pPr algn="l">
              <a:defRPr sz="2000" b="1">
                <a:solidFill>
                  <a:srgbClr val="3B82F6"/>
                </a:solidFill>
                <a:latin typeface="Segoe UI"/>
              </a:defRPr>
            </a:pPr>
            <a:r>
              <a:t>CHAPTER 01</a:t>
            </a:r>
          </a:p>
        </p:txBody>
      </p:sp>
      <p:sp>
        <p:nvSpPr>
          <p:cNvPr id="5" name="TextBox 4"/>
          <p:cNvSpPr txBox="1"/>
          <p:nvPr/>
        </p:nvSpPr>
        <p:spPr>
          <a:xfrm>
            <a:off x="548640" y="2011680"/>
            <a:ext cx="11064240" cy="1371600"/>
          </a:xfrm>
          <a:prstGeom prst="rect">
            <a:avLst/>
          </a:prstGeom>
          <a:noFill/>
        </p:spPr>
        <p:txBody>
          <a:bodyPr wrap="square">
            <a:spAutoFit/>
          </a:bodyPr>
          <a:lstStyle/>
          <a:p>
            <a:pPr algn="l">
              <a:defRPr sz="5200" b="1">
                <a:solidFill>
                  <a:srgbClr val="FFFFFF"/>
                </a:solidFill>
                <a:latin typeface="微软雅黑"/>
              </a:defRPr>
            </a:pPr>
            <a:r>
              <a:t>开篇 · 背景与发展概况</a:t>
            </a:r>
          </a:p>
        </p:txBody>
      </p:sp>
      <p:sp>
        <p:nvSpPr>
          <p:cNvPr id="6" name="Rectangle 5"/>
          <p:cNvSpPr/>
          <p:nvPr/>
        </p:nvSpPr>
        <p:spPr>
          <a:xfrm>
            <a:off x="548640" y="3474720"/>
            <a:ext cx="2743200" cy="18288"/>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3749039"/>
            <a:ext cx="11064240" cy="914400"/>
          </a:xfrm>
          <a:prstGeom prst="rect">
            <a:avLst/>
          </a:prstGeom>
          <a:noFill/>
        </p:spPr>
        <p:txBody>
          <a:bodyPr wrap="square">
            <a:spAutoFit/>
          </a:bodyPr>
          <a:lstStyle/>
          <a:p>
            <a:pPr algn="l">
              <a:defRPr sz="2600" b="0">
                <a:solidFill>
                  <a:srgbClr val="9CA3AF"/>
                </a:solidFill>
                <a:latin typeface="微软雅黑"/>
              </a:defRPr>
            </a:pPr>
            <a:r>
              <a:t>模拟安防 → 数字安防 → 智能应用 → 数智化阶段</a:t>
            </a:r>
          </a:p>
        </p:txBody>
      </p:sp>
      <p:sp>
        <p:nvSpPr>
          <p:cNvPr id="8" name="Rectangle 7"/>
          <p:cNvSpPr/>
          <p:nvPr/>
        </p:nvSpPr>
        <p:spPr>
          <a:xfrm>
            <a:off x="0" y="5486400"/>
            <a:ext cx="12191695" cy="1371600"/>
          </a:xfrm>
          <a:prstGeom prst="rect">
            <a:avLst/>
          </a:prstGeom>
          <a:solidFill>
            <a:srgbClr val="1218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80C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36576"/>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37160"/>
            <a:ext cx="2743200" cy="320040"/>
          </a:xfrm>
          <a:prstGeom prst="rect">
            <a:avLst/>
          </a:prstGeom>
          <a:noFill/>
        </p:spPr>
        <p:txBody>
          <a:bodyPr wrap="square">
            <a:spAutoFit/>
          </a:bodyPr>
          <a:lstStyle/>
          <a:p>
            <a:pPr algn="l">
              <a:defRPr sz="1200" b="0">
                <a:solidFill>
                  <a:srgbClr val="6B7280"/>
                </a:solidFill>
                <a:latin typeface="Segoe UI"/>
              </a:defRPr>
            </a:pPr>
            <a:r>
              <a:t>02 / 20</a:t>
            </a:r>
          </a:p>
        </p:txBody>
      </p:sp>
      <p:sp>
        <p:nvSpPr>
          <p:cNvPr id="5" name="TextBox 4"/>
          <p:cNvSpPr txBox="1"/>
          <p:nvPr/>
        </p:nvSpPr>
        <p:spPr>
          <a:xfrm>
            <a:off x="2743200" y="155448"/>
            <a:ext cx="8686800" cy="320040"/>
          </a:xfrm>
          <a:prstGeom prst="rect">
            <a:avLst/>
          </a:prstGeom>
          <a:noFill/>
        </p:spPr>
        <p:txBody>
          <a:bodyPr wrap="square">
            <a:spAutoFit/>
          </a:bodyPr>
          <a:lstStyle/>
          <a:p>
            <a:pPr algn="l">
              <a:defRPr sz="1200" b="0">
                <a:solidFill>
                  <a:srgbClr val="3B82F6"/>
                </a:solidFill>
                <a:latin typeface="微软雅黑"/>
              </a:defRPr>
            </a:pPr>
            <a:r>
              <a:t>第一章 开篇与背景</a:t>
            </a:r>
          </a:p>
        </p:txBody>
      </p:sp>
      <p:sp>
        <p:nvSpPr>
          <p:cNvPr id="6" name="Rectangle 5"/>
          <p:cNvSpPr/>
          <p:nvPr/>
        </p:nvSpPr>
        <p:spPr>
          <a:xfrm>
            <a:off x="548640" y="548640"/>
            <a:ext cx="11094415" cy="7315"/>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822960"/>
            <a:ext cx="11094415" cy="1097280"/>
          </a:xfrm>
          <a:prstGeom prst="rect">
            <a:avLst/>
          </a:prstGeom>
          <a:noFill/>
        </p:spPr>
        <p:txBody>
          <a:bodyPr wrap="square">
            <a:spAutoFit/>
          </a:bodyPr>
          <a:lstStyle/>
          <a:p>
            <a:pPr algn="l">
              <a:defRPr sz="4200" b="1">
                <a:solidFill>
                  <a:srgbClr val="FFFFFF"/>
                </a:solidFill>
                <a:latin typeface="微软雅黑"/>
              </a:defRPr>
            </a:pPr>
            <a:r>
              <a:t>统筹发展与安全，筑牢金融安全防线</a:t>
            </a:r>
          </a:p>
        </p:txBody>
      </p:sp>
      <p:sp>
        <p:nvSpPr>
          <p:cNvPr id="8" name="Rectangle 7"/>
          <p:cNvSpPr/>
          <p:nvPr/>
        </p:nvSpPr>
        <p:spPr>
          <a:xfrm>
            <a:off x="548640" y="2011680"/>
            <a:ext cx="3200400" cy="27432"/>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548640" y="2377440"/>
            <a:ext cx="11094415" cy="3474720"/>
          </a:xfrm>
          <a:prstGeom prst="roundRect">
            <a:avLst/>
          </a:prstGeom>
          <a:solidFill>
            <a:srgbClr val="1218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2651760"/>
            <a:ext cx="914400" cy="548640"/>
          </a:xfrm>
          <a:prstGeom prst="rect">
            <a:avLst/>
          </a:prstGeom>
          <a:noFill/>
        </p:spPr>
        <p:txBody>
          <a:bodyPr wrap="square">
            <a:spAutoFit/>
          </a:bodyPr>
          <a:lstStyle/>
          <a:p>
            <a:pPr algn="l">
              <a:defRPr sz="3600" b="1">
                <a:solidFill>
                  <a:srgbClr val="3B82F6"/>
                </a:solidFill>
                <a:latin typeface="Segoe UI"/>
              </a:defRPr>
            </a:pPr>
            <a:r>
              <a:t>01</a:t>
            </a:r>
          </a:p>
        </p:txBody>
      </p:sp>
      <p:sp>
        <p:nvSpPr>
          <p:cNvPr id="11" name="TextBox 10"/>
          <p:cNvSpPr txBox="1"/>
          <p:nvPr/>
        </p:nvSpPr>
        <p:spPr>
          <a:xfrm>
            <a:off x="1828800" y="2606040"/>
            <a:ext cx="9418320" cy="2926080"/>
          </a:xfrm>
          <a:prstGeom prst="rect">
            <a:avLst/>
          </a:prstGeom>
          <a:noFill/>
        </p:spPr>
        <p:txBody>
          <a:bodyPr wrap="square">
            <a:spAutoFit/>
          </a:bodyPr>
          <a:lstStyle/>
          <a:p>
            <a:pPr algn="l">
              <a:defRPr sz="2800" b="0">
                <a:solidFill>
                  <a:srgbClr val="FFFFFF"/>
                </a:solidFill>
                <a:latin typeface="微软雅黑"/>
              </a:defRPr>
            </a:pPr>
            <a:r>
              <a:t>统筹发展与安全，筑牢金融安全防线。</a:t>
            </a:r>
          </a:p>
        </p:txBody>
      </p:sp>
      <p:sp>
        <p:nvSpPr>
          <p:cNvPr id="12" name="Rectangle 11"/>
          <p:cNvSpPr/>
          <p:nvPr/>
        </p:nvSpPr>
        <p:spPr>
          <a:xfrm>
            <a:off x="0" y="6035040"/>
            <a:ext cx="12191695" cy="822960"/>
          </a:xfrm>
          <a:prstGeom prst="rect">
            <a:avLst/>
          </a:prstGeom>
          <a:solidFill>
            <a:srgbClr val="1218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48640" y="6080760"/>
            <a:ext cx="1097280" cy="365760"/>
          </a:xfrm>
          <a:prstGeom prst="rect">
            <a:avLst/>
          </a:prstGeom>
          <a:noFill/>
        </p:spPr>
        <p:txBody>
          <a:bodyPr wrap="square">
            <a:spAutoFit/>
          </a:bodyPr>
          <a:lstStyle/>
          <a:p>
            <a:pPr algn="l">
              <a:defRPr sz="1100" b="1">
                <a:solidFill>
                  <a:srgbClr val="3B82F6"/>
                </a:solidFill>
                <a:latin typeface="微软雅黑"/>
              </a:defRPr>
            </a:pPr>
            <a:r>
              <a:t>旁  白</a:t>
            </a:r>
          </a:p>
        </p:txBody>
      </p:sp>
      <p:sp>
        <p:nvSpPr>
          <p:cNvPr id="14" name="TextBox 13"/>
          <p:cNvSpPr txBox="1"/>
          <p:nvPr/>
        </p:nvSpPr>
        <p:spPr>
          <a:xfrm>
            <a:off x="1645920" y="6080760"/>
            <a:ext cx="10058400" cy="731520"/>
          </a:xfrm>
          <a:prstGeom prst="rect">
            <a:avLst/>
          </a:prstGeom>
          <a:noFill/>
        </p:spPr>
        <p:txBody>
          <a:bodyPr wrap="square">
            <a:spAutoFit/>
          </a:bodyPr>
          <a:lstStyle/>
          <a:p>
            <a:pPr algn="l">
              <a:defRPr sz="1300" b="0">
                <a:solidFill>
                  <a:srgbClr val="9CA3AF"/>
                </a:solidFill>
                <a:latin typeface="微软雅黑"/>
              </a:defRPr>
            </a:pPr>
            <a:r>
              <a:t>统筹发展与安全，筑牢金融安全防线</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80C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36576"/>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37160"/>
            <a:ext cx="2743200" cy="320040"/>
          </a:xfrm>
          <a:prstGeom prst="rect">
            <a:avLst/>
          </a:prstGeom>
          <a:noFill/>
        </p:spPr>
        <p:txBody>
          <a:bodyPr wrap="square">
            <a:spAutoFit/>
          </a:bodyPr>
          <a:lstStyle/>
          <a:p>
            <a:pPr algn="l">
              <a:defRPr sz="1200" b="0">
                <a:solidFill>
                  <a:srgbClr val="6B7280"/>
                </a:solidFill>
                <a:latin typeface="Segoe UI"/>
              </a:defRPr>
            </a:pPr>
            <a:r>
              <a:t>03 / 20</a:t>
            </a:r>
          </a:p>
        </p:txBody>
      </p:sp>
      <p:sp>
        <p:nvSpPr>
          <p:cNvPr id="5" name="TextBox 4"/>
          <p:cNvSpPr txBox="1"/>
          <p:nvPr/>
        </p:nvSpPr>
        <p:spPr>
          <a:xfrm>
            <a:off x="2743200" y="155448"/>
            <a:ext cx="8686800" cy="320040"/>
          </a:xfrm>
          <a:prstGeom prst="rect">
            <a:avLst/>
          </a:prstGeom>
          <a:noFill/>
        </p:spPr>
        <p:txBody>
          <a:bodyPr wrap="square">
            <a:spAutoFit/>
          </a:bodyPr>
          <a:lstStyle/>
          <a:p>
            <a:pPr algn="l">
              <a:defRPr sz="1200" b="0">
                <a:solidFill>
                  <a:srgbClr val="3B82F6"/>
                </a:solidFill>
                <a:latin typeface="微软雅黑"/>
              </a:defRPr>
            </a:pPr>
            <a:r>
              <a:t>第一章 开篇与背景</a:t>
            </a:r>
          </a:p>
        </p:txBody>
      </p:sp>
      <p:sp>
        <p:nvSpPr>
          <p:cNvPr id="6" name="Rectangle 5"/>
          <p:cNvSpPr/>
          <p:nvPr/>
        </p:nvSpPr>
        <p:spPr>
          <a:xfrm>
            <a:off x="548640" y="548640"/>
            <a:ext cx="11094415" cy="7315"/>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822960"/>
            <a:ext cx="11094415" cy="1097280"/>
          </a:xfrm>
          <a:prstGeom prst="rect">
            <a:avLst/>
          </a:prstGeom>
          <a:noFill/>
        </p:spPr>
        <p:txBody>
          <a:bodyPr wrap="square">
            <a:spAutoFit/>
          </a:bodyPr>
          <a:lstStyle/>
          <a:p>
            <a:pPr algn="l">
              <a:defRPr sz="4200" b="1">
                <a:solidFill>
                  <a:srgbClr val="FFFFFF"/>
                </a:solidFill>
                <a:latin typeface="微软雅黑"/>
              </a:defRPr>
            </a:pPr>
            <a:r>
              <a:t>贯彻监管与总行领导要求，坚定践行‘一管三化’工作体系，推进安...</a:t>
            </a:r>
          </a:p>
        </p:txBody>
      </p:sp>
      <p:sp>
        <p:nvSpPr>
          <p:cNvPr id="8" name="Rectangle 7"/>
          <p:cNvSpPr/>
          <p:nvPr/>
        </p:nvSpPr>
        <p:spPr>
          <a:xfrm>
            <a:off x="548640" y="2011680"/>
            <a:ext cx="3200400" cy="27432"/>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548640" y="2377440"/>
            <a:ext cx="11094415" cy="3474720"/>
          </a:xfrm>
          <a:prstGeom prst="roundRect">
            <a:avLst/>
          </a:prstGeom>
          <a:solidFill>
            <a:srgbClr val="1218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2651760"/>
            <a:ext cx="914400" cy="548640"/>
          </a:xfrm>
          <a:prstGeom prst="rect">
            <a:avLst/>
          </a:prstGeom>
          <a:noFill/>
        </p:spPr>
        <p:txBody>
          <a:bodyPr wrap="square">
            <a:spAutoFit/>
          </a:bodyPr>
          <a:lstStyle/>
          <a:p>
            <a:pPr algn="l">
              <a:defRPr sz="3600" b="1">
                <a:solidFill>
                  <a:srgbClr val="3B82F6"/>
                </a:solidFill>
                <a:latin typeface="Segoe UI"/>
              </a:defRPr>
            </a:pPr>
            <a:r>
              <a:t>01</a:t>
            </a:r>
          </a:p>
        </p:txBody>
      </p:sp>
      <p:sp>
        <p:nvSpPr>
          <p:cNvPr id="11" name="TextBox 10"/>
          <p:cNvSpPr txBox="1"/>
          <p:nvPr/>
        </p:nvSpPr>
        <p:spPr>
          <a:xfrm>
            <a:off x="1828800" y="2606040"/>
            <a:ext cx="9418320" cy="2926080"/>
          </a:xfrm>
          <a:prstGeom prst="rect">
            <a:avLst/>
          </a:prstGeom>
          <a:noFill/>
        </p:spPr>
        <p:txBody>
          <a:bodyPr wrap="square">
            <a:spAutoFit/>
          </a:bodyPr>
          <a:lstStyle/>
          <a:p>
            <a:pPr algn="l">
              <a:defRPr sz="2400" b="0">
                <a:solidFill>
                  <a:srgbClr val="FFFFFF"/>
                </a:solidFill>
                <a:latin typeface="微软雅黑"/>
              </a:defRPr>
            </a:pPr>
            <a:r>
              <a:t>贯彻监管与总行领导要求，坚定践行‘一管三化’工作体系，推进安防数智化升级，加速安全管理向‘人防、技防、智防’深度融合的现代化模式加速转型。</a:t>
            </a:r>
          </a:p>
        </p:txBody>
      </p:sp>
      <p:sp>
        <p:nvSpPr>
          <p:cNvPr id="12" name="Rectangle 11"/>
          <p:cNvSpPr/>
          <p:nvPr/>
        </p:nvSpPr>
        <p:spPr>
          <a:xfrm>
            <a:off x="0" y="6035040"/>
            <a:ext cx="12191695" cy="822960"/>
          </a:xfrm>
          <a:prstGeom prst="rect">
            <a:avLst/>
          </a:prstGeom>
          <a:solidFill>
            <a:srgbClr val="1218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48640" y="6080760"/>
            <a:ext cx="1097280" cy="365760"/>
          </a:xfrm>
          <a:prstGeom prst="rect">
            <a:avLst/>
          </a:prstGeom>
          <a:noFill/>
        </p:spPr>
        <p:txBody>
          <a:bodyPr wrap="square">
            <a:spAutoFit/>
          </a:bodyPr>
          <a:lstStyle/>
          <a:p>
            <a:pPr algn="l">
              <a:defRPr sz="1100" b="1">
                <a:solidFill>
                  <a:srgbClr val="3B82F6"/>
                </a:solidFill>
                <a:latin typeface="微软雅黑"/>
              </a:defRPr>
            </a:pPr>
            <a:r>
              <a:t>旁  白</a:t>
            </a:r>
          </a:p>
        </p:txBody>
      </p:sp>
      <p:sp>
        <p:nvSpPr>
          <p:cNvPr id="14" name="TextBox 13"/>
          <p:cNvSpPr txBox="1"/>
          <p:nvPr/>
        </p:nvSpPr>
        <p:spPr>
          <a:xfrm>
            <a:off x="1645920" y="6080760"/>
            <a:ext cx="10058400" cy="731520"/>
          </a:xfrm>
          <a:prstGeom prst="rect">
            <a:avLst/>
          </a:prstGeom>
          <a:noFill/>
        </p:spPr>
        <p:txBody>
          <a:bodyPr wrap="square">
            <a:spAutoFit/>
          </a:bodyPr>
          <a:lstStyle/>
          <a:p>
            <a:pPr algn="l">
              <a:defRPr sz="1300" b="0">
                <a:solidFill>
                  <a:srgbClr val="9CA3AF"/>
                </a:solidFill>
                <a:latin typeface="微软雅黑"/>
              </a:defRPr>
            </a:pPr>
            <a:r>
              <a:t>近年来，上海银行坚持统筹发展和安全，践行‘一管三化’工作体系，聚焦安全管理主责主业，以数智模型建设为核心，构建全量风险预警体系，打造“一屏观全行，一网管全行”，牢牢守住安全底线</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80C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36576"/>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37160"/>
            <a:ext cx="2743200" cy="320040"/>
          </a:xfrm>
          <a:prstGeom prst="rect">
            <a:avLst/>
          </a:prstGeom>
          <a:noFill/>
        </p:spPr>
        <p:txBody>
          <a:bodyPr wrap="square">
            <a:spAutoFit/>
          </a:bodyPr>
          <a:lstStyle/>
          <a:p>
            <a:pPr algn="l">
              <a:defRPr sz="1200" b="0">
                <a:solidFill>
                  <a:srgbClr val="6B7280"/>
                </a:solidFill>
                <a:latin typeface="Segoe UI"/>
              </a:defRPr>
            </a:pPr>
            <a:r>
              <a:t>04 / 20</a:t>
            </a:r>
          </a:p>
        </p:txBody>
      </p:sp>
      <p:sp>
        <p:nvSpPr>
          <p:cNvPr id="5" name="TextBox 4"/>
          <p:cNvSpPr txBox="1"/>
          <p:nvPr/>
        </p:nvSpPr>
        <p:spPr>
          <a:xfrm>
            <a:off x="2743200" y="155448"/>
            <a:ext cx="8686800" cy="320040"/>
          </a:xfrm>
          <a:prstGeom prst="rect">
            <a:avLst/>
          </a:prstGeom>
          <a:noFill/>
        </p:spPr>
        <p:txBody>
          <a:bodyPr wrap="square">
            <a:spAutoFit/>
          </a:bodyPr>
          <a:lstStyle/>
          <a:p>
            <a:pPr algn="l">
              <a:defRPr sz="1200" b="0">
                <a:solidFill>
                  <a:srgbClr val="3B82F6"/>
                </a:solidFill>
                <a:latin typeface="微软雅黑"/>
              </a:defRPr>
            </a:pPr>
            <a:r>
              <a:t>第一章 开篇与背景</a:t>
            </a:r>
          </a:p>
        </p:txBody>
      </p:sp>
      <p:sp>
        <p:nvSpPr>
          <p:cNvPr id="6" name="Rectangle 5"/>
          <p:cNvSpPr/>
          <p:nvPr/>
        </p:nvSpPr>
        <p:spPr>
          <a:xfrm>
            <a:off x="548640" y="548640"/>
            <a:ext cx="11094415" cy="7315"/>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822960"/>
            <a:ext cx="11094415" cy="1097280"/>
          </a:xfrm>
          <a:prstGeom prst="rect">
            <a:avLst/>
          </a:prstGeom>
          <a:noFill/>
        </p:spPr>
        <p:txBody>
          <a:bodyPr wrap="square">
            <a:spAutoFit/>
          </a:bodyPr>
          <a:lstStyle/>
          <a:p>
            <a:pPr algn="l">
              <a:defRPr sz="4200" b="1">
                <a:solidFill>
                  <a:srgbClr val="FFFFFF"/>
                </a:solidFill>
                <a:latin typeface="微软雅黑"/>
              </a:defRPr>
            </a:pPr>
            <a:r>
              <a:t>模拟安防→数字安防→智能应用→数智化阶段</a:t>
            </a:r>
          </a:p>
        </p:txBody>
      </p:sp>
      <p:sp>
        <p:nvSpPr>
          <p:cNvPr id="8" name="Rectangle 7"/>
          <p:cNvSpPr/>
          <p:nvPr/>
        </p:nvSpPr>
        <p:spPr>
          <a:xfrm>
            <a:off x="548640" y="2011680"/>
            <a:ext cx="3200400" cy="27432"/>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548640" y="2377440"/>
            <a:ext cx="11094415" cy="3474720"/>
          </a:xfrm>
          <a:prstGeom prst="roundRect">
            <a:avLst/>
          </a:prstGeom>
          <a:solidFill>
            <a:srgbClr val="1218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2651760"/>
            <a:ext cx="914400" cy="548640"/>
          </a:xfrm>
          <a:prstGeom prst="rect">
            <a:avLst/>
          </a:prstGeom>
          <a:noFill/>
        </p:spPr>
        <p:txBody>
          <a:bodyPr wrap="square">
            <a:spAutoFit/>
          </a:bodyPr>
          <a:lstStyle/>
          <a:p>
            <a:pPr algn="l">
              <a:defRPr sz="3600" b="1">
                <a:solidFill>
                  <a:srgbClr val="3B82F6"/>
                </a:solidFill>
                <a:latin typeface="Segoe UI"/>
              </a:defRPr>
            </a:pPr>
            <a:r>
              <a:t>01</a:t>
            </a:r>
          </a:p>
        </p:txBody>
      </p:sp>
      <p:sp>
        <p:nvSpPr>
          <p:cNvPr id="11" name="TextBox 10"/>
          <p:cNvSpPr txBox="1"/>
          <p:nvPr/>
        </p:nvSpPr>
        <p:spPr>
          <a:xfrm>
            <a:off x="1828800" y="2606040"/>
            <a:ext cx="9418320" cy="2926080"/>
          </a:xfrm>
          <a:prstGeom prst="rect">
            <a:avLst/>
          </a:prstGeom>
          <a:noFill/>
        </p:spPr>
        <p:txBody>
          <a:bodyPr wrap="square">
            <a:spAutoFit/>
          </a:bodyPr>
          <a:lstStyle/>
          <a:p>
            <a:pPr algn="l">
              <a:defRPr sz="2800" b="0">
                <a:solidFill>
                  <a:srgbClr val="FFFFFF"/>
                </a:solidFill>
                <a:latin typeface="微软雅黑"/>
              </a:defRPr>
            </a:pPr>
            <a:r>
              <a:t>模拟安防→数字安防→智能应用→数智化阶段</a:t>
            </a:r>
          </a:p>
        </p:txBody>
      </p:sp>
      <p:sp>
        <p:nvSpPr>
          <p:cNvPr id="12" name="Rectangle 11"/>
          <p:cNvSpPr/>
          <p:nvPr/>
        </p:nvSpPr>
        <p:spPr>
          <a:xfrm>
            <a:off x="0" y="6035040"/>
            <a:ext cx="12191695" cy="822960"/>
          </a:xfrm>
          <a:prstGeom prst="rect">
            <a:avLst/>
          </a:prstGeom>
          <a:solidFill>
            <a:srgbClr val="1218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48640" y="6080760"/>
            <a:ext cx="1097280" cy="365760"/>
          </a:xfrm>
          <a:prstGeom prst="rect">
            <a:avLst/>
          </a:prstGeom>
          <a:noFill/>
        </p:spPr>
        <p:txBody>
          <a:bodyPr wrap="square">
            <a:spAutoFit/>
          </a:bodyPr>
          <a:lstStyle/>
          <a:p>
            <a:pPr algn="l">
              <a:defRPr sz="1100" b="1">
                <a:solidFill>
                  <a:srgbClr val="3B82F6"/>
                </a:solidFill>
                <a:latin typeface="微软雅黑"/>
              </a:defRPr>
            </a:pPr>
            <a:r>
              <a:t>旁  白</a:t>
            </a:r>
          </a:p>
        </p:txBody>
      </p:sp>
      <p:sp>
        <p:nvSpPr>
          <p:cNvPr id="14" name="TextBox 13"/>
          <p:cNvSpPr txBox="1"/>
          <p:nvPr/>
        </p:nvSpPr>
        <p:spPr>
          <a:xfrm>
            <a:off x="1645920" y="6080760"/>
            <a:ext cx="10058400" cy="731520"/>
          </a:xfrm>
          <a:prstGeom prst="rect">
            <a:avLst/>
          </a:prstGeom>
          <a:noFill/>
        </p:spPr>
        <p:txBody>
          <a:bodyPr wrap="square">
            <a:spAutoFit/>
          </a:bodyPr>
          <a:lstStyle/>
          <a:p>
            <a:pPr algn="l">
              <a:defRPr sz="1300" b="0">
                <a:solidFill>
                  <a:srgbClr val="9CA3AF"/>
                </a:solidFill>
                <a:latin typeface="微软雅黑"/>
              </a:defRPr>
            </a:pPr>
            <a:r>
              <a:t>银行业安防历经模拟、数字、智能三大阶段，目前全面迈入数智化新时代</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80C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36576"/>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37160"/>
            <a:ext cx="2743200" cy="320040"/>
          </a:xfrm>
          <a:prstGeom prst="rect">
            <a:avLst/>
          </a:prstGeom>
          <a:noFill/>
        </p:spPr>
        <p:txBody>
          <a:bodyPr wrap="square">
            <a:spAutoFit/>
          </a:bodyPr>
          <a:lstStyle/>
          <a:p>
            <a:pPr algn="l">
              <a:defRPr sz="1200" b="0">
                <a:solidFill>
                  <a:srgbClr val="6B7280"/>
                </a:solidFill>
                <a:latin typeface="Segoe UI"/>
              </a:defRPr>
            </a:pPr>
            <a:r>
              <a:t>05 / 20</a:t>
            </a:r>
          </a:p>
        </p:txBody>
      </p:sp>
      <p:sp>
        <p:nvSpPr>
          <p:cNvPr id="5" name="TextBox 4"/>
          <p:cNvSpPr txBox="1"/>
          <p:nvPr/>
        </p:nvSpPr>
        <p:spPr>
          <a:xfrm>
            <a:off x="2743200" y="155448"/>
            <a:ext cx="8686800" cy="320040"/>
          </a:xfrm>
          <a:prstGeom prst="rect">
            <a:avLst/>
          </a:prstGeom>
          <a:noFill/>
        </p:spPr>
        <p:txBody>
          <a:bodyPr wrap="square">
            <a:spAutoFit/>
          </a:bodyPr>
          <a:lstStyle/>
          <a:p>
            <a:pPr algn="l">
              <a:defRPr sz="1200" b="0">
                <a:solidFill>
                  <a:srgbClr val="3B82F6"/>
                </a:solidFill>
                <a:latin typeface="微软雅黑"/>
              </a:defRPr>
            </a:pPr>
            <a:r>
              <a:t>第一章 开篇与背景</a:t>
            </a:r>
          </a:p>
        </p:txBody>
      </p:sp>
      <p:sp>
        <p:nvSpPr>
          <p:cNvPr id="6" name="Rectangle 5"/>
          <p:cNvSpPr/>
          <p:nvPr/>
        </p:nvSpPr>
        <p:spPr>
          <a:xfrm>
            <a:off x="548640" y="548640"/>
            <a:ext cx="11094415" cy="7315"/>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822960"/>
            <a:ext cx="11094415" cy="1097280"/>
          </a:xfrm>
          <a:prstGeom prst="rect">
            <a:avLst/>
          </a:prstGeom>
          <a:noFill/>
        </p:spPr>
        <p:txBody>
          <a:bodyPr wrap="square">
            <a:spAutoFit/>
          </a:bodyPr>
          <a:lstStyle/>
          <a:p>
            <a:pPr algn="l">
              <a:defRPr sz="4200" b="1">
                <a:solidFill>
                  <a:srgbClr val="FFFFFF"/>
                </a:solidFill>
                <a:latin typeface="微软雅黑"/>
              </a:defRPr>
            </a:pPr>
            <a:r>
              <a:t>物联感知・自动预警・数据赋能</a:t>
            </a:r>
          </a:p>
        </p:txBody>
      </p:sp>
      <p:sp>
        <p:nvSpPr>
          <p:cNvPr id="8" name="Rectangle 7"/>
          <p:cNvSpPr/>
          <p:nvPr/>
        </p:nvSpPr>
        <p:spPr>
          <a:xfrm>
            <a:off x="548640" y="2011680"/>
            <a:ext cx="3200400" cy="27432"/>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548640" y="2377440"/>
            <a:ext cx="11094415" cy="3474720"/>
          </a:xfrm>
          <a:prstGeom prst="roundRect">
            <a:avLst/>
          </a:prstGeom>
          <a:solidFill>
            <a:srgbClr val="1218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2651760"/>
            <a:ext cx="914400" cy="548640"/>
          </a:xfrm>
          <a:prstGeom prst="rect">
            <a:avLst/>
          </a:prstGeom>
          <a:noFill/>
        </p:spPr>
        <p:txBody>
          <a:bodyPr wrap="square">
            <a:spAutoFit/>
          </a:bodyPr>
          <a:lstStyle/>
          <a:p>
            <a:pPr algn="l">
              <a:defRPr sz="3600" b="1">
                <a:solidFill>
                  <a:srgbClr val="3B82F6"/>
                </a:solidFill>
                <a:latin typeface="Segoe UI"/>
              </a:defRPr>
            </a:pPr>
            <a:r>
              <a:t>01</a:t>
            </a:r>
          </a:p>
        </p:txBody>
      </p:sp>
      <p:sp>
        <p:nvSpPr>
          <p:cNvPr id="11" name="TextBox 10"/>
          <p:cNvSpPr txBox="1"/>
          <p:nvPr/>
        </p:nvSpPr>
        <p:spPr>
          <a:xfrm>
            <a:off x="1828800" y="2606040"/>
            <a:ext cx="9418320" cy="2926080"/>
          </a:xfrm>
          <a:prstGeom prst="rect">
            <a:avLst/>
          </a:prstGeom>
          <a:noFill/>
        </p:spPr>
        <p:txBody>
          <a:bodyPr wrap="square">
            <a:spAutoFit/>
          </a:bodyPr>
          <a:lstStyle/>
          <a:p>
            <a:pPr algn="l">
              <a:defRPr sz="2800" b="0">
                <a:solidFill>
                  <a:srgbClr val="FFFFFF"/>
                </a:solidFill>
                <a:latin typeface="微软雅黑"/>
              </a:defRPr>
            </a:pPr>
            <a:r>
              <a:t>物联感知・自动预警・数据赋能</a:t>
            </a:r>
          </a:p>
        </p:txBody>
      </p:sp>
      <p:sp>
        <p:nvSpPr>
          <p:cNvPr id="12" name="Rectangle 11"/>
          <p:cNvSpPr/>
          <p:nvPr/>
        </p:nvSpPr>
        <p:spPr>
          <a:xfrm>
            <a:off x="0" y="6035040"/>
            <a:ext cx="12191695" cy="822960"/>
          </a:xfrm>
          <a:prstGeom prst="rect">
            <a:avLst/>
          </a:prstGeom>
          <a:solidFill>
            <a:srgbClr val="1218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48640" y="6080760"/>
            <a:ext cx="1097280" cy="365760"/>
          </a:xfrm>
          <a:prstGeom prst="rect">
            <a:avLst/>
          </a:prstGeom>
          <a:noFill/>
        </p:spPr>
        <p:txBody>
          <a:bodyPr wrap="square">
            <a:spAutoFit/>
          </a:bodyPr>
          <a:lstStyle/>
          <a:p>
            <a:pPr algn="l">
              <a:defRPr sz="1100" b="1">
                <a:solidFill>
                  <a:srgbClr val="3B82F6"/>
                </a:solidFill>
                <a:latin typeface="微软雅黑"/>
              </a:defRPr>
            </a:pPr>
            <a:r>
              <a:t>旁  白</a:t>
            </a:r>
          </a:p>
        </p:txBody>
      </p:sp>
      <p:sp>
        <p:nvSpPr>
          <p:cNvPr id="14" name="TextBox 13"/>
          <p:cNvSpPr txBox="1"/>
          <p:nvPr/>
        </p:nvSpPr>
        <p:spPr>
          <a:xfrm>
            <a:off x="1645920" y="6080760"/>
            <a:ext cx="10058400" cy="731520"/>
          </a:xfrm>
          <a:prstGeom prst="rect">
            <a:avLst/>
          </a:prstGeom>
          <a:noFill/>
        </p:spPr>
        <p:txBody>
          <a:bodyPr wrap="square">
            <a:spAutoFit/>
          </a:bodyPr>
          <a:lstStyle/>
          <a:p>
            <a:pPr algn="l">
              <a:defRPr sz="1300" b="0">
                <a:solidFill>
                  <a:srgbClr val="9CA3AF"/>
                </a:solidFill>
                <a:latin typeface="微软雅黑"/>
              </a:defRPr>
            </a:pPr>
            <a:r>
              <a:t>我行先行探索以物联网、自动化、数据驱动为技术底座，实现物理空间感知、行为识别预警、数据辅助决策，让安防从 “管设备” 逐步转向 “管行为、控风险”</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80C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45720"/>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731520"/>
            <a:ext cx="3657600" cy="548640"/>
          </a:xfrm>
          <a:prstGeom prst="rect">
            <a:avLst/>
          </a:prstGeom>
          <a:noFill/>
        </p:spPr>
        <p:txBody>
          <a:bodyPr wrap="square">
            <a:spAutoFit/>
          </a:bodyPr>
          <a:lstStyle/>
          <a:p>
            <a:pPr algn="l">
              <a:defRPr sz="2000" b="1">
                <a:solidFill>
                  <a:srgbClr val="3B82F6"/>
                </a:solidFill>
                <a:latin typeface="Segoe UI"/>
              </a:defRPr>
            </a:pPr>
            <a:r>
              <a:t>CHAPTER 02</a:t>
            </a:r>
          </a:p>
        </p:txBody>
      </p:sp>
      <p:sp>
        <p:nvSpPr>
          <p:cNvPr id="5" name="TextBox 4"/>
          <p:cNvSpPr txBox="1"/>
          <p:nvPr/>
        </p:nvSpPr>
        <p:spPr>
          <a:xfrm>
            <a:off x="548640" y="2011680"/>
            <a:ext cx="11064240" cy="1371600"/>
          </a:xfrm>
          <a:prstGeom prst="rect">
            <a:avLst/>
          </a:prstGeom>
          <a:noFill/>
        </p:spPr>
        <p:txBody>
          <a:bodyPr wrap="square">
            <a:spAutoFit/>
          </a:bodyPr>
          <a:lstStyle/>
          <a:p>
            <a:pPr algn="l">
              <a:defRPr sz="5200" b="1">
                <a:solidFill>
                  <a:srgbClr val="FFFFFF"/>
                </a:solidFill>
                <a:latin typeface="微软雅黑"/>
              </a:defRPr>
            </a:pPr>
            <a:r>
              <a:t>整体规划框架</a:t>
            </a:r>
          </a:p>
        </p:txBody>
      </p:sp>
      <p:sp>
        <p:nvSpPr>
          <p:cNvPr id="6" name="Rectangle 5"/>
          <p:cNvSpPr/>
          <p:nvPr/>
        </p:nvSpPr>
        <p:spPr>
          <a:xfrm>
            <a:off x="548640" y="3474720"/>
            <a:ext cx="2743200" cy="18288"/>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3749039"/>
            <a:ext cx="11064240" cy="914400"/>
          </a:xfrm>
          <a:prstGeom prst="rect">
            <a:avLst/>
          </a:prstGeom>
          <a:noFill/>
        </p:spPr>
        <p:txBody>
          <a:bodyPr wrap="square">
            <a:spAutoFit/>
          </a:bodyPr>
          <a:lstStyle/>
          <a:p>
            <a:pPr algn="l">
              <a:defRPr sz="2600" b="0">
                <a:solidFill>
                  <a:srgbClr val="9CA3AF"/>
                </a:solidFill>
                <a:latin typeface="微软雅黑"/>
              </a:defRPr>
            </a:pPr>
            <a:r>
              <a:t>三大方向 · "看得到 管得牢 用得优"</a:t>
            </a:r>
          </a:p>
        </p:txBody>
      </p:sp>
      <p:sp>
        <p:nvSpPr>
          <p:cNvPr id="8" name="Rectangle 7"/>
          <p:cNvSpPr/>
          <p:nvPr/>
        </p:nvSpPr>
        <p:spPr>
          <a:xfrm>
            <a:off x="0" y="5486400"/>
            <a:ext cx="12191695" cy="1371600"/>
          </a:xfrm>
          <a:prstGeom prst="rect">
            <a:avLst/>
          </a:prstGeom>
          <a:solidFill>
            <a:srgbClr val="1218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80C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36576"/>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37160"/>
            <a:ext cx="2743200" cy="320040"/>
          </a:xfrm>
          <a:prstGeom prst="rect">
            <a:avLst/>
          </a:prstGeom>
          <a:noFill/>
        </p:spPr>
        <p:txBody>
          <a:bodyPr wrap="square">
            <a:spAutoFit/>
          </a:bodyPr>
          <a:lstStyle/>
          <a:p>
            <a:pPr algn="l">
              <a:defRPr sz="1200" b="0">
                <a:solidFill>
                  <a:srgbClr val="6B7280"/>
                </a:solidFill>
                <a:latin typeface="Segoe UI"/>
              </a:defRPr>
            </a:pPr>
            <a:r>
              <a:t>07 / 20</a:t>
            </a:r>
          </a:p>
        </p:txBody>
      </p:sp>
      <p:sp>
        <p:nvSpPr>
          <p:cNvPr id="5" name="TextBox 4"/>
          <p:cNvSpPr txBox="1"/>
          <p:nvPr/>
        </p:nvSpPr>
        <p:spPr>
          <a:xfrm>
            <a:off x="2743200" y="155448"/>
            <a:ext cx="8686800" cy="320040"/>
          </a:xfrm>
          <a:prstGeom prst="rect">
            <a:avLst/>
          </a:prstGeom>
          <a:noFill/>
        </p:spPr>
        <p:txBody>
          <a:bodyPr wrap="square">
            <a:spAutoFit/>
          </a:bodyPr>
          <a:lstStyle/>
          <a:p>
            <a:pPr algn="l">
              <a:defRPr sz="1200" b="0">
                <a:solidFill>
                  <a:srgbClr val="3B82F6"/>
                </a:solidFill>
                <a:latin typeface="微软雅黑"/>
              </a:defRPr>
            </a:pPr>
            <a:r>
              <a:t>第二章 规划框架</a:t>
            </a:r>
          </a:p>
        </p:txBody>
      </p:sp>
      <p:sp>
        <p:nvSpPr>
          <p:cNvPr id="6" name="Rectangle 5"/>
          <p:cNvSpPr/>
          <p:nvPr/>
        </p:nvSpPr>
        <p:spPr>
          <a:xfrm>
            <a:off x="548640" y="548640"/>
            <a:ext cx="11094415" cy="7315"/>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822960"/>
            <a:ext cx="11094415" cy="1097280"/>
          </a:xfrm>
          <a:prstGeom prst="rect">
            <a:avLst/>
          </a:prstGeom>
          <a:noFill/>
        </p:spPr>
        <p:txBody>
          <a:bodyPr wrap="square">
            <a:spAutoFit/>
          </a:bodyPr>
          <a:lstStyle/>
          <a:p>
            <a:pPr algn="l">
              <a:defRPr sz="4200" b="1">
                <a:solidFill>
                  <a:srgbClr val="FFFFFF"/>
                </a:solidFill>
                <a:latin typeface="微软雅黑"/>
              </a:defRPr>
            </a:pPr>
            <a:r>
              <a:t>依托坚实技术底座，确立 “看、管、用” 三大建设方向，锚定一屏观全行、一网管全行...</a:t>
            </a:r>
          </a:p>
        </p:txBody>
      </p:sp>
      <p:sp>
        <p:nvSpPr>
          <p:cNvPr id="8" name="Rectangle 7"/>
          <p:cNvSpPr/>
          <p:nvPr/>
        </p:nvSpPr>
        <p:spPr>
          <a:xfrm>
            <a:off x="548640" y="2011680"/>
            <a:ext cx="3200400" cy="27432"/>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548640" y="2377440"/>
            <a:ext cx="11094415" cy="3474720"/>
          </a:xfrm>
          <a:prstGeom prst="roundRect">
            <a:avLst/>
          </a:prstGeom>
          <a:solidFill>
            <a:srgbClr val="1218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2651760"/>
            <a:ext cx="914400" cy="548640"/>
          </a:xfrm>
          <a:prstGeom prst="rect">
            <a:avLst/>
          </a:prstGeom>
          <a:noFill/>
        </p:spPr>
        <p:txBody>
          <a:bodyPr wrap="square">
            <a:spAutoFit/>
          </a:bodyPr>
          <a:lstStyle/>
          <a:p>
            <a:pPr algn="l">
              <a:defRPr sz="3600" b="1">
                <a:solidFill>
                  <a:srgbClr val="3B82F6"/>
                </a:solidFill>
                <a:latin typeface="Segoe UI"/>
              </a:defRPr>
            </a:pPr>
            <a:r>
              <a:t>01</a:t>
            </a:r>
          </a:p>
        </p:txBody>
      </p:sp>
      <p:sp>
        <p:nvSpPr>
          <p:cNvPr id="11" name="TextBox 10"/>
          <p:cNvSpPr txBox="1"/>
          <p:nvPr/>
        </p:nvSpPr>
        <p:spPr>
          <a:xfrm>
            <a:off x="1828800" y="2606040"/>
            <a:ext cx="9418320" cy="2926080"/>
          </a:xfrm>
          <a:prstGeom prst="rect">
            <a:avLst/>
          </a:prstGeom>
          <a:noFill/>
        </p:spPr>
        <p:txBody>
          <a:bodyPr wrap="square">
            <a:spAutoFit/>
          </a:bodyPr>
          <a:lstStyle/>
          <a:p>
            <a:pPr algn="l">
              <a:defRPr sz="2400" b="0">
                <a:solidFill>
                  <a:srgbClr val="FFFFFF"/>
                </a:solidFill>
                <a:latin typeface="微软雅黑"/>
              </a:defRPr>
            </a:pPr>
            <a:r>
              <a:t>依托坚实技术底座，确立 “看、管、用” 三大建设方向，锚定一屏观全行、一网管全行总体目标，数智安防建设成果全面落地，各项规划有序推进。</a:t>
            </a:r>
          </a:p>
        </p:txBody>
      </p:sp>
      <p:sp>
        <p:nvSpPr>
          <p:cNvPr id="12" name="Rectangle 11"/>
          <p:cNvSpPr/>
          <p:nvPr/>
        </p:nvSpPr>
        <p:spPr>
          <a:xfrm>
            <a:off x="0" y="6035040"/>
            <a:ext cx="12191695" cy="822960"/>
          </a:xfrm>
          <a:prstGeom prst="rect">
            <a:avLst/>
          </a:prstGeom>
          <a:solidFill>
            <a:srgbClr val="1218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48640" y="6080760"/>
            <a:ext cx="1097280" cy="365760"/>
          </a:xfrm>
          <a:prstGeom prst="rect">
            <a:avLst/>
          </a:prstGeom>
          <a:noFill/>
        </p:spPr>
        <p:txBody>
          <a:bodyPr wrap="square">
            <a:spAutoFit/>
          </a:bodyPr>
          <a:lstStyle/>
          <a:p>
            <a:pPr algn="l">
              <a:defRPr sz="1100" b="1">
                <a:solidFill>
                  <a:srgbClr val="3B82F6"/>
                </a:solidFill>
                <a:latin typeface="微软雅黑"/>
              </a:defRPr>
            </a:pPr>
            <a:r>
              <a:t>旁  白</a:t>
            </a:r>
          </a:p>
        </p:txBody>
      </p:sp>
      <p:sp>
        <p:nvSpPr>
          <p:cNvPr id="14" name="TextBox 13"/>
          <p:cNvSpPr txBox="1"/>
          <p:nvPr/>
        </p:nvSpPr>
        <p:spPr>
          <a:xfrm>
            <a:off x="1645920" y="6080760"/>
            <a:ext cx="10058400" cy="731520"/>
          </a:xfrm>
          <a:prstGeom prst="rect">
            <a:avLst/>
          </a:prstGeom>
          <a:noFill/>
        </p:spPr>
        <p:txBody>
          <a:bodyPr wrap="square">
            <a:spAutoFit/>
          </a:bodyPr>
          <a:lstStyle/>
          <a:p>
            <a:pPr algn="l">
              <a:defRPr sz="1300" b="0">
                <a:solidFill>
                  <a:srgbClr val="9CA3AF"/>
                </a:solidFill>
                <a:latin typeface="微软雅黑"/>
              </a:defRPr>
            </a:pPr>
            <a:r>
              <a:t>依托坚实技术底座，确立 “看、管、用” 三大建设方向，锚定一屏观全行、一网管全行总体目标，数智安防建设成果全面落地，各项规划有序推进</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80C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45720"/>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731520"/>
            <a:ext cx="3657600" cy="548640"/>
          </a:xfrm>
          <a:prstGeom prst="rect">
            <a:avLst/>
          </a:prstGeom>
          <a:noFill/>
        </p:spPr>
        <p:txBody>
          <a:bodyPr wrap="square">
            <a:spAutoFit/>
          </a:bodyPr>
          <a:lstStyle/>
          <a:p>
            <a:pPr algn="l">
              <a:defRPr sz="2000" b="1">
                <a:solidFill>
                  <a:srgbClr val="3B82F6"/>
                </a:solidFill>
                <a:latin typeface="Segoe UI"/>
              </a:defRPr>
            </a:pPr>
            <a:r>
              <a:t>CHAPTER 03</a:t>
            </a:r>
          </a:p>
        </p:txBody>
      </p:sp>
      <p:sp>
        <p:nvSpPr>
          <p:cNvPr id="5" name="TextBox 4"/>
          <p:cNvSpPr txBox="1"/>
          <p:nvPr/>
        </p:nvSpPr>
        <p:spPr>
          <a:xfrm>
            <a:off x="548640" y="2011680"/>
            <a:ext cx="11064240" cy="1371600"/>
          </a:xfrm>
          <a:prstGeom prst="rect">
            <a:avLst/>
          </a:prstGeom>
          <a:noFill/>
        </p:spPr>
        <p:txBody>
          <a:bodyPr wrap="square">
            <a:spAutoFit/>
          </a:bodyPr>
          <a:lstStyle/>
          <a:p>
            <a:pPr algn="l">
              <a:defRPr sz="5200" b="1">
                <a:solidFill>
                  <a:srgbClr val="FFFFFF"/>
                </a:solidFill>
                <a:latin typeface="微软雅黑"/>
              </a:defRPr>
            </a:pPr>
            <a:r>
              <a:t>核心实践成果</a:t>
            </a:r>
          </a:p>
        </p:txBody>
      </p:sp>
      <p:sp>
        <p:nvSpPr>
          <p:cNvPr id="6" name="Rectangle 5"/>
          <p:cNvSpPr/>
          <p:nvPr/>
        </p:nvSpPr>
        <p:spPr>
          <a:xfrm>
            <a:off x="548640" y="3474720"/>
            <a:ext cx="2743200" cy="18288"/>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3749039"/>
            <a:ext cx="11064240" cy="914400"/>
          </a:xfrm>
          <a:prstGeom prst="rect">
            <a:avLst/>
          </a:prstGeom>
          <a:noFill/>
        </p:spPr>
        <p:txBody>
          <a:bodyPr wrap="square">
            <a:spAutoFit/>
          </a:bodyPr>
          <a:lstStyle/>
          <a:p>
            <a:pPr algn="l">
              <a:defRPr sz="2600" b="0">
                <a:solidFill>
                  <a:srgbClr val="9CA3AF"/>
                </a:solidFill>
                <a:latin typeface="微软雅黑"/>
              </a:defRPr>
            </a:pPr>
            <a:r>
              <a:t>三大板块 · 全面落地</a:t>
            </a:r>
          </a:p>
        </p:txBody>
      </p:sp>
      <p:sp>
        <p:nvSpPr>
          <p:cNvPr id="8" name="Rectangle 7"/>
          <p:cNvSpPr/>
          <p:nvPr/>
        </p:nvSpPr>
        <p:spPr>
          <a:xfrm>
            <a:off x="0" y="5486400"/>
            <a:ext cx="12191695" cy="1371600"/>
          </a:xfrm>
          <a:prstGeom prst="rect">
            <a:avLst/>
          </a:prstGeom>
          <a:solidFill>
            <a:srgbClr val="1218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80C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36576"/>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37160"/>
            <a:ext cx="2743200" cy="320040"/>
          </a:xfrm>
          <a:prstGeom prst="rect">
            <a:avLst/>
          </a:prstGeom>
          <a:noFill/>
        </p:spPr>
        <p:txBody>
          <a:bodyPr wrap="square">
            <a:spAutoFit/>
          </a:bodyPr>
          <a:lstStyle/>
          <a:p>
            <a:pPr algn="l">
              <a:defRPr sz="1200" b="0">
                <a:solidFill>
                  <a:srgbClr val="6B7280"/>
                </a:solidFill>
                <a:latin typeface="Segoe UI"/>
              </a:defRPr>
            </a:pPr>
            <a:r>
              <a:t>09 / 20</a:t>
            </a:r>
          </a:p>
        </p:txBody>
      </p:sp>
      <p:sp>
        <p:nvSpPr>
          <p:cNvPr id="5" name="TextBox 4"/>
          <p:cNvSpPr txBox="1"/>
          <p:nvPr/>
        </p:nvSpPr>
        <p:spPr>
          <a:xfrm>
            <a:off x="2743200" y="155448"/>
            <a:ext cx="8686800" cy="320040"/>
          </a:xfrm>
          <a:prstGeom prst="rect">
            <a:avLst/>
          </a:prstGeom>
          <a:noFill/>
        </p:spPr>
        <p:txBody>
          <a:bodyPr wrap="square">
            <a:spAutoFit/>
          </a:bodyPr>
          <a:lstStyle/>
          <a:p>
            <a:pPr algn="l">
              <a:defRPr sz="1200" b="0">
                <a:solidFill>
                  <a:srgbClr val="3B82F6"/>
                </a:solidFill>
                <a:latin typeface="微软雅黑"/>
              </a:defRPr>
            </a:pPr>
            <a:r>
              <a:t>板块一 看得到·看得清·看得全</a:t>
            </a:r>
          </a:p>
        </p:txBody>
      </p:sp>
      <p:sp>
        <p:nvSpPr>
          <p:cNvPr id="6" name="Rectangle 5"/>
          <p:cNvSpPr/>
          <p:nvPr/>
        </p:nvSpPr>
        <p:spPr>
          <a:xfrm>
            <a:off x="548640" y="548640"/>
            <a:ext cx="11094415" cy="7315"/>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822960"/>
            <a:ext cx="11094415" cy="1097280"/>
          </a:xfrm>
          <a:prstGeom prst="rect">
            <a:avLst/>
          </a:prstGeom>
          <a:noFill/>
        </p:spPr>
        <p:txBody>
          <a:bodyPr wrap="square">
            <a:spAutoFit/>
          </a:bodyPr>
          <a:lstStyle/>
          <a:p>
            <a:pPr algn="l">
              <a:defRPr sz="4200" b="1">
                <a:solidFill>
                  <a:srgbClr val="FFFFFF"/>
                </a:solidFill>
                <a:latin typeface="微软雅黑"/>
              </a:defRPr>
            </a:pPr>
            <a:r>
              <a:t>1、业内率先实现上海地区安防专网全覆盖，实现监控中心的“多场...</a:t>
            </a:r>
          </a:p>
        </p:txBody>
      </p:sp>
      <p:sp>
        <p:nvSpPr>
          <p:cNvPr id="8" name="Rectangle 7"/>
          <p:cNvSpPr/>
          <p:nvPr/>
        </p:nvSpPr>
        <p:spPr>
          <a:xfrm>
            <a:off x="548640" y="2011680"/>
            <a:ext cx="3200400" cy="27432"/>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548640" y="2377440"/>
            <a:ext cx="5478627" cy="1668780"/>
          </a:xfrm>
          <a:prstGeom prst="roundRect">
            <a:avLst/>
          </a:prstGeom>
          <a:solidFill>
            <a:srgbClr val="1218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59" y="2560320"/>
            <a:ext cx="914400" cy="548640"/>
          </a:xfrm>
          <a:prstGeom prst="rect">
            <a:avLst/>
          </a:prstGeom>
          <a:noFill/>
        </p:spPr>
        <p:txBody>
          <a:bodyPr wrap="square">
            <a:spAutoFit/>
          </a:bodyPr>
          <a:lstStyle/>
          <a:p>
            <a:pPr algn="l">
              <a:defRPr sz="3200" b="1">
                <a:solidFill>
                  <a:srgbClr val="3B82F6"/>
                </a:solidFill>
                <a:latin typeface="Segoe UI"/>
              </a:defRPr>
            </a:pPr>
            <a:r>
              <a:t>01</a:t>
            </a:r>
          </a:p>
        </p:txBody>
      </p:sp>
      <p:sp>
        <p:nvSpPr>
          <p:cNvPr id="11" name="TextBox 10"/>
          <p:cNvSpPr txBox="1"/>
          <p:nvPr/>
        </p:nvSpPr>
        <p:spPr>
          <a:xfrm>
            <a:off x="1920240" y="2514600"/>
            <a:ext cx="3649827" cy="1303020"/>
          </a:xfrm>
          <a:prstGeom prst="rect">
            <a:avLst/>
          </a:prstGeom>
          <a:noFill/>
        </p:spPr>
        <p:txBody>
          <a:bodyPr wrap="square">
            <a:spAutoFit/>
          </a:bodyPr>
          <a:lstStyle/>
          <a:p>
            <a:pPr algn="l">
              <a:defRPr sz="2000" b="0">
                <a:solidFill>
                  <a:srgbClr val="FFFFFF"/>
                </a:solidFill>
                <a:latin typeface="微软雅黑"/>
              </a:defRPr>
            </a:pPr>
            <a:r>
              <a:t>业内率先实现上海地区安防专网全覆盖，实现监控中心的“多场所”。</a:t>
            </a:r>
          </a:p>
        </p:txBody>
      </p:sp>
      <p:sp>
        <p:nvSpPr>
          <p:cNvPr id="12" name="Rounded Rectangle 11"/>
          <p:cNvSpPr/>
          <p:nvPr/>
        </p:nvSpPr>
        <p:spPr>
          <a:xfrm>
            <a:off x="6164427" y="2377440"/>
            <a:ext cx="5478627" cy="1668780"/>
          </a:xfrm>
          <a:prstGeom prst="roundRect">
            <a:avLst/>
          </a:prstGeom>
          <a:solidFill>
            <a:srgbClr val="1218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38747" y="2560320"/>
            <a:ext cx="914400" cy="548640"/>
          </a:xfrm>
          <a:prstGeom prst="rect">
            <a:avLst/>
          </a:prstGeom>
          <a:noFill/>
        </p:spPr>
        <p:txBody>
          <a:bodyPr wrap="square">
            <a:spAutoFit/>
          </a:bodyPr>
          <a:lstStyle/>
          <a:p>
            <a:pPr algn="l">
              <a:defRPr sz="3200" b="1">
                <a:solidFill>
                  <a:srgbClr val="3B82F6"/>
                </a:solidFill>
                <a:latin typeface="Segoe UI"/>
              </a:defRPr>
            </a:pPr>
            <a:r>
              <a:t>02</a:t>
            </a:r>
          </a:p>
        </p:txBody>
      </p:sp>
      <p:sp>
        <p:nvSpPr>
          <p:cNvPr id="14" name="TextBox 13"/>
          <p:cNvSpPr txBox="1"/>
          <p:nvPr/>
        </p:nvSpPr>
        <p:spPr>
          <a:xfrm>
            <a:off x="7536027" y="2514600"/>
            <a:ext cx="3649827" cy="1303020"/>
          </a:xfrm>
          <a:prstGeom prst="rect">
            <a:avLst/>
          </a:prstGeom>
          <a:noFill/>
        </p:spPr>
        <p:txBody>
          <a:bodyPr wrap="square">
            <a:spAutoFit/>
          </a:bodyPr>
          <a:lstStyle/>
          <a:p>
            <a:pPr algn="l">
              <a:defRPr sz="2000" b="0">
                <a:solidFill>
                  <a:srgbClr val="FFFFFF"/>
                </a:solidFill>
                <a:latin typeface="微软雅黑"/>
              </a:defRPr>
            </a:pPr>
            <a:r>
              <a:t>业内首家对办公场所、重控场所的重点部位24小时监测，如燃气阀门等，发现问题实时通知整改。</a:t>
            </a:r>
          </a:p>
        </p:txBody>
      </p:sp>
      <p:sp>
        <p:nvSpPr>
          <p:cNvPr id="15" name="Rounded Rectangle 14"/>
          <p:cNvSpPr/>
          <p:nvPr/>
        </p:nvSpPr>
        <p:spPr>
          <a:xfrm>
            <a:off x="548640" y="4183380"/>
            <a:ext cx="5478627" cy="1668780"/>
          </a:xfrm>
          <a:prstGeom prst="roundRect">
            <a:avLst/>
          </a:prstGeom>
          <a:solidFill>
            <a:srgbClr val="1218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2959" y="4366260"/>
            <a:ext cx="914400" cy="548640"/>
          </a:xfrm>
          <a:prstGeom prst="rect">
            <a:avLst/>
          </a:prstGeom>
          <a:noFill/>
        </p:spPr>
        <p:txBody>
          <a:bodyPr wrap="square">
            <a:spAutoFit/>
          </a:bodyPr>
          <a:lstStyle/>
          <a:p>
            <a:pPr algn="l">
              <a:defRPr sz="3200" b="1">
                <a:solidFill>
                  <a:srgbClr val="3B82F6"/>
                </a:solidFill>
                <a:latin typeface="Segoe UI"/>
              </a:defRPr>
            </a:pPr>
            <a:r>
              <a:t>03</a:t>
            </a:r>
          </a:p>
        </p:txBody>
      </p:sp>
      <p:sp>
        <p:nvSpPr>
          <p:cNvPr id="17" name="TextBox 16"/>
          <p:cNvSpPr txBox="1"/>
          <p:nvPr/>
        </p:nvSpPr>
        <p:spPr>
          <a:xfrm>
            <a:off x="1920240" y="4320540"/>
            <a:ext cx="3649827" cy="1303020"/>
          </a:xfrm>
          <a:prstGeom prst="rect">
            <a:avLst/>
          </a:prstGeom>
          <a:noFill/>
        </p:spPr>
        <p:txBody>
          <a:bodyPr wrap="square">
            <a:spAutoFit/>
          </a:bodyPr>
          <a:lstStyle/>
          <a:p>
            <a:pPr algn="l">
              <a:defRPr sz="2000" b="0">
                <a:solidFill>
                  <a:srgbClr val="FFFFFF"/>
                </a:solidFill>
                <a:latin typeface="微软雅黑"/>
              </a:defRPr>
            </a:pPr>
            <a:r>
              <a:t>搭建业内首个网络安全管理平台，实现安防设备在线准入、预防外部攻击、隔离内部网络侵袭、扫描系统漏洞、监测网络稳定性、入侵预警6大功能的监测模型。</a:t>
            </a:r>
          </a:p>
        </p:txBody>
      </p:sp>
      <p:sp>
        <p:nvSpPr>
          <p:cNvPr id="18" name="Rectangle 17"/>
          <p:cNvSpPr/>
          <p:nvPr/>
        </p:nvSpPr>
        <p:spPr>
          <a:xfrm>
            <a:off x="0" y="6035040"/>
            <a:ext cx="12191695" cy="822960"/>
          </a:xfrm>
          <a:prstGeom prst="rect">
            <a:avLst/>
          </a:prstGeom>
          <a:solidFill>
            <a:srgbClr val="1218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48640" y="6080760"/>
            <a:ext cx="1097280" cy="365760"/>
          </a:xfrm>
          <a:prstGeom prst="rect">
            <a:avLst/>
          </a:prstGeom>
          <a:noFill/>
        </p:spPr>
        <p:txBody>
          <a:bodyPr wrap="square">
            <a:spAutoFit/>
          </a:bodyPr>
          <a:lstStyle/>
          <a:p>
            <a:pPr algn="l">
              <a:defRPr sz="1100" b="1">
                <a:solidFill>
                  <a:srgbClr val="3B82F6"/>
                </a:solidFill>
                <a:latin typeface="微软雅黑"/>
              </a:defRPr>
            </a:pPr>
            <a:r>
              <a:t>旁  白</a:t>
            </a:r>
          </a:p>
        </p:txBody>
      </p:sp>
      <p:sp>
        <p:nvSpPr>
          <p:cNvPr id="20" name="TextBox 19"/>
          <p:cNvSpPr txBox="1"/>
          <p:nvPr/>
        </p:nvSpPr>
        <p:spPr>
          <a:xfrm>
            <a:off x="1645920" y="6080760"/>
            <a:ext cx="10058400" cy="731520"/>
          </a:xfrm>
          <a:prstGeom prst="rect">
            <a:avLst/>
          </a:prstGeom>
          <a:noFill/>
        </p:spPr>
        <p:txBody>
          <a:bodyPr wrap="square">
            <a:spAutoFit/>
          </a:bodyPr>
          <a:lstStyle/>
          <a:p>
            <a:pPr algn="l">
              <a:defRPr sz="1300" b="0">
                <a:solidFill>
                  <a:srgbClr val="9CA3AF"/>
                </a:solidFill>
                <a:latin typeface="微软雅黑"/>
              </a:defRPr>
            </a:pPr>
            <a:r>
              <a:t>专网建设取得突破，夯实硬件基础，实现“看得到”</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80C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36576"/>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37160"/>
            <a:ext cx="2743200" cy="320040"/>
          </a:xfrm>
          <a:prstGeom prst="rect">
            <a:avLst/>
          </a:prstGeom>
          <a:noFill/>
        </p:spPr>
        <p:txBody>
          <a:bodyPr wrap="square">
            <a:spAutoFit/>
          </a:bodyPr>
          <a:lstStyle/>
          <a:p>
            <a:pPr algn="l">
              <a:defRPr sz="1200" b="0">
                <a:solidFill>
                  <a:srgbClr val="6B7280"/>
                </a:solidFill>
                <a:latin typeface="Segoe UI"/>
              </a:defRPr>
            </a:pPr>
            <a:r>
              <a:t>10 / 20</a:t>
            </a:r>
          </a:p>
        </p:txBody>
      </p:sp>
      <p:sp>
        <p:nvSpPr>
          <p:cNvPr id="5" name="TextBox 4"/>
          <p:cNvSpPr txBox="1"/>
          <p:nvPr/>
        </p:nvSpPr>
        <p:spPr>
          <a:xfrm>
            <a:off x="2743200" y="155448"/>
            <a:ext cx="8686800" cy="320040"/>
          </a:xfrm>
          <a:prstGeom prst="rect">
            <a:avLst/>
          </a:prstGeom>
          <a:noFill/>
        </p:spPr>
        <p:txBody>
          <a:bodyPr wrap="square">
            <a:spAutoFit/>
          </a:bodyPr>
          <a:lstStyle/>
          <a:p>
            <a:pPr algn="l">
              <a:defRPr sz="1200" b="0">
                <a:solidFill>
                  <a:srgbClr val="3B82F6"/>
                </a:solidFill>
                <a:latin typeface="微软雅黑"/>
              </a:defRPr>
            </a:pPr>
            <a:r>
              <a:t>板块一 看得到·看得清·看得全</a:t>
            </a:r>
          </a:p>
        </p:txBody>
      </p:sp>
      <p:sp>
        <p:nvSpPr>
          <p:cNvPr id="6" name="Rectangle 5"/>
          <p:cNvSpPr/>
          <p:nvPr/>
        </p:nvSpPr>
        <p:spPr>
          <a:xfrm>
            <a:off x="548640" y="548640"/>
            <a:ext cx="11094415" cy="7315"/>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822960"/>
            <a:ext cx="11094415" cy="1097280"/>
          </a:xfrm>
          <a:prstGeom prst="rect">
            <a:avLst/>
          </a:prstGeom>
          <a:noFill/>
        </p:spPr>
        <p:txBody>
          <a:bodyPr wrap="square">
            <a:spAutoFit/>
          </a:bodyPr>
          <a:lstStyle/>
          <a:p>
            <a:pPr algn="l">
              <a:defRPr sz="4200" b="1">
                <a:solidFill>
                  <a:srgbClr val="FFFFFF"/>
                </a:solidFill>
                <a:latin typeface="微软雅黑"/>
              </a:defRPr>
            </a:pPr>
            <a:r>
              <a:t>1、预警信息看得清，建立消防云平台，消防设施感知与视频联动。</a:t>
            </a:r>
          </a:p>
        </p:txBody>
      </p:sp>
      <p:sp>
        <p:nvSpPr>
          <p:cNvPr id="8" name="Rectangle 7"/>
          <p:cNvSpPr/>
          <p:nvPr/>
        </p:nvSpPr>
        <p:spPr>
          <a:xfrm>
            <a:off x="548640" y="2011680"/>
            <a:ext cx="3200400" cy="27432"/>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548640" y="2377440"/>
            <a:ext cx="5478627" cy="1668780"/>
          </a:xfrm>
          <a:prstGeom prst="roundRect">
            <a:avLst/>
          </a:prstGeom>
          <a:solidFill>
            <a:srgbClr val="1218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59" y="2560320"/>
            <a:ext cx="914400" cy="548640"/>
          </a:xfrm>
          <a:prstGeom prst="rect">
            <a:avLst/>
          </a:prstGeom>
          <a:noFill/>
        </p:spPr>
        <p:txBody>
          <a:bodyPr wrap="square">
            <a:spAutoFit/>
          </a:bodyPr>
          <a:lstStyle/>
          <a:p>
            <a:pPr algn="l">
              <a:defRPr sz="3200" b="1">
                <a:solidFill>
                  <a:srgbClr val="3B82F6"/>
                </a:solidFill>
                <a:latin typeface="Segoe UI"/>
              </a:defRPr>
            </a:pPr>
            <a:r>
              <a:t>01</a:t>
            </a:r>
          </a:p>
        </p:txBody>
      </p:sp>
      <p:sp>
        <p:nvSpPr>
          <p:cNvPr id="11" name="TextBox 10"/>
          <p:cNvSpPr txBox="1"/>
          <p:nvPr/>
        </p:nvSpPr>
        <p:spPr>
          <a:xfrm>
            <a:off x="1920240" y="2514600"/>
            <a:ext cx="3649827" cy="1303020"/>
          </a:xfrm>
          <a:prstGeom prst="rect">
            <a:avLst/>
          </a:prstGeom>
          <a:noFill/>
        </p:spPr>
        <p:txBody>
          <a:bodyPr wrap="square">
            <a:spAutoFit/>
          </a:bodyPr>
          <a:lstStyle/>
          <a:p>
            <a:pPr algn="l">
              <a:defRPr sz="2400" b="0">
                <a:solidFill>
                  <a:srgbClr val="FFFFFF"/>
                </a:solidFill>
                <a:latin typeface="微软雅黑"/>
              </a:defRPr>
            </a:pPr>
            <a:r>
              <a:t>预警信息看得清，建立消防云平台，消防设施感知与视频联动。</a:t>
            </a:r>
          </a:p>
        </p:txBody>
      </p:sp>
      <p:sp>
        <p:nvSpPr>
          <p:cNvPr id="12" name="Rounded Rectangle 11"/>
          <p:cNvSpPr/>
          <p:nvPr/>
        </p:nvSpPr>
        <p:spPr>
          <a:xfrm>
            <a:off x="6164427" y="2377440"/>
            <a:ext cx="5478627" cy="1668780"/>
          </a:xfrm>
          <a:prstGeom prst="roundRect">
            <a:avLst/>
          </a:prstGeom>
          <a:solidFill>
            <a:srgbClr val="1218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38747" y="2560320"/>
            <a:ext cx="914400" cy="548640"/>
          </a:xfrm>
          <a:prstGeom prst="rect">
            <a:avLst/>
          </a:prstGeom>
          <a:noFill/>
        </p:spPr>
        <p:txBody>
          <a:bodyPr wrap="square">
            <a:spAutoFit/>
          </a:bodyPr>
          <a:lstStyle/>
          <a:p>
            <a:pPr algn="l">
              <a:defRPr sz="3200" b="1">
                <a:solidFill>
                  <a:srgbClr val="3B82F6"/>
                </a:solidFill>
                <a:latin typeface="Segoe UI"/>
              </a:defRPr>
            </a:pPr>
            <a:r>
              <a:t>02</a:t>
            </a:r>
          </a:p>
        </p:txBody>
      </p:sp>
      <p:sp>
        <p:nvSpPr>
          <p:cNvPr id="14" name="TextBox 13"/>
          <p:cNvSpPr txBox="1"/>
          <p:nvPr/>
        </p:nvSpPr>
        <p:spPr>
          <a:xfrm>
            <a:off x="7536027" y="2514600"/>
            <a:ext cx="3649827" cy="1303020"/>
          </a:xfrm>
          <a:prstGeom prst="rect">
            <a:avLst/>
          </a:prstGeom>
          <a:noFill/>
        </p:spPr>
        <p:txBody>
          <a:bodyPr wrap="square">
            <a:spAutoFit/>
          </a:bodyPr>
          <a:lstStyle/>
          <a:p>
            <a:pPr algn="l">
              <a:defRPr sz="2000" b="0">
                <a:solidFill>
                  <a:srgbClr val="FFFFFF"/>
                </a:solidFill>
                <a:latin typeface="微软雅黑"/>
              </a:defRPr>
            </a:pPr>
            <a:r>
              <a:t>管理手势看得清，建立智慧楼宇管理平台，实现总行本级办公楼宇可视化管理。</a:t>
            </a:r>
          </a:p>
        </p:txBody>
      </p:sp>
      <p:sp>
        <p:nvSpPr>
          <p:cNvPr id="15" name="Rounded Rectangle 14"/>
          <p:cNvSpPr/>
          <p:nvPr/>
        </p:nvSpPr>
        <p:spPr>
          <a:xfrm>
            <a:off x="548640" y="4183380"/>
            <a:ext cx="5478627" cy="1668780"/>
          </a:xfrm>
          <a:prstGeom prst="roundRect">
            <a:avLst/>
          </a:prstGeom>
          <a:solidFill>
            <a:srgbClr val="1218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2959" y="4366260"/>
            <a:ext cx="914400" cy="548640"/>
          </a:xfrm>
          <a:prstGeom prst="rect">
            <a:avLst/>
          </a:prstGeom>
          <a:noFill/>
        </p:spPr>
        <p:txBody>
          <a:bodyPr wrap="square">
            <a:spAutoFit/>
          </a:bodyPr>
          <a:lstStyle/>
          <a:p>
            <a:pPr algn="l">
              <a:defRPr sz="3200" b="1">
                <a:solidFill>
                  <a:srgbClr val="3B82F6"/>
                </a:solidFill>
                <a:latin typeface="Segoe UI"/>
              </a:defRPr>
            </a:pPr>
            <a:r>
              <a:t>03</a:t>
            </a:r>
          </a:p>
        </p:txBody>
      </p:sp>
      <p:sp>
        <p:nvSpPr>
          <p:cNvPr id="17" name="TextBox 16"/>
          <p:cNvSpPr txBox="1"/>
          <p:nvPr/>
        </p:nvSpPr>
        <p:spPr>
          <a:xfrm>
            <a:off x="1920240" y="4320540"/>
            <a:ext cx="3649827" cy="1303020"/>
          </a:xfrm>
          <a:prstGeom prst="rect">
            <a:avLst/>
          </a:prstGeom>
          <a:noFill/>
        </p:spPr>
        <p:txBody>
          <a:bodyPr wrap="square">
            <a:spAutoFit/>
          </a:bodyPr>
          <a:lstStyle/>
          <a:p>
            <a:pPr algn="l">
              <a:defRPr sz="2000" b="0">
                <a:solidFill>
                  <a:srgbClr val="FFFFFF"/>
                </a:solidFill>
                <a:latin typeface="微软雅黑"/>
              </a:defRPr>
            </a:pPr>
            <a:r>
              <a:t>处置流程看得清，建设金库智能安防系统，实现金库安全数字化统一管理。</a:t>
            </a:r>
          </a:p>
        </p:txBody>
      </p:sp>
      <p:sp>
        <p:nvSpPr>
          <p:cNvPr id="18" name="Rectangle 17"/>
          <p:cNvSpPr/>
          <p:nvPr/>
        </p:nvSpPr>
        <p:spPr>
          <a:xfrm>
            <a:off x="0" y="6035040"/>
            <a:ext cx="12191695" cy="822960"/>
          </a:xfrm>
          <a:prstGeom prst="rect">
            <a:avLst/>
          </a:prstGeom>
          <a:solidFill>
            <a:srgbClr val="1218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48640" y="6080760"/>
            <a:ext cx="1097280" cy="365760"/>
          </a:xfrm>
          <a:prstGeom prst="rect">
            <a:avLst/>
          </a:prstGeom>
          <a:noFill/>
        </p:spPr>
        <p:txBody>
          <a:bodyPr wrap="square">
            <a:spAutoFit/>
          </a:bodyPr>
          <a:lstStyle/>
          <a:p>
            <a:pPr algn="l">
              <a:defRPr sz="1100" b="1">
                <a:solidFill>
                  <a:srgbClr val="3B82F6"/>
                </a:solidFill>
                <a:latin typeface="微软雅黑"/>
              </a:defRPr>
            </a:pPr>
            <a:r>
              <a:t>旁  白</a:t>
            </a:r>
          </a:p>
        </p:txBody>
      </p:sp>
      <p:sp>
        <p:nvSpPr>
          <p:cNvPr id="20" name="TextBox 19"/>
          <p:cNvSpPr txBox="1"/>
          <p:nvPr/>
        </p:nvSpPr>
        <p:spPr>
          <a:xfrm>
            <a:off x="1645920" y="6080760"/>
            <a:ext cx="10058400" cy="731520"/>
          </a:xfrm>
          <a:prstGeom prst="rect">
            <a:avLst/>
          </a:prstGeom>
          <a:noFill/>
        </p:spPr>
        <p:txBody>
          <a:bodyPr wrap="square">
            <a:spAutoFit/>
          </a:bodyPr>
          <a:lstStyle/>
          <a:p>
            <a:pPr algn="l">
              <a:defRPr sz="1300" b="0">
                <a:solidFill>
                  <a:srgbClr val="9CA3AF"/>
                </a:solidFill>
                <a:latin typeface="微软雅黑"/>
              </a:defRPr>
            </a:pPr>
            <a:r>
              <a:t>系统整合取得突破，打通信息孤岛，消防云平台、智慧楼宇管理平台（通行）、金库智能安防系统界面联动演示全场景态势实现可视化管理，实现“看得清”</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80C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36576"/>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37160"/>
            <a:ext cx="2743200" cy="320040"/>
          </a:xfrm>
          <a:prstGeom prst="rect">
            <a:avLst/>
          </a:prstGeom>
          <a:noFill/>
        </p:spPr>
        <p:txBody>
          <a:bodyPr wrap="square">
            <a:spAutoFit/>
          </a:bodyPr>
          <a:lstStyle/>
          <a:p>
            <a:pPr algn="l">
              <a:defRPr sz="1200" b="0">
                <a:solidFill>
                  <a:srgbClr val="6B7280"/>
                </a:solidFill>
                <a:latin typeface="Segoe UI"/>
              </a:defRPr>
            </a:pPr>
            <a:r>
              <a:t>11 / 20</a:t>
            </a:r>
          </a:p>
        </p:txBody>
      </p:sp>
      <p:sp>
        <p:nvSpPr>
          <p:cNvPr id="5" name="TextBox 4"/>
          <p:cNvSpPr txBox="1"/>
          <p:nvPr/>
        </p:nvSpPr>
        <p:spPr>
          <a:xfrm>
            <a:off x="2743200" y="155448"/>
            <a:ext cx="8686800" cy="320040"/>
          </a:xfrm>
          <a:prstGeom prst="rect">
            <a:avLst/>
          </a:prstGeom>
          <a:noFill/>
        </p:spPr>
        <p:txBody>
          <a:bodyPr wrap="square">
            <a:spAutoFit/>
          </a:bodyPr>
          <a:lstStyle/>
          <a:p>
            <a:pPr algn="l">
              <a:defRPr sz="1200" b="0">
                <a:solidFill>
                  <a:srgbClr val="3B82F6"/>
                </a:solidFill>
                <a:latin typeface="微软雅黑"/>
              </a:defRPr>
            </a:pPr>
            <a:r>
              <a:t>板块一 看得到·看得清·看得全</a:t>
            </a:r>
          </a:p>
        </p:txBody>
      </p:sp>
      <p:sp>
        <p:nvSpPr>
          <p:cNvPr id="6" name="Rectangle 5"/>
          <p:cNvSpPr/>
          <p:nvPr/>
        </p:nvSpPr>
        <p:spPr>
          <a:xfrm>
            <a:off x="548640" y="548640"/>
            <a:ext cx="11094415" cy="7315"/>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822960"/>
            <a:ext cx="11094415" cy="1097280"/>
          </a:xfrm>
          <a:prstGeom prst="rect">
            <a:avLst/>
          </a:prstGeom>
          <a:noFill/>
        </p:spPr>
        <p:txBody>
          <a:bodyPr wrap="square">
            <a:spAutoFit/>
          </a:bodyPr>
          <a:lstStyle/>
          <a:p>
            <a:pPr algn="l">
              <a:defRPr sz="4200" b="1">
                <a:solidFill>
                  <a:srgbClr val="FFFFFF"/>
                </a:solidFill>
                <a:latin typeface="微软雅黑"/>
              </a:defRPr>
            </a:pPr>
            <a:r>
              <a:t>全域看得全，上线运行35类风险场景监测模型，包括接送库等8个...</a:t>
            </a:r>
          </a:p>
        </p:txBody>
      </p:sp>
      <p:sp>
        <p:nvSpPr>
          <p:cNvPr id="8" name="Rectangle 7"/>
          <p:cNvSpPr/>
          <p:nvPr/>
        </p:nvSpPr>
        <p:spPr>
          <a:xfrm>
            <a:off x="548640" y="2011680"/>
            <a:ext cx="3200400" cy="27432"/>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548640" y="2377440"/>
            <a:ext cx="11094415" cy="3474720"/>
          </a:xfrm>
          <a:prstGeom prst="roundRect">
            <a:avLst/>
          </a:prstGeom>
          <a:solidFill>
            <a:srgbClr val="1218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2651760"/>
            <a:ext cx="914400" cy="548640"/>
          </a:xfrm>
          <a:prstGeom prst="rect">
            <a:avLst/>
          </a:prstGeom>
          <a:noFill/>
        </p:spPr>
        <p:txBody>
          <a:bodyPr wrap="square">
            <a:spAutoFit/>
          </a:bodyPr>
          <a:lstStyle/>
          <a:p>
            <a:pPr algn="l">
              <a:defRPr sz="3600" b="1">
                <a:solidFill>
                  <a:srgbClr val="3B82F6"/>
                </a:solidFill>
                <a:latin typeface="Segoe UI"/>
              </a:defRPr>
            </a:pPr>
            <a:r>
              <a:t>01</a:t>
            </a:r>
          </a:p>
        </p:txBody>
      </p:sp>
      <p:sp>
        <p:nvSpPr>
          <p:cNvPr id="11" name="TextBox 10"/>
          <p:cNvSpPr txBox="1"/>
          <p:nvPr/>
        </p:nvSpPr>
        <p:spPr>
          <a:xfrm>
            <a:off x="1828800" y="2606040"/>
            <a:ext cx="9418320" cy="2926080"/>
          </a:xfrm>
          <a:prstGeom prst="rect">
            <a:avLst/>
          </a:prstGeom>
          <a:noFill/>
        </p:spPr>
        <p:txBody>
          <a:bodyPr wrap="square">
            <a:spAutoFit/>
          </a:bodyPr>
          <a:lstStyle/>
          <a:p>
            <a:pPr algn="l">
              <a:defRPr sz="2400" b="0">
                <a:solidFill>
                  <a:srgbClr val="FFFFFF"/>
                </a:solidFill>
                <a:latin typeface="微软雅黑"/>
              </a:defRPr>
            </a:pPr>
            <a:r>
              <a:t>全域看得全，上线运行35类风险场景监测模型，包括接送库等8个监管要求场景监测，赋能绿营 5个场景、赋能安全生产 7个场景、赋能服务 15个场景。</a:t>
            </a:r>
          </a:p>
        </p:txBody>
      </p:sp>
      <p:sp>
        <p:nvSpPr>
          <p:cNvPr id="12" name="Rectangle 11"/>
          <p:cNvSpPr/>
          <p:nvPr/>
        </p:nvSpPr>
        <p:spPr>
          <a:xfrm>
            <a:off x="0" y="6035040"/>
            <a:ext cx="12191695" cy="822960"/>
          </a:xfrm>
          <a:prstGeom prst="rect">
            <a:avLst/>
          </a:prstGeom>
          <a:solidFill>
            <a:srgbClr val="1218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48640" y="6080760"/>
            <a:ext cx="1097280" cy="365760"/>
          </a:xfrm>
          <a:prstGeom prst="rect">
            <a:avLst/>
          </a:prstGeom>
          <a:noFill/>
        </p:spPr>
        <p:txBody>
          <a:bodyPr wrap="square">
            <a:spAutoFit/>
          </a:bodyPr>
          <a:lstStyle/>
          <a:p>
            <a:pPr algn="l">
              <a:defRPr sz="1100" b="1">
                <a:solidFill>
                  <a:srgbClr val="3B82F6"/>
                </a:solidFill>
                <a:latin typeface="微软雅黑"/>
              </a:defRPr>
            </a:pPr>
            <a:r>
              <a:t>旁  白</a:t>
            </a:r>
          </a:p>
        </p:txBody>
      </p:sp>
      <p:sp>
        <p:nvSpPr>
          <p:cNvPr id="14" name="TextBox 13"/>
          <p:cNvSpPr txBox="1"/>
          <p:nvPr/>
        </p:nvSpPr>
        <p:spPr>
          <a:xfrm>
            <a:off x="1645920" y="6080760"/>
            <a:ext cx="10058400" cy="731520"/>
          </a:xfrm>
          <a:prstGeom prst="rect">
            <a:avLst/>
          </a:prstGeom>
          <a:noFill/>
        </p:spPr>
        <p:txBody>
          <a:bodyPr wrap="square">
            <a:spAutoFit/>
          </a:bodyPr>
          <a:lstStyle/>
          <a:p>
            <a:pPr algn="l">
              <a:defRPr sz="1300" b="0">
                <a:solidFill>
                  <a:srgbClr val="9CA3AF"/>
                </a:solidFill>
                <a:latin typeface="微软雅黑"/>
              </a:defRPr>
            </a:pPr>
            <a:r>
              <a:t>数智化监测取得突破，探索AI识别，35类风险场景智能监测、安防网络安全全维度防护，实现“看得全”</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80C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36576"/>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37160"/>
            <a:ext cx="2743200" cy="320040"/>
          </a:xfrm>
          <a:prstGeom prst="rect">
            <a:avLst/>
          </a:prstGeom>
          <a:noFill/>
        </p:spPr>
        <p:txBody>
          <a:bodyPr wrap="square">
            <a:spAutoFit/>
          </a:bodyPr>
          <a:lstStyle/>
          <a:p>
            <a:pPr algn="l">
              <a:defRPr sz="1200" b="0">
                <a:solidFill>
                  <a:srgbClr val="6B7280"/>
                </a:solidFill>
                <a:latin typeface="Segoe UI"/>
              </a:defRPr>
            </a:pPr>
            <a:r>
              <a:t>12 / 20</a:t>
            </a:r>
          </a:p>
        </p:txBody>
      </p:sp>
      <p:sp>
        <p:nvSpPr>
          <p:cNvPr id="5" name="TextBox 4"/>
          <p:cNvSpPr txBox="1"/>
          <p:nvPr/>
        </p:nvSpPr>
        <p:spPr>
          <a:xfrm>
            <a:off x="2743200" y="155448"/>
            <a:ext cx="8686800" cy="320040"/>
          </a:xfrm>
          <a:prstGeom prst="rect">
            <a:avLst/>
          </a:prstGeom>
          <a:noFill/>
        </p:spPr>
        <p:txBody>
          <a:bodyPr wrap="square">
            <a:spAutoFit/>
          </a:bodyPr>
          <a:lstStyle/>
          <a:p>
            <a:pPr algn="l">
              <a:defRPr sz="1200" b="0">
                <a:solidFill>
                  <a:srgbClr val="3B82F6"/>
                </a:solidFill>
                <a:latin typeface="微软雅黑"/>
              </a:defRPr>
            </a:pPr>
            <a:r>
              <a:t>板块二 防得住·管得牢·抓得实</a:t>
            </a:r>
          </a:p>
        </p:txBody>
      </p:sp>
      <p:sp>
        <p:nvSpPr>
          <p:cNvPr id="6" name="Rectangle 5"/>
          <p:cNvSpPr/>
          <p:nvPr/>
        </p:nvSpPr>
        <p:spPr>
          <a:xfrm>
            <a:off x="548640" y="548640"/>
            <a:ext cx="11094415" cy="7315"/>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822960"/>
            <a:ext cx="11094415" cy="1097280"/>
          </a:xfrm>
          <a:prstGeom prst="rect">
            <a:avLst/>
          </a:prstGeom>
          <a:noFill/>
        </p:spPr>
        <p:txBody>
          <a:bodyPr wrap="square">
            <a:spAutoFit/>
          </a:bodyPr>
          <a:lstStyle/>
          <a:p>
            <a:pPr algn="l">
              <a:defRPr sz="4200" b="1">
                <a:solidFill>
                  <a:srgbClr val="FFFFFF"/>
                </a:solidFill>
                <a:latin typeface="微软雅黑"/>
              </a:defRPr>
            </a:pPr>
            <a:r>
              <a:t>1、率先建设安全综合管理平台，打造风险监测、预警、处置、线上...</a:t>
            </a:r>
          </a:p>
        </p:txBody>
      </p:sp>
      <p:sp>
        <p:nvSpPr>
          <p:cNvPr id="8" name="Rectangle 7"/>
          <p:cNvSpPr/>
          <p:nvPr/>
        </p:nvSpPr>
        <p:spPr>
          <a:xfrm>
            <a:off x="548640" y="2011680"/>
            <a:ext cx="3200400" cy="27432"/>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548640" y="2377440"/>
            <a:ext cx="5478627" cy="1668780"/>
          </a:xfrm>
          <a:prstGeom prst="roundRect">
            <a:avLst/>
          </a:prstGeom>
          <a:solidFill>
            <a:srgbClr val="1218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59" y="2560320"/>
            <a:ext cx="914400" cy="548640"/>
          </a:xfrm>
          <a:prstGeom prst="rect">
            <a:avLst/>
          </a:prstGeom>
          <a:noFill/>
        </p:spPr>
        <p:txBody>
          <a:bodyPr wrap="square">
            <a:spAutoFit/>
          </a:bodyPr>
          <a:lstStyle/>
          <a:p>
            <a:pPr algn="l">
              <a:defRPr sz="3200" b="1">
                <a:solidFill>
                  <a:srgbClr val="3B82F6"/>
                </a:solidFill>
                <a:latin typeface="Segoe UI"/>
              </a:defRPr>
            </a:pPr>
            <a:r>
              <a:t>01</a:t>
            </a:r>
          </a:p>
        </p:txBody>
      </p:sp>
      <p:sp>
        <p:nvSpPr>
          <p:cNvPr id="11" name="TextBox 10"/>
          <p:cNvSpPr txBox="1"/>
          <p:nvPr/>
        </p:nvSpPr>
        <p:spPr>
          <a:xfrm>
            <a:off x="1920240" y="2514600"/>
            <a:ext cx="3649827" cy="1303020"/>
          </a:xfrm>
          <a:prstGeom prst="rect">
            <a:avLst/>
          </a:prstGeom>
          <a:noFill/>
        </p:spPr>
        <p:txBody>
          <a:bodyPr wrap="square">
            <a:spAutoFit/>
          </a:bodyPr>
          <a:lstStyle/>
          <a:p>
            <a:pPr algn="l">
              <a:defRPr sz="2000" b="0">
                <a:solidFill>
                  <a:srgbClr val="FFFFFF"/>
                </a:solidFill>
                <a:latin typeface="微软雅黑"/>
              </a:defRPr>
            </a:pPr>
            <a:r>
              <a:t>率先建设安全综合管理平台，打造风险监测、预警、处置、线上归档、管理评估与质量分析等风险监测与预警处置的全流程数字化管理驾驶舱。</a:t>
            </a:r>
          </a:p>
        </p:txBody>
      </p:sp>
      <p:sp>
        <p:nvSpPr>
          <p:cNvPr id="12" name="Rounded Rectangle 11"/>
          <p:cNvSpPr/>
          <p:nvPr/>
        </p:nvSpPr>
        <p:spPr>
          <a:xfrm>
            <a:off x="6164427" y="2377440"/>
            <a:ext cx="5478627" cy="1668780"/>
          </a:xfrm>
          <a:prstGeom prst="roundRect">
            <a:avLst/>
          </a:prstGeom>
          <a:solidFill>
            <a:srgbClr val="1218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38747" y="2560320"/>
            <a:ext cx="914400" cy="548640"/>
          </a:xfrm>
          <a:prstGeom prst="rect">
            <a:avLst/>
          </a:prstGeom>
          <a:noFill/>
        </p:spPr>
        <p:txBody>
          <a:bodyPr wrap="square">
            <a:spAutoFit/>
          </a:bodyPr>
          <a:lstStyle/>
          <a:p>
            <a:pPr algn="l">
              <a:defRPr sz="3200" b="1">
                <a:solidFill>
                  <a:srgbClr val="3B82F6"/>
                </a:solidFill>
                <a:latin typeface="Segoe UI"/>
              </a:defRPr>
            </a:pPr>
            <a:r>
              <a:t>02</a:t>
            </a:r>
          </a:p>
        </p:txBody>
      </p:sp>
      <p:sp>
        <p:nvSpPr>
          <p:cNvPr id="14" name="TextBox 13"/>
          <p:cNvSpPr txBox="1"/>
          <p:nvPr/>
        </p:nvSpPr>
        <p:spPr>
          <a:xfrm>
            <a:off x="7536027" y="2514600"/>
            <a:ext cx="3649827" cy="1303020"/>
          </a:xfrm>
          <a:prstGeom prst="rect">
            <a:avLst/>
          </a:prstGeom>
          <a:noFill/>
        </p:spPr>
        <p:txBody>
          <a:bodyPr wrap="square">
            <a:spAutoFit/>
          </a:bodyPr>
          <a:lstStyle/>
          <a:p>
            <a:pPr algn="l">
              <a:defRPr sz="2000" b="0">
                <a:solidFill>
                  <a:srgbClr val="FFFFFF"/>
                </a:solidFill>
                <a:latin typeface="微软雅黑"/>
              </a:defRPr>
            </a:pPr>
            <a:r>
              <a:t>建立非现场检查模式，每周对上海地区240家、各地122家网点实现常态化安全检查全覆盖（数据）。</a:t>
            </a:r>
          </a:p>
        </p:txBody>
      </p:sp>
      <p:sp>
        <p:nvSpPr>
          <p:cNvPr id="15" name="Rounded Rectangle 14"/>
          <p:cNvSpPr/>
          <p:nvPr/>
        </p:nvSpPr>
        <p:spPr>
          <a:xfrm>
            <a:off x="548640" y="4183380"/>
            <a:ext cx="5478627" cy="1668780"/>
          </a:xfrm>
          <a:prstGeom prst="roundRect">
            <a:avLst/>
          </a:prstGeom>
          <a:solidFill>
            <a:srgbClr val="1218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2959" y="4366260"/>
            <a:ext cx="914400" cy="548640"/>
          </a:xfrm>
          <a:prstGeom prst="rect">
            <a:avLst/>
          </a:prstGeom>
          <a:noFill/>
        </p:spPr>
        <p:txBody>
          <a:bodyPr wrap="square">
            <a:spAutoFit/>
          </a:bodyPr>
          <a:lstStyle/>
          <a:p>
            <a:pPr algn="l">
              <a:defRPr sz="3200" b="1">
                <a:solidFill>
                  <a:srgbClr val="3B82F6"/>
                </a:solidFill>
                <a:latin typeface="Segoe UI"/>
              </a:defRPr>
            </a:pPr>
            <a:r>
              <a:t>03</a:t>
            </a:r>
          </a:p>
        </p:txBody>
      </p:sp>
      <p:sp>
        <p:nvSpPr>
          <p:cNvPr id="17" name="TextBox 16"/>
          <p:cNvSpPr txBox="1"/>
          <p:nvPr/>
        </p:nvSpPr>
        <p:spPr>
          <a:xfrm>
            <a:off x="1920240" y="4320540"/>
            <a:ext cx="3649827" cy="1303020"/>
          </a:xfrm>
          <a:prstGeom prst="rect">
            <a:avLst/>
          </a:prstGeom>
          <a:noFill/>
        </p:spPr>
        <p:txBody>
          <a:bodyPr wrap="square">
            <a:spAutoFit/>
          </a:bodyPr>
          <a:lstStyle/>
          <a:p>
            <a:pPr algn="l">
              <a:defRPr sz="2000" b="0">
                <a:solidFill>
                  <a:srgbClr val="FFFFFF"/>
                </a:solidFill>
                <a:latin typeface="微软雅黑"/>
              </a:defRPr>
            </a:pPr>
            <a:r>
              <a:t>率先建设行业首家金库安全线上管理平台，实现金库全流程线上闭环管理。</a:t>
            </a:r>
          </a:p>
        </p:txBody>
      </p:sp>
      <p:sp>
        <p:nvSpPr>
          <p:cNvPr id="18" name="Rectangle 17"/>
          <p:cNvSpPr/>
          <p:nvPr/>
        </p:nvSpPr>
        <p:spPr>
          <a:xfrm>
            <a:off x="0" y="6035040"/>
            <a:ext cx="12191695" cy="822960"/>
          </a:xfrm>
          <a:prstGeom prst="rect">
            <a:avLst/>
          </a:prstGeom>
          <a:solidFill>
            <a:srgbClr val="1218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48640" y="6080760"/>
            <a:ext cx="1097280" cy="365760"/>
          </a:xfrm>
          <a:prstGeom prst="rect">
            <a:avLst/>
          </a:prstGeom>
          <a:noFill/>
        </p:spPr>
        <p:txBody>
          <a:bodyPr wrap="square">
            <a:spAutoFit/>
          </a:bodyPr>
          <a:lstStyle/>
          <a:p>
            <a:pPr algn="l">
              <a:defRPr sz="1100" b="1">
                <a:solidFill>
                  <a:srgbClr val="3B82F6"/>
                </a:solidFill>
                <a:latin typeface="微软雅黑"/>
              </a:defRPr>
            </a:pPr>
            <a:r>
              <a:t>旁  白</a:t>
            </a:r>
          </a:p>
        </p:txBody>
      </p:sp>
      <p:sp>
        <p:nvSpPr>
          <p:cNvPr id="20" name="TextBox 19"/>
          <p:cNvSpPr txBox="1"/>
          <p:nvPr/>
        </p:nvSpPr>
        <p:spPr>
          <a:xfrm>
            <a:off x="1645920" y="6080760"/>
            <a:ext cx="10058400" cy="731520"/>
          </a:xfrm>
          <a:prstGeom prst="rect">
            <a:avLst/>
          </a:prstGeom>
          <a:noFill/>
        </p:spPr>
        <p:txBody>
          <a:bodyPr wrap="square">
            <a:spAutoFit/>
          </a:bodyPr>
          <a:lstStyle/>
          <a:p>
            <a:pPr algn="l">
              <a:defRPr sz="1300" b="0">
                <a:solidFill>
                  <a:srgbClr val="9CA3AF"/>
                </a:solidFill>
                <a:latin typeface="微软雅黑"/>
              </a:defRPr>
            </a:pPr>
            <a:r>
              <a:t>创新数智化全流程闭环管理，风险预警“防得住”</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80C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36576"/>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37160"/>
            <a:ext cx="2743200" cy="320040"/>
          </a:xfrm>
          <a:prstGeom prst="rect">
            <a:avLst/>
          </a:prstGeom>
          <a:noFill/>
        </p:spPr>
        <p:txBody>
          <a:bodyPr wrap="square">
            <a:spAutoFit/>
          </a:bodyPr>
          <a:lstStyle/>
          <a:p>
            <a:pPr algn="l">
              <a:defRPr sz="1200" b="0">
                <a:solidFill>
                  <a:srgbClr val="6B7280"/>
                </a:solidFill>
                <a:latin typeface="Segoe UI"/>
              </a:defRPr>
            </a:pPr>
            <a:r>
              <a:t>13 / 20</a:t>
            </a:r>
          </a:p>
        </p:txBody>
      </p:sp>
      <p:sp>
        <p:nvSpPr>
          <p:cNvPr id="5" name="TextBox 4"/>
          <p:cNvSpPr txBox="1"/>
          <p:nvPr/>
        </p:nvSpPr>
        <p:spPr>
          <a:xfrm>
            <a:off x="2743200" y="155448"/>
            <a:ext cx="8686800" cy="320040"/>
          </a:xfrm>
          <a:prstGeom prst="rect">
            <a:avLst/>
          </a:prstGeom>
          <a:noFill/>
        </p:spPr>
        <p:txBody>
          <a:bodyPr wrap="square">
            <a:spAutoFit/>
          </a:bodyPr>
          <a:lstStyle/>
          <a:p>
            <a:pPr algn="l">
              <a:defRPr sz="1200" b="0">
                <a:solidFill>
                  <a:srgbClr val="3B82F6"/>
                </a:solidFill>
                <a:latin typeface="微软雅黑"/>
              </a:defRPr>
            </a:pPr>
            <a:r>
              <a:t>板块二 防得住·管得牢·抓得实</a:t>
            </a:r>
          </a:p>
        </p:txBody>
      </p:sp>
      <p:sp>
        <p:nvSpPr>
          <p:cNvPr id="6" name="Rectangle 5"/>
          <p:cNvSpPr/>
          <p:nvPr/>
        </p:nvSpPr>
        <p:spPr>
          <a:xfrm>
            <a:off x="548640" y="548640"/>
            <a:ext cx="11094415" cy="7315"/>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822960"/>
            <a:ext cx="11094415" cy="1097280"/>
          </a:xfrm>
          <a:prstGeom prst="rect">
            <a:avLst/>
          </a:prstGeom>
          <a:noFill/>
        </p:spPr>
        <p:txBody>
          <a:bodyPr wrap="square">
            <a:spAutoFit/>
          </a:bodyPr>
          <a:lstStyle/>
          <a:p>
            <a:pPr algn="l">
              <a:defRPr sz="4200" b="1">
                <a:solidFill>
                  <a:srgbClr val="FFFFFF"/>
                </a:solidFill>
                <a:latin typeface="微软雅黑"/>
              </a:defRPr>
            </a:pPr>
            <a:r>
              <a:t>率先建设安全管理数字画像，实现全行各层级安全生产风险图谱评估...</a:t>
            </a:r>
          </a:p>
        </p:txBody>
      </p:sp>
      <p:sp>
        <p:nvSpPr>
          <p:cNvPr id="8" name="Rectangle 7"/>
          <p:cNvSpPr/>
          <p:nvPr/>
        </p:nvSpPr>
        <p:spPr>
          <a:xfrm>
            <a:off x="548640" y="2011680"/>
            <a:ext cx="3200400" cy="27432"/>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548640" y="2377440"/>
            <a:ext cx="11094415" cy="3474720"/>
          </a:xfrm>
          <a:prstGeom prst="roundRect">
            <a:avLst/>
          </a:prstGeom>
          <a:solidFill>
            <a:srgbClr val="1218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2651760"/>
            <a:ext cx="914400" cy="548640"/>
          </a:xfrm>
          <a:prstGeom prst="rect">
            <a:avLst/>
          </a:prstGeom>
          <a:noFill/>
        </p:spPr>
        <p:txBody>
          <a:bodyPr wrap="square">
            <a:spAutoFit/>
          </a:bodyPr>
          <a:lstStyle/>
          <a:p>
            <a:pPr algn="l">
              <a:defRPr sz="3600" b="1">
                <a:solidFill>
                  <a:srgbClr val="3B82F6"/>
                </a:solidFill>
                <a:latin typeface="Segoe UI"/>
              </a:defRPr>
            </a:pPr>
            <a:r>
              <a:t>01</a:t>
            </a:r>
          </a:p>
        </p:txBody>
      </p:sp>
      <p:sp>
        <p:nvSpPr>
          <p:cNvPr id="11" name="TextBox 10"/>
          <p:cNvSpPr txBox="1"/>
          <p:nvPr/>
        </p:nvSpPr>
        <p:spPr>
          <a:xfrm>
            <a:off x="1828800" y="2606040"/>
            <a:ext cx="9418320" cy="2926080"/>
          </a:xfrm>
          <a:prstGeom prst="rect">
            <a:avLst/>
          </a:prstGeom>
          <a:noFill/>
        </p:spPr>
        <p:txBody>
          <a:bodyPr wrap="square">
            <a:spAutoFit/>
          </a:bodyPr>
          <a:lstStyle/>
          <a:p>
            <a:pPr algn="l">
              <a:defRPr sz="2400" b="0">
                <a:solidFill>
                  <a:srgbClr val="FFFFFF"/>
                </a:solidFill>
                <a:latin typeface="微软雅黑"/>
              </a:defRPr>
            </a:pPr>
            <a:r>
              <a:t>率先建设安全管理数字画像，实现全行各层级安全生产风险图谱评估与管理履职闭环数字化管理，推动安全责任可视化。</a:t>
            </a:r>
          </a:p>
        </p:txBody>
      </p:sp>
      <p:sp>
        <p:nvSpPr>
          <p:cNvPr id="12" name="Rectangle 11"/>
          <p:cNvSpPr/>
          <p:nvPr/>
        </p:nvSpPr>
        <p:spPr>
          <a:xfrm>
            <a:off x="0" y="6035040"/>
            <a:ext cx="12191695" cy="822960"/>
          </a:xfrm>
          <a:prstGeom prst="rect">
            <a:avLst/>
          </a:prstGeom>
          <a:solidFill>
            <a:srgbClr val="1218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48640" y="6080760"/>
            <a:ext cx="1097280" cy="365760"/>
          </a:xfrm>
          <a:prstGeom prst="rect">
            <a:avLst/>
          </a:prstGeom>
          <a:noFill/>
        </p:spPr>
        <p:txBody>
          <a:bodyPr wrap="square">
            <a:spAutoFit/>
          </a:bodyPr>
          <a:lstStyle/>
          <a:p>
            <a:pPr algn="l">
              <a:defRPr sz="1100" b="1">
                <a:solidFill>
                  <a:srgbClr val="3B82F6"/>
                </a:solidFill>
                <a:latin typeface="微软雅黑"/>
              </a:defRPr>
            </a:pPr>
            <a:r>
              <a:t>旁  白</a:t>
            </a:r>
          </a:p>
        </p:txBody>
      </p:sp>
      <p:sp>
        <p:nvSpPr>
          <p:cNvPr id="14" name="TextBox 13"/>
          <p:cNvSpPr txBox="1"/>
          <p:nvPr/>
        </p:nvSpPr>
        <p:spPr>
          <a:xfrm>
            <a:off x="1645920" y="6080760"/>
            <a:ext cx="10058400" cy="731520"/>
          </a:xfrm>
          <a:prstGeom prst="rect">
            <a:avLst/>
          </a:prstGeom>
          <a:noFill/>
        </p:spPr>
        <p:txBody>
          <a:bodyPr wrap="square">
            <a:spAutoFit/>
          </a:bodyPr>
          <a:lstStyle/>
          <a:p>
            <a:pPr algn="l">
              <a:defRPr sz="1300" b="0">
                <a:solidFill>
                  <a:srgbClr val="9CA3AF"/>
                </a:solidFill>
                <a:latin typeface="微软雅黑"/>
              </a:defRPr>
            </a:pPr>
            <a:r>
              <a:t>创新安全生产数字画像，质效达标“管得牢”</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80C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36576"/>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37160"/>
            <a:ext cx="2743200" cy="320040"/>
          </a:xfrm>
          <a:prstGeom prst="rect">
            <a:avLst/>
          </a:prstGeom>
          <a:noFill/>
        </p:spPr>
        <p:txBody>
          <a:bodyPr wrap="square">
            <a:spAutoFit/>
          </a:bodyPr>
          <a:lstStyle/>
          <a:p>
            <a:pPr algn="l">
              <a:defRPr sz="1200" b="0">
                <a:solidFill>
                  <a:srgbClr val="6B7280"/>
                </a:solidFill>
                <a:latin typeface="Segoe UI"/>
              </a:defRPr>
            </a:pPr>
            <a:r>
              <a:t>14 / 20</a:t>
            </a:r>
          </a:p>
        </p:txBody>
      </p:sp>
      <p:sp>
        <p:nvSpPr>
          <p:cNvPr id="5" name="TextBox 4"/>
          <p:cNvSpPr txBox="1"/>
          <p:nvPr/>
        </p:nvSpPr>
        <p:spPr>
          <a:xfrm>
            <a:off x="2743200" y="155448"/>
            <a:ext cx="8686800" cy="320040"/>
          </a:xfrm>
          <a:prstGeom prst="rect">
            <a:avLst/>
          </a:prstGeom>
          <a:noFill/>
        </p:spPr>
        <p:txBody>
          <a:bodyPr wrap="square">
            <a:spAutoFit/>
          </a:bodyPr>
          <a:lstStyle/>
          <a:p>
            <a:pPr algn="l">
              <a:defRPr sz="1200" b="0">
                <a:solidFill>
                  <a:srgbClr val="3B82F6"/>
                </a:solidFill>
                <a:latin typeface="微软雅黑"/>
              </a:defRPr>
            </a:pPr>
            <a:r>
              <a:t>板块二 防得住·管得牢·抓得实</a:t>
            </a:r>
          </a:p>
        </p:txBody>
      </p:sp>
      <p:sp>
        <p:nvSpPr>
          <p:cNvPr id="6" name="Rectangle 5"/>
          <p:cNvSpPr/>
          <p:nvPr/>
        </p:nvSpPr>
        <p:spPr>
          <a:xfrm>
            <a:off x="548640" y="548640"/>
            <a:ext cx="11094415" cy="7315"/>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822960"/>
            <a:ext cx="11094415" cy="1097280"/>
          </a:xfrm>
          <a:prstGeom prst="rect">
            <a:avLst/>
          </a:prstGeom>
          <a:noFill/>
        </p:spPr>
        <p:txBody>
          <a:bodyPr wrap="square">
            <a:spAutoFit/>
          </a:bodyPr>
          <a:lstStyle/>
          <a:p>
            <a:pPr algn="l">
              <a:defRPr sz="4200" b="1">
                <a:solidFill>
                  <a:srgbClr val="FFFFFF"/>
                </a:solidFill>
                <a:latin typeface="微软雅黑"/>
              </a:defRPr>
            </a:pPr>
            <a:r>
              <a:t>全面推广安防 APP ，线上履职渠道全面铺开，安防检查、整改...</a:t>
            </a:r>
          </a:p>
        </p:txBody>
      </p:sp>
      <p:sp>
        <p:nvSpPr>
          <p:cNvPr id="8" name="Rectangle 7"/>
          <p:cNvSpPr/>
          <p:nvPr/>
        </p:nvSpPr>
        <p:spPr>
          <a:xfrm>
            <a:off x="548640" y="2011680"/>
            <a:ext cx="3200400" cy="27432"/>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548640" y="2377440"/>
            <a:ext cx="11094415" cy="3474720"/>
          </a:xfrm>
          <a:prstGeom prst="roundRect">
            <a:avLst/>
          </a:prstGeom>
          <a:solidFill>
            <a:srgbClr val="1218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2651760"/>
            <a:ext cx="914400" cy="548640"/>
          </a:xfrm>
          <a:prstGeom prst="rect">
            <a:avLst/>
          </a:prstGeom>
          <a:noFill/>
        </p:spPr>
        <p:txBody>
          <a:bodyPr wrap="square">
            <a:spAutoFit/>
          </a:bodyPr>
          <a:lstStyle/>
          <a:p>
            <a:pPr algn="l">
              <a:defRPr sz="3600" b="1">
                <a:solidFill>
                  <a:srgbClr val="3B82F6"/>
                </a:solidFill>
                <a:latin typeface="Segoe UI"/>
              </a:defRPr>
            </a:pPr>
            <a:r>
              <a:t>01</a:t>
            </a:r>
          </a:p>
        </p:txBody>
      </p:sp>
      <p:sp>
        <p:nvSpPr>
          <p:cNvPr id="11" name="TextBox 10"/>
          <p:cNvSpPr txBox="1"/>
          <p:nvPr/>
        </p:nvSpPr>
        <p:spPr>
          <a:xfrm>
            <a:off x="1828800" y="2606040"/>
            <a:ext cx="9418320" cy="2926080"/>
          </a:xfrm>
          <a:prstGeom prst="rect">
            <a:avLst/>
          </a:prstGeom>
          <a:noFill/>
        </p:spPr>
        <p:txBody>
          <a:bodyPr wrap="square">
            <a:spAutoFit/>
          </a:bodyPr>
          <a:lstStyle/>
          <a:p>
            <a:pPr algn="l">
              <a:defRPr sz="2400" b="0">
                <a:solidFill>
                  <a:srgbClr val="FFFFFF"/>
                </a:solidFill>
                <a:latin typeface="微软雅黑"/>
              </a:defRPr>
            </a:pPr>
            <a:r>
              <a:t>全面推广安防 APP ，线上履职渠道全面铺开，安防检查、整改、演练等日常工作实现线上流转。</a:t>
            </a:r>
          </a:p>
        </p:txBody>
      </p:sp>
      <p:sp>
        <p:nvSpPr>
          <p:cNvPr id="12" name="Rectangle 11"/>
          <p:cNvSpPr/>
          <p:nvPr/>
        </p:nvSpPr>
        <p:spPr>
          <a:xfrm>
            <a:off x="0" y="6035040"/>
            <a:ext cx="12191695" cy="822960"/>
          </a:xfrm>
          <a:prstGeom prst="rect">
            <a:avLst/>
          </a:prstGeom>
          <a:solidFill>
            <a:srgbClr val="1218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48640" y="6080760"/>
            <a:ext cx="1097280" cy="365760"/>
          </a:xfrm>
          <a:prstGeom prst="rect">
            <a:avLst/>
          </a:prstGeom>
          <a:noFill/>
        </p:spPr>
        <p:txBody>
          <a:bodyPr wrap="square">
            <a:spAutoFit/>
          </a:bodyPr>
          <a:lstStyle/>
          <a:p>
            <a:pPr algn="l">
              <a:defRPr sz="1100" b="1">
                <a:solidFill>
                  <a:srgbClr val="3B82F6"/>
                </a:solidFill>
                <a:latin typeface="微软雅黑"/>
              </a:defRPr>
            </a:pPr>
            <a:r>
              <a:t>旁  白</a:t>
            </a:r>
          </a:p>
        </p:txBody>
      </p:sp>
      <p:sp>
        <p:nvSpPr>
          <p:cNvPr id="14" name="TextBox 13"/>
          <p:cNvSpPr txBox="1"/>
          <p:nvPr/>
        </p:nvSpPr>
        <p:spPr>
          <a:xfrm>
            <a:off x="1645920" y="6080760"/>
            <a:ext cx="10058400" cy="731520"/>
          </a:xfrm>
          <a:prstGeom prst="rect">
            <a:avLst/>
          </a:prstGeom>
          <a:noFill/>
        </p:spPr>
        <p:txBody>
          <a:bodyPr wrap="square">
            <a:spAutoFit/>
          </a:bodyPr>
          <a:lstStyle/>
          <a:p>
            <a:pPr algn="l">
              <a:defRPr sz="1300" b="0">
                <a:solidFill>
                  <a:srgbClr val="9CA3AF"/>
                </a:solidFill>
                <a:latin typeface="微软雅黑"/>
              </a:defRPr>
            </a:pPr>
            <a:r>
              <a:t>创新全员安防线上履职APP，尽职履职“抓得实”</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80C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36576"/>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37160"/>
            <a:ext cx="2743200" cy="320040"/>
          </a:xfrm>
          <a:prstGeom prst="rect">
            <a:avLst/>
          </a:prstGeom>
          <a:noFill/>
        </p:spPr>
        <p:txBody>
          <a:bodyPr wrap="square">
            <a:spAutoFit/>
          </a:bodyPr>
          <a:lstStyle/>
          <a:p>
            <a:pPr algn="l">
              <a:defRPr sz="1200" b="0">
                <a:solidFill>
                  <a:srgbClr val="6B7280"/>
                </a:solidFill>
                <a:latin typeface="Segoe UI"/>
              </a:defRPr>
            </a:pPr>
            <a:r>
              <a:t>15 / 20</a:t>
            </a:r>
          </a:p>
        </p:txBody>
      </p:sp>
      <p:sp>
        <p:nvSpPr>
          <p:cNvPr id="5" name="TextBox 4"/>
          <p:cNvSpPr txBox="1"/>
          <p:nvPr/>
        </p:nvSpPr>
        <p:spPr>
          <a:xfrm>
            <a:off x="2743200" y="155448"/>
            <a:ext cx="8686800" cy="320040"/>
          </a:xfrm>
          <a:prstGeom prst="rect">
            <a:avLst/>
          </a:prstGeom>
          <a:noFill/>
        </p:spPr>
        <p:txBody>
          <a:bodyPr wrap="square">
            <a:spAutoFit/>
          </a:bodyPr>
          <a:lstStyle/>
          <a:p>
            <a:pPr algn="l">
              <a:defRPr sz="1200" b="0">
                <a:solidFill>
                  <a:srgbClr val="3B82F6"/>
                </a:solidFill>
                <a:latin typeface="微软雅黑"/>
              </a:defRPr>
            </a:pPr>
            <a:r>
              <a:t>板块三 用得优·用得顺</a:t>
            </a:r>
          </a:p>
        </p:txBody>
      </p:sp>
      <p:sp>
        <p:nvSpPr>
          <p:cNvPr id="6" name="Rectangle 5"/>
          <p:cNvSpPr/>
          <p:nvPr/>
        </p:nvSpPr>
        <p:spPr>
          <a:xfrm>
            <a:off x="548640" y="548640"/>
            <a:ext cx="11094415" cy="7315"/>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822960"/>
            <a:ext cx="11094415" cy="1097280"/>
          </a:xfrm>
          <a:prstGeom prst="rect">
            <a:avLst/>
          </a:prstGeom>
          <a:noFill/>
        </p:spPr>
        <p:txBody>
          <a:bodyPr wrap="square">
            <a:spAutoFit/>
          </a:bodyPr>
          <a:lstStyle/>
          <a:p>
            <a:pPr algn="l">
              <a:defRPr sz="4200" b="1">
                <a:solidFill>
                  <a:srgbClr val="FFFFFF"/>
                </a:solidFill>
                <a:latin typeface="微软雅黑"/>
              </a:defRPr>
            </a:pPr>
            <a:r>
              <a:t>1、推广安防台账电子化，通过复用安防门禁系统，实现台账“线上...</a:t>
            </a:r>
          </a:p>
        </p:txBody>
      </p:sp>
      <p:sp>
        <p:nvSpPr>
          <p:cNvPr id="8" name="Rectangle 7"/>
          <p:cNvSpPr/>
          <p:nvPr/>
        </p:nvSpPr>
        <p:spPr>
          <a:xfrm>
            <a:off x="548640" y="2011680"/>
            <a:ext cx="3200400" cy="27432"/>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548640" y="2377440"/>
            <a:ext cx="11094415" cy="1668780"/>
          </a:xfrm>
          <a:prstGeom prst="roundRect">
            <a:avLst/>
          </a:prstGeom>
          <a:solidFill>
            <a:srgbClr val="1218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2651760"/>
            <a:ext cx="914400" cy="548640"/>
          </a:xfrm>
          <a:prstGeom prst="rect">
            <a:avLst/>
          </a:prstGeom>
          <a:noFill/>
        </p:spPr>
        <p:txBody>
          <a:bodyPr wrap="square">
            <a:spAutoFit/>
          </a:bodyPr>
          <a:lstStyle/>
          <a:p>
            <a:pPr algn="l">
              <a:defRPr sz="3600" b="1">
                <a:solidFill>
                  <a:srgbClr val="3B82F6"/>
                </a:solidFill>
                <a:latin typeface="Segoe UI"/>
              </a:defRPr>
            </a:pPr>
            <a:r>
              <a:t>01</a:t>
            </a:r>
          </a:p>
        </p:txBody>
      </p:sp>
      <p:sp>
        <p:nvSpPr>
          <p:cNvPr id="11" name="TextBox 10"/>
          <p:cNvSpPr txBox="1"/>
          <p:nvPr/>
        </p:nvSpPr>
        <p:spPr>
          <a:xfrm>
            <a:off x="1828800" y="2606040"/>
            <a:ext cx="9418320" cy="1120140"/>
          </a:xfrm>
          <a:prstGeom prst="rect">
            <a:avLst/>
          </a:prstGeom>
          <a:noFill/>
        </p:spPr>
        <p:txBody>
          <a:bodyPr wrap="square">
            <a:spAutoFit/>
          </a:bodyPr>
          <a:lstStyle/>
          <a:p>
            <a:pPr algn="l">
              <a:defRPr sz="2400" b="0">
                <a:solidFill>
                  <a:srgbClr val="FFFFFF"/>
                </a:solidFill>
                <a:latin typeface="微软雅黑"/>
              </a:defRPr>
            </a:pPr>
            <a:r>
              <a:t>推广安防台账电子化，通过复用安防门禁系统，实现台账“线上化”、“智能化”，全年全行可节约5900小时操作时长。</a:t>
            </a:r>
          </a:p>
        </p:txBody>
      </p:sp>
      <p:sp>
        <p:nvSpPr>
          <p:cNvPr id="12" name="Rounded Rectangle 11"/>
          <p:cNvSpPr/>
          <p:nvPr/>
        </p:nvSpPr>
        <p:spPr>
          <a:xfrm>
            <a:off x="548640" y="4183380"/>
            <a:ext cx="11094415" cy="1668780"/>
          </a:xfrm>
          <a:prstGeom prst="roundRect">
            <a:avLst/>
          </a:prstGeom>
          <a:solidFill>
            <a:srgbClr val="1218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14400" y="4457700"/>
            <a:ext cx="914400" cy="548640"/>
          </a:xfrm>
          <a:prstGeom prst="rect">
            <a:avLst/>
          </a:prstGeom>
          <a:noFill/>
        </p:spPr>
        <p:txBody>
          <a:bodyPr wrap="square">
            <a:spAutoFit/>
          </a:bodyPr>
          <a:lstStyle/>
          <a:p>
            <a:pPr algn="l">
              <a:defRPr sz="3600" b="1">
                <a:solidFill>
                  <a:srgbClr val="3B82F6"/>
                </a:solidFill>
                <a:latin typeface="Segoe UI"/>
              </a:defRPr>
            </a:pPr>
            <a:r>
              <a:t>02</a:t>
            </a:r>
          </a:p>
        </p:txBody>
      </p:sp>
      <p:sp>
        <p:nvSpPr>
          <p:cNvPr id="14" name="TextBox 13"/>
          <p:cNvSpPr txBox="1"/>
          <p:nvPr/>
        </p:nvSpPr>
        <p:spPr>
          <a:xfrm>
            <a:off x="1828800" y="4411980"/>
            <a:ext cx="9418320" cy="1120140"/>
          </a:xfrm>
          <a:prstGeom prst="rect">
            <a:avLst/>
          </a:prstGeom>
          <a:noFill/>
        </p:spPr>
        <p:txBody>
          <a:bodyPr wrap="square">
            <a:spAutoFit/>
          </a:bodyPr>
          <a:lstStyle/>
          <a:p>
            <a:pPr algn="l">
              <a:defRPr sz="2400" b="0">
                <a:solidFill>
                  <a:srgbClr val="FFFFFF"/>
                </a:solidFill>
                <a:latin typeface="微软雅黑"/>
              </a:defRPr>
            </a:pPr>
            <a:r>
              <a:t>试点安防设备AI质检，通过平台AI智能巡检功能，自动巡查监控图像质量，推广全行后，全年可节约3000小时操作时长。</a:t>
            </a:r>
          </a:p>
        </p:txBody>
      </p:sp>
      <p:sp>
        <p:nvSpPr>
          <p:cNvPr id="15" name="Rectangle 14"/>
          <p:cNvSpPr/>
          <p:nvPr/>
        </p:nvSpPr>
        <p:spPr>
          <a:xfrm>
            <a:off x="0" y="6035040"/>
            <a:ext cx="12191695" cy="822960"/>
          </a:xfrm>
          <a:prstGeom prst="rect">
            <a:avLst/>
          </a:prstGeom>
          <a:solidFill>
            <a:srgbClr val="1218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48640" y="6080760"/>
            <a:ext cx="1097280" cy="365760"/>
          </a:xfrm>
          <a:prstGeom prst="rect">
            <a:avLst/>
          </a:prstGeom>
          <a:noFill/>
        </p:spPr>
        <p:txBody>
          <a:bodyPr wrap="square">
            <a:spAutoFit/>
          </a:bodyPr>
          <a:lstStyle/>
          <a:p>
            <a:pPr algn="l">
              <a:defRPr sz="1100" b="1">
                <a:solidFill>
                  <a:srgbClr val="3B82F6"/>
                </a:solidFill>
                <a:latin typeface="微软雅黑"/>
              </a:defRPr>
            </a:pPr>
            <a:r>
              <a:t>旁  白</a:t>
            </a:r>
          </a:p>
        </p:txBody>
      </p:sp>
      <p:sp>
        <p:nvSpPr>
          <p:cNvPr id="17" name="TextBox 16"/>
          <p:cNvSpPr txBox="1"/>
          <p:nvPr/>
        </p:nvSpPr>
        <p:spPr>
          <a:xfrm>
            <a:off x="1645920" y="6080760"/>
            <a:ext cx="10058400" cy="731520"/>
          </a:xfrm>
          <a:prstGeom prst="rect">
            <a:avLst/>
          </a:prstGeom>
          <a:noFill/>
        </p:spPr>
        <p:txBody>
          <a:bodyPr wrap="square">
            <a:spAutoFit/>
          </a:bodyPr>
          <a:lstStyle/>
          <a:p>
            <a:pPr algn="l">
              <a:defRPr sz="1300" b="0">
                <a:solidFill>
                  <a:srgbClr val="9CA3AF"/>
                </a:solidFill>
                <a:latin typeface="微软雅黑"/>
              </a:defRPr>
            </a:pPr>
            <a:r>
              <a:t>探索AI质检的基层纵向履职赋能，</a:t>
            </a:r>
            <a:br/>
            <a:r>
              <a:t>实现“用得顺”</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80C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36576"/>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37160"/>
            <a:ext cx="2743200" cy="320040"/>
          </a:xfrm>
          <a:prstGeom prst="rect">
            <a:avLst/>
          </a:prstGeom>
          <a:noFill/>
        </p:spPr>
        <p:txBody>
          <a:bodyPr wrap="square">
            <a:spAutoFit/>
          </a:bodyPr>
          <a:lstStyle/>
          <a:p>
            <a:pPr algn="l">
              <a:defRPr sz="1200" b="0">
                <a:solidFill>
                  <a:srgbClr val="6B7280"/>
                </a:solidFill>
                <a:latin typeface="Segoe UI"/>
              </a:defRPr>
            </a:pPr>
            <a:r>
              <a:t>16 / 20</a:t>
            </a:r>
          </a:p>
        </p:txBody>
      </p:sp>
      <p:sp>
        <p:nvSpPr>
          <p:cNvPr id="5" name="TextBox 4"/>
          <p:cNvSpPr txBox="1"/>
          <p:nvPr/>
        </p:nvSpPr>
        <p:spPr>
          <a:xfrm>
            <a:off x="2743200" y="155448"/>
            <a:ext cx="8686800" cy="320040"/>
          </a:xfrm>
          <a:prstGeom prst="rect">
            <a:avLst/>
          </a:prstGeom>
          <a:noFill/>
        </p:spPr>
        <p:txBody>
          <a:bodyPr wrap="square">
            <a:spAutoFit/>
          </a:bodyPr>
          <a:lstStyle/>
          <a:p>
            <a:pPr algn="l">
              <a:defRPr sz="1200" b="0">
                <a:solidFill>
                  <a:srgbClr val="3B82F6"/>
                </a:solidFill>
                <a:latin typeface="微软雅黑"/>
              </a:defRPr>
            </a:pPr>
            <a:r>
              <a:t>板块三 用得优·用得顺</a:t>
            </a:r>
          </a:p>
        </p:txBody>
      </p:sp>
      <p:sp>
        <p:nvSpPr>
          <p:cNvPr id="6" name="Rectangle 5"/>
          <p:cNvSpPr/>
          <p:nvPr/>
        </p:nvSpPr>
        <p:spPr>
          <a:xfrm>
            <a:off x="548640" y="548640"/>
            <a:ext cx="11094415" cy="7315"/>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822960"/>
            <a:ext cx="11094415" cy="1097280"/>
          </a:xfrm>
          <a:prstGeom prst="rect">
            <a:avLst/>
          </a:prstGeom>
          <a:noFill/>
        </p:spPr>
        <p:txBody>
          <a:bodyPr wrap="square">
            <a:spAutoFit/>
          </a:bodyPr>
          <a:lstStyle/>
          <a:p>
            <a:pPr algn="l">
              <a:defRPr sz="4200" b="1">
                <a:solidFill>
                  <a:srgbClr val="FFFFFF"/>
                </a:solidFill>
                <a:latin typeface="微软雅黑"/>
              </a:defRPr>
            </a:pPr>
            <a:r>
              <a:t>1、推动数智安防深度融入经营场景，部署17 项案防与合规智能...</a:t>
            </a:r>
          </a:p>
        </p:txBody>
      </p:sp>
      <p:sp>
        <p:nvSpPr>
          <p:cNvPr id="8" name="Rectangle 7"/>
          <p:cNvSpPr/>
          <p:nvPr/>
        </p:nvSpPr>
        <p:spPr>
          <a:xfrm>
            <a:off x="548640" y="2011680"/>
            <a:ext cx="3200400" cy="27432"/>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548640" y="2377440"/>
            <a:ext cx="11094415" cy="1668780"/>
          </a:xfrm>
          <a:prstGeom prst="roundRect">
            <a:avLst/>
          </a:prstGeom>
          <a:solidFill>
            <a:srgbClr val="1218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2651760"/>
            <a:ext cx="914400" cy="548640"/>
          </a:xfrm>
          <a:prstGeom prst="rect">
            <a:avLst/>
          </a:prstGeom>
          <a:noFill/>
        </p:spPr>
        <p:txBody>
          <a:bodyPr wrap="square">
            <a:spAutoFit/>
          </a:bodyPr>
          <a:lstStyle/>
          <a:p>
            <a:pPr algn="l">
              <a:defRPr sz="3600" b="1">
                <a:solidFill>
                  <a:srgbClr val="3B82F6"/>
                </a:solidFill>
                <a:latin typeface="Segoe UI"/>
              </a:defRPr>
            </a:pPr>
            <a:r>
              <a:t>01</a:t>
            </a:r>
          </a:p>
        </p:txBody>
      </p:sp>
      <p:sp>
        <p:nvSpPr>
          <p:cNvPr id="11" name="TextBox 10"/>
          <p:cNvSpPr txBox="1"/>
          <p:nvPr/>
        </p:nvSpPr>
        <p:spPr>
          <a:xfrm>
            <a:off x="1828800" y="2606040"/>
            <a:ext cx="9418320" cy="1120140"/>
          </a:xfrm>
          <a:prstGeom prst="rect">
            <a:avLst/>
          </a:prstGeom>
          <a:noFill/>
        </p:spPr>
        <p:txBody>
          <a:bodyPr wrap="square">
            <a:spAutoFit/>
          </a:bodyPr>
          <a:lstStyle/>
          <a:p>
            <a:pPr algn="l">
              <a:defRPr sz="2400" b="0">
                <a:solidFill>
                  <a:srgbClr val="FFFFFF"/>
                </a:solidFill>
                <a:latin typeface="微软雅黑"/>
              </a:defRPr>
            </a:pPr>
            <a:r>
              <a:t>推动数智安防深度融入经营场景，部署17 项案防与合规智能识别模型，20 家网点先行试点。</a:t>
            </a:r>
          </a:p>
        </p:txBody>
      </p:sp>
      <p:sp>
        <p:nvSpPr>
          <p:cNvPr id="12" name="Rounded Rectangle 11"/>
          <p:cNvSpPr/>
          <p:nvPr/>
        </p:nvSpPr>
        <p:spPr>
          <a:xfrm>
            <a:off x="548640" y="4183380"/>
            <a:ext cx="11094415" cy="1668780"/>
          </a:xfrm>
          <a:prstGeom prst="roundRect">
            <a:avLst/>
          </a:prstGeom>
          <a:solidFill>
            <a:srgbClr val="1218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14400" y="4457700"/>
            <a:ext cx="914400" cy="548640"/>
          </a:xfrm>
          <a:prstGeom prst="rect">
            <a:avLst/>
          </a:prstGeom>
          <a:noFill/>
        </p:spPr>
        <p:txBody>
          <a:bodyPr wrap="square">
            <a:spAutoFit/>
          </a:bodyPr>
          <a:lstStyle/>
          <a:p>
            <a:pPr algn="l">
              <a:defRPr sz="3600" b="1">
                <a:solidFill>
                  <a:srgbClr val="3B82F6"/>
                </a:solidFill>
                <a:latin typeface="Segoe UI"/>
              </a:defRPr>
            </a:pPr>
            <a:r>
              <a:t>02</a:t>
            </a:r>
          </a:p>
        </p:txBody>
      </p:sp>
      <p:sp>
        <p:nvSpPr>
          <p:cNvPr id="14" name="TextBox 13"/>
          <p:cNvSpPr txBox="1"/>
          <p:nvPr/>
        </p:nvSpPr>
        <p:spPr>
          <a:xfrm>
            <a:off x="1828800" y="4411980"/>
            <a:ext cx="9418320" cy="1120140"/>
          </a:xfrm>
          <a:prstGeom prst="rect">
            <a:avLst/>
          </a:prstGeom>
          <a:noFill/>
        </p:spPr>
        <p:txBody>
          <a:bodyPr wrap="square">
            <a:spAutoFit/>
          </a:bodyPr>
          <a:lstStyle/>
          <a:p>
            <a:pPr algn="l">
              <a:defRPr sz="2400" b="0">
                <a:solidFill>
                  <a:srgbClr val="FFFFFF"/>
                </a:solidFill>
                <a:latin typeface="微软雅黑"/>
              </a:defRPr>
            </a:pPr>
            <a:r>
              <a:t>针对养老客户排队难题，定期推送高峰时段网点客流数据，助力人力精准调配。</a:t>
            </a:r>
          </a:p>
        </p:txBody>
      </p:sp>
      <p:sp>
        <p:nvSpPr>
          <p:cNvPr id="15" name="Rectangle 14"/>
          <p:cNvSpPr/>
          <p:nvPr/>
        </p:nvSpPr>
        <p:spPr>
          <a:xfrm>
            <a:off x="0" y="6035040"/>
            <a:ext cx="12191695" cy="822960"/>
          </a:xfrm>
          <a:prstGeom prst="rect">
            <a:avLst/>
          </a:prstGeom>
          <a:solidFill>
            <a:srgbClr val="1218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48640" y="6080760"/>
            <a:ext cx="1097280" cy="365760"/>
          </a:xfrm>
          <a:prstGeom prst="rect">
            <a:avLst/>
          </a:prstGeom>
          <a:noFill/>
        </p:spPr>
        <p:txBody>
          <a:bodyPr wrap="square">
            <a:spAutoFit/>
          </a:bodyPr>
          <a:lstStyle/>
          <a:p>
            <a:pPr algn="l">
              <a:defRPr sz="1100" b="1">
                <a:solidFill>
                  <a:srgbClr val="3B82F6"/>
                </a:solidFill>
                <a:latin typeface="微软雅黑"/>
              </a:defRPr>
            </a:pPr>
            <a:r>
              <a:t>旁  白</a:t>
            </a:r>
          </a:p>
        </p:txBody>
      </p:sp>
      <p:sp>
        <p:nvSpPr>
          <p:cNvPr id="17" name="TextBox 16"/>
          <p:cNvSpPr txBox="1"/>
          <p:nvPr/>
        </p:nvSpPr>
        <p:spPr>
          <a:xfrm>
            <a:off x="1645920" y="6080760"/>
            <a:ext cx="10058400" cy="731520"/>
          </a:xfrm>
          <a:prstGeom prst="rect">
            <a:avLst/>
          </a:prstGeom>
          <a:noFill/>
        </p:spPr>
        <p:txBody>
          <a:bodyPr wrap="square">
            <a:spAutoFit/>
          </a:bodyPr>
          <a:lstStyle/>
          <a:p>
            <a:pPr algn="l">
              <a:defRPr sz="1300" b="0">
                <a:solidFill>
                  <a:srgbClr val="9CA3AF"/>
                </a:solidFill>
                <a:latin typeface="微软雅黑"/>
              </a:defRPr>
            </a:pPr>
            <a:r>
              <a:t>探索AI模型的业务横向经营赋能，</a:t>
            </a:r>
            <a:br/>
            <a:r>
              <a:t>实现“用得优”</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80C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45720"/>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731520"/>
            <a:ext cx="3657600" cy="548640"/>
          </a:xfrm>
          <a:prstGeom prst="rect">
            <a:avLst/>
          </a:prstGeom>
          <a:noFill/>
        </p:spPr>
        <p:txBody>
          <a:bodyPr wrap="square">
            <a:spAutoFit/>
          </a:bodyPr>
          <a:lstStyle/>
          <a:p>
            <a:pPr algn="l">
              <a:defRPr sz="2000" b="1">
                <a:solidFill>
                  <a:srgbClr val="3B82F6"/>
                </a:solidFill>
                <a:latin typeface="Segoe UI"/>
              </a:defRPr>
            </a:pPr>
            <a:r>
              <a:t>CHAPTER 04</a:t>
            </a:r>
          </a:p>
        </p:txBody>
      </p:sp>
      <p:sp>
        <p:nvSpPr>
          <p:cNvPr id="5" name="TextBox 4"/>
          <p:cNvSpPr txBox="1"/>
          <p:nvPr/>
        </p:nvSpPr>
        <p:spPr>
          <a:xfrm>
            <a:off x="548640" y="2011680"/>
            <a:ext cx="11064240" cy="1371600"/>
          </a:xfrm>
          <a:prstGeom prst="rect">
            <a:avLst/>
          </a:prstGeom>
          <a:noFill/>
        </p:spPr>
        <p:txBody>
          <a:bodyPr wrap="square">
            <a:spAutoFit/>
          </a:bodyPr>
          <a:lstStyle/>
          <a:p>
            <a:pPr algn="l">
              <a:defRPr sz="5200" b="1">
                <a:solidFill>
                  <a:srgbClr val="FFFFFF"/>
                </a:solidFill>
                <a:latin typeface="微软雅黑"/>
              </a:defRPr>
            </a:pPr>
            <a:r>
              <a:t>上篇 · 总结展望</a:t>
            </a:r>
          </a:p>
        </p:txBody>
      </p:sp>
      <p:sp>
        <p:nvSpPr>
          <p:cNvPr id="6" name="Rectangle 5"/>
          <p:cNvSpPr/>
          <p:nvPr/>
        </p:nvSpPr>
        <p:spPr>
          <a:xfrm>
            <a:off x="548640" y="3474720"/>
            <a:ext cx="2743200" cy="18288"/>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3749039"/>
            <a:ext cx="11064240" cy="914400"/>
          </a:xfrm>
          <a:prstGeom prst="rect">
            <a:avLst/>
          </a:prstGeom>
          <a:noFill/>
        </p:spPr>
        <p:txBody>
          <a:bodyPr wrap="square">
            <a:spAutoFit/>
          </a:bodyPr>
          <a:lstStyle/>
          <a:p>
            <a:pPr algn="l">
              <a:defRPr sz="2600" b="0">
                <a:solidFill>
                  <a:srgbClr val="9CA3AF"/>
                </a:solidFill>
                <a:latin typeface="微软雅黑"/>
              </a:defRPr>
            </a:pPr>
            <a:r>
              <a:t>立足安防 · 拥抱AI · 服务全行</a:t>
            </a:r>
          </a:p>
        </p:txBody>
      </p:sp>
      <p:sp>
        <p:nvSpPr>
          <p:cNvPr id="8" name="Rectangle 7"/>
          <p:cNvSpPr/>
          <p:nvPr/>
        </p:nvSpPr>
        <p:spPr>
          <a:xfrm>
            <a:off x="0" y="5486400"/>
            <a:ext cx="12191695" cy="1371600"/>
          </a:xfrm>
          <a:prstGeom prst="rect">
            <a:avLst/>
          </a:prstGeom>
          <a:solidFill>
            <a:srgbClr val="1218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80C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36576"/>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37160"/>
            <a:ext cx="2743200" cy="320040"/>
          </a:xfrm>
          <a:prstGeom prst="rect">
            <a:avLst/>
          </a:prstGeom>
          <a:noFill/>
        </p:spPr>
        <p:txBody>
          <a:bodyPr wrap="square">
            <a:spAutoFit/>
          </a:bodyPr>
          <a:lstStyle/>
          <a:p>
            <a:pPr algn="l">
              <a:defRPr sz="1200" b="0">
                <a:solidFill>
                  <a:srgbClr val="6B7280"/>
                </a:solidFill>
                <a:latin typeface="Segoe UI"/>
              </a:defRPr>
            </a:pPr>
            <a:r>
              <a:t>18 / 20</a:t>
            </a:r>
          </a:p>
        </p:txBody>
      </p:sp>
      <p:sp>
        <p:nvSpPr>
          <p:cNvPr id="5" name="TextBox 4"/>
          <p:cNvSpPr txBox="1"/>
          <p:nvPr/>
        </p:nvSpPr>
        <p:spPr>
          <a:xfrm>
            <a:off x="2743200" y="155448"/>
            <a:ext cx="8686800" cy="320040"/>
          </a:xfrm>
          <a:prstGeom prst="rect">
            <a:avLst/>
          </a:prstGeom>
          <a:noFill/>
        </p:spPr>
        <p:txBody>
          <a:bodyPr wrap="square">
            <a:spAutoFit/>
          </a:bodyPr>
          <a:lstStyle/>
          <a:p>
            <a:pPr algn="l">
              <a:defRPr sz="1200" b="0">
                <a:solidFill>
                  <a:srgbClr val="3B82F6"/>
                </a:solidFill>
                <a:latin typeface="微软雅黑"/>
              </a:defRPr>
            </a:pPr>
            <a:r>
              <a:t>第四章 总结展望</a:t>
            </a:r>
          </a:p>
        </p:txBody>
      </p:sp>
      <p:sp>
        <p:nvSpPr>
          <p:cNvPr id="6" name="Rectangle 5"/>
          <p:cNvSpPr/>
          <p:nvPr/>
        </p:nvSpPr>
        <p:spPr>
          <a:xfrm>
            <a:off x="548640" y="548640"/>
            <a:ext cx="11094415" cy="7315"/>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822960"/>
            <a:ext cx="11094415" cy="1097280"/>
          </a:xfrm>
          <a:prstGeom prst="rect">
            <a:avLst/>
          </a:prstGeom>
          <a:noFill/>
        </p:spPr>
        <p:txBody>
          <a:bodyPr wrap="square">
            <a:spAutoFit/>
          </a:bodyPr>
          <a:lstStyle/>
          <a:p>
            <a:pPr algn="l">
              <a:defRPr sz="4200" b="1">
                <a:solidFill>
                  <a:srgbClr val="FFFFFF"/>
                </a:solidFill>
                <a:latin typeface="微软雅黑"/>
              </a:defRPr>
            </a:pPr>
            <a:r>
              <a:t>持续数智创新 筑牢金融安全屏障</a:t>
            </a:r>
          </a:p>
        </p:txBody>
      </p:sp>
      <p:sp>
        <p:nvSpPr>
          <p:cNvPr id="8" name="Rectangle 7"/>
          <p:cNvSpPr/>
          <p:nvPr/>
        </p:nvSpPr>
        <p:spPr>
          <a:xfrm>
            <a:off x="548640" y="2011680"/>
            <a:ext cx="3200400" cy="27432"/>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548640" y="2377440"/>
            <a:ext cx="11094415" cy="3474720"/>
          </a:xfrm>
          <a:prstGeom prst="roundRect">
            <a:avLst/>
          </a:prstGeom>
          <a:solidFill>
            <a:srgbClr val="1218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2651760"/>
            <a:ext cx="914400" cy="548640"/>
          </a:xfrm>
          <a:prstGeom prst="rect">
            <a:avLst/>
          </a:prstGeom>
          <a:noFill/>
        </p:spPr>
        <p:txBody>
          <a:bodyPr wrap="square">
            <a:spAutoFit/>
          </a:bodyPr>
          <a:lstStyle/>
          <a:p>
            <a:pPr algn="l">
              <a:defRPr sz="3600" b="1">
                <a:solidFill>
                  <a:srgbClr val="3B82F6"/>
                </a:solidFill>
                <a:latin typeface="Segoe UI"/>
              </a:defRPr>
            </a:pPr>
            <a:r>
              <a:t>01</a:t>
            </a:r>
          </a:p>
        </p:txBody>
      </p:sp>
      <p:sp>
        <p:nvSpPr>
          <p:cNvPr id="11" name="TextBox 10"/>
          <p:cNvSpPr txBox="1"/>
          <p:nvPr/>
        </p:nvSpPr>
        <p:spPr>
          <a:xfrm>
            <a:off x="1828800" y="2606040"/>
            <a:ext cx="9418320" cy="2926080"/>
          </a:xfrm>
          <a:prstGeom prst="rect">
            <a:avLst/>
          </a:prstGeom>
          <a:noFill/>
        </p:spPr>
        <p:txBody>
          <a:bodyPr wrap="square">
            <a:spAutoFit/>
          </a:bodyPr>
          <a:lstStyle/>
          <a:p>
            <a:pPr algn="l">
              <a:defRPr sz="2800" b="0">
                <a:solidFill>
                  <a:srgbClr val="FFFFFF"/>
                </a:solidFill>
                <a:latin typeface="微软雅黑"/>
              </a:defRPr>
            </a:pPr>
            <a:r>
              <a:t>持续数智创新 筑牢金融安全屏障</a:t>
            </a:r>
          </a:p>
        </p:txBody>
      </p:sp>
      <p:sp>
        <p:nvSpPr>
          <p:cNvPr id="12" name="Rectangle 11"/>
          <p:cNvSpPr/>
          <p:nvPr/>
        </p:nvSpPr>
        <p:spPr>
          <a:xfrm>
            <a:off x="0" y="6035040"/>
            <a:ext cx="12191695" cy="822960"/>
          </a:xfrm>
          <a:prstGeom prst="rect">
            <a:avLst/>
          </a:prstGeom>
          <a:solidFill>
            <a:srgbClr val="1218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48640" y="6080760"/>
            <a:ext cx="1097280" cy="365760"/>
          </a:xfrm>
          <a:prstGeom prst="rect">
            <a:avLst/>
          </a:prstGeom>
          <a:noFill/>
        </p:spPr>
        <p:txBody>
          <a:bodyPr wrap="square">
            <a:spAutoFit/>
          </a:bodyPr>
          <a:lstStyle/>
          <a:p>
            <a:pPr algn="l">
              <a:defRPr sz="1100" b="1">
                <a:solidFill>
                  <a:srgbClr val="3B82F6"/>
                </a:solidFill>
                <a:latin typeface="微软雅黑"/>
              </a:defRPr>
            </a:pPr>
            <a:r>
              <a:t>旁  白</a:t>
            </a:r>
          </a:p>
        </p:txBody>
      </p:sp>
      <p:sp>
        <p:nvSpPr>
          <p:cNvPr id="14" name="TextBox 13"/>
          <p:cNvSpPr txBox="1"/>
          <p:nvPr/>
        </p:nvSpPr>
        <p:spPr>
          <a:xfrm>
            <a:off x="1645920" y="6080760"/>
            <a:ext cx="10058400" cy="731520"/>
          </a:xfrm>
          <a:prstGeom prst="rect">
            <a:avLst/>
          </a:prstGeom>
          <a:noFill/>
        </p:spPr>
        <p:txBody>
          <a:bodyPr wrap="square">
            <a:spAutoFit/>
          </a:bodyPr>
          <a:lstStyle/>
          <a:p>
            <a:pPr algn="l">
              <a:defRPr sz="1300" b="0">
                <a:solidFill>
                  <a:srgbClr val="9CA3AF"/>
                </a:solidFill>
                <a:latin typeface="微软雅黑"/>
              </a:defRPr>
            </a:pPr>
            <a:r>
              <a:t>安防数智化道阻且长，我们将继续秉承“立足安防、服务全行”理念，坚持专业主义、长期主义，拥抱AI，依托课题研究，深挖安防数据价值，以科技兴安、智慧赋能，为我行高质量发展保驾护航</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80C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45720"/>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828800"/>
            <a:ext cx="11064240" cy="1371600"/>
          </a:xfrm>
          <a:prstGeom prst="rect">
            <a:avLst/>
          </a:prstGeom>
          <a:noFill/>
        </p:spPr>
        <p:txBody>
          <a:bodyPr wrap="square">
            <a:spAutoFit/>
          </a:bodyPr>
          <a:lstStyle/>
          <a:p>
            <a:pPr algn="ctr">
              <a:defRPr sz="5000" b="1">
                <a:solidFill>
                  <a:srgbClr val="FFFFFF"/>
                </a:solidFill>
                <a:latin typeface="微软雅黑"/>
              </a:defRPr>
            </a:pPr>
            <a:r>
              <a:t>持续数智创新</a:t>
            </a:r>
            <a:br/>
            <a:r>
              <a:t>筑牢金融安全屏障</a:t>
            </a:r>
          </a:p>
        </p:txBody>
      </p:sp>
      <p:sp>
        <p:nvSpPr>
          <p:cNvPr id="5" name="Rectangle 4"/>
          <p:cNvSpPr/>
          <p:nvPr/>
        </p:nvSpPr>
        <p:spPr>
          <a:xfrm>
            <a:off x="4572000" y="3474720"/>
            <a:ext cx="3047695" cy="27432"/>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3840480"/>
            <a:ext cx="11064240" cy="731520"/>
          </a:xfrm>
          <a:prstGeom prst="rect">
            <a:avLst/>
          </a:prstGeom>
          <a:noFill/>
        </p:spPr>
        <p:txBody>
          <a:bodyPr wrap="square">
            <a:spAutoFit/>
          </a:bodyPr>
          <a:lstStyle/>
          <a:p>
            <a:pPr algn="ctr">
              <a:defRPr sz="3000" b="0">
                <a:solidFill>
                  <a:srgbClr val="3B82F6"/>
                </a:solidFill>
                <a:latin typeface="微软雅黑"/>
              </a:defRPr>
            </a:pPr>
            <a:r>
              <a:t>金融让生活更美好</a:t>
            </a:r>
          </a:p>
        </p:txBody>
      </p:sp>
      <p:sp>
        <p:nvSpPr>
          <p:cNvPr id="7" name="TextBox 6"/>
          <p:cNvSpPr txBox="1"/>
          <p:nvPr/>
        </p:nvSpPr>
        <p:spPr>
          <a:xfrm>
            <a:off x="548640" y="4846320"/>
            <a:ext cx="11064240" cy="457200"/>
          </a:xfrm>
          <a:prstGeom prst="rect">
            <a:avLst/>
          </a:prstGeom>
          <a:noFill/>
        </p:spPr>
        <p:txBody>
          <a:bodyPr wrap="square">
            <a:spAutoFit/>
          </a:bodyPr>
          <a:lstStyle/>
          <a:p>
            <a:pPr algn="ctr">
              <a:defRPr sz="1800" b="0">
                <a:solidFill>
                  <a:srgbClr val="6B7280"/>
                </a:solidFill>
                <a:latin typeface="微软雅黑"/>
              </a:defRPr>
            </a:pPr>
            <a:r>
              <a:t>上海银行  ·  安全保卫部</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