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2860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645920"/>
            <a:ext cx="9601200" cy="1371600"/>
          </a:xfrm>
          <a:prstGeom prst="rect">
            <a:avLst/>
          </a:prstGeom>
          <a:noFill/>
        </p:spPr>
        <p:txBody>
          <a:bodyPr wrap="square">
            <a:spAutoFit/>
          </a:bodyPr>
          <a:lstStyle/>
          <a:p>
            <a:pPr algn="l">
              <a:defRPr sz="6000" b="1">
                <a:solidFill>
                  <a:srgbClr val="FFFFFF"/>
                </a:solidFill>
                <a:latin typeface="微软雅黑"/>
              </a:defRPr>
            </a:pPr>
            <a:r>
              <a:t>上海银行</a:t>
            </a:r>
          </a:p>
        </p:txBody>
      </p:sp>
      <p:sp>
        <p:nvSpPr>
          <p:cNvPr id="6" name="TextBox 5"/>
          <p:cNvSpPr txBox="1"/>
          <p:nvPr/>
        </p:nvSpPr>
        <p:spPr>
          <a:xfrm>
            <a:off x="1371600" y="2743200"/>
            <a:ext cx="9601200" cy="914400"/>
          </a:xfrm>
          <a:prstGeom prst="rect">
            <a:avLst/>
          </a:prstGeom>
          <a:noFill/>
        </p:spPr>
        <p:txBody>
          <a:bodyPr wrap="square">
            <a:spAutoFit/>
          </a:bodyPr>
          <a:lstStyle/>
          <a:p>
            <a:pPr algn="l">
              <a:defRPr sz="4400" b="1">
                <a:solidFill>
                  <a:srgbClr val="60A5FA"/>
                </a:solidFill>
                <a:latin typeface="微软雅黑"/>
              </a:defRPr>
            </a:pPr>
            <a:r>
              <a:t>安防数智化应用展示</a:t>
            </a:r>
          </a:p>
        </p:txBody>
      </p:sp>
      <p:sp>
        <p:nvSpPr>
          <p:cNvPr id="7" name="Rectangle 6"/>
          <p:cNvSpPr/>
          <p:nvPr/>
        </p:nvSpPr>
        <p:spPr>
          <a:xfrm>
            <a:off x="1371600" y="3840480"/>
            <a:ext cx="32004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206240"/>
            <a:ext cx="9601200" cy="640080"/>
          </a:xfrm>
          <a:prstGeom prst="rect">
            <a:avLst/>
          </a:prstGeom>
          <a:noFill/>
        </p:spPr>
        <p:txBody>
          <a:bodyPr wrap="square">
            <a:spAutoFit/>
          </a:bodyPr>
          <a:lstStyle/>
          <a:p>
            <a:pPr algn="l">
              <a:defRPr sz="2400" b="0">
                <a:solidFill>
                  <a:srgbClr val="9CA3AF"/>
                </a:solidFill>
                <a:latin typeface="微软雅黑"/>
              </a:defRPr>
            </a:pPr>
            <a:r>
              <a:t>统筹发展与安全，筑牢金融安全防线</a:t>
            </a:r>
          </a:p>
        </p:txBody>
      </p:sp>
      <p:sp>
        <p:nvSpPr>
          <p:cNvPr id="9" name="TextBox 8"/>
          <p:cNvSpPr txBox="1"/>
          <p:nvPr/>
        </p:nvSpPr>
        <p:spPr>
          <a:xfrm>
            <a:off x="1371600" y="5029200"/>
            <a:ext cx="9601200" cy="365760"/>
          </a:xfrm>
          <a:prstGeom prst="rect">
            <a:avLst/>
          </a:prstGeom>
          <a:noFill/>
        </p:spPr>
        <p:txBody>
          <a:bodyPr wrap="square">
            <a:spAutoFit/>
          </a:bodyPr>
          <a:lstStyle/>
          <a:p>
            <a:pPr algn="l">
              <a:defRPr sz="1600" b="0">
                <a:solidFill>
                  <a:srgbClr val="6B7280"/>
                </a:solidFill>
                <a:latin typeface="微软雅黑"/>
              </a:defRPr>
            </a:pPr>
            <a:r>
              <a:t>上篇 · 安防数智化探索实践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3B82F6"/>
                </a:solidFill>
                <a:latin typeface="微软雅黑"/>
              </a:defRPr>
            </a:pPr>
            <a:r>
              <a:t>CHAPTER 01</a:t>
            </a:r>
          </a:p>
        </p:txBody>
      </p:sp>
      <p:sp>
        <p:nvSpPr>
          <p:cNvPr id="5" name="Rectangle 4"/>
          <p:cNvSpPr/>
          <p:nvPr/>
        </p:nvSpPr>
        <p:spPr>
          <a:xfrm>
            <a:off x="0" y="5669280"/>
            <a:ext cx="12191695" cy="11887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FFFFFF"/>
                </a:solidFill>
                <a:latin typeface="微软雅黑"/>
              </a:defRPr>
            </a:pPr>
            <a:r>
              <a:t>开篇 · 背景与发展概况</a:t>
            </a:r>
          </a:p>
        </p:txBody>
      </p:sp>
      <p:sp>
        <p:nvSpPr>
          <p:cNvPr id="7" name="Rectangle 6"/>
          <p:cNvSpPr/>
          <p:nvPr/>
        </p:nvSpPr>
        <p:spPr>
          <a:xfrm>
            <a:off x="45720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9CA3AF"/>
                </a:solidFill>
                <a:latin typeface="微软雅黑"/>
              </a:defRPr>
            </a:pPr>
            <a:r>
              <a:t>模拟→数字→智能→数智化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02 / 21</a:t>
            </a:r>
          </a:p>
        </p:txBody>
      </p:sp>
      <p:sp>
        <p:nvSpPr>
          <p:cNvPr id="5" name="Rectangle 4"/>
          <p:cNvSpPr/>
          <p:nvPr/>
        </p:nvSpPr>
        <p:spPr>
          <a:xfrm>
            <a:off x="4572000" y="1371600"/>
            <a:ext cx="3047695" cy="16459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20640" y="1828800"/>
            <a:ext cx="1950415" cy="731520"/>
          </a:xfrm>
          <a:prstGeom prst="rect">
            <a:avLst/>
          </a:prstGeom>
          <a:noFill/>
        </p:spPr>
        <p:txBody>
          <a:bodyPr wrap="square">
            <a:spAutoFit/>
          </a:bodyPr>
          <a:lstStyle/>
          <a:p>
            <a:pPr algn="ctr">
              <a:defRPr sz="1800" b="1">
                <a:solidFill>
                  <a:srgbClr val="FFFFFF"/>
                </a:solidFill>
                <a:latin typeface="微软雅黑"/>
              </a:defRPr>
            </a:pPr>
            <a:r>
              <a:t>SHANGHAI</a:t>
            </a:r>
            <a:br/>
            <a:r>
              <a:t>BANK</a:t>
            </a:r>
          </a:p>
        </p:txBody>
      </p:sp>
      <p:sp>
        <p:nvSpPr>
          <p:cNvPr id="7" name="TextBox 6"/>
          <p:cNvSpPr txBox="1"/>
          <p:nvPr/>
        </p:nvSpPr>
        <p:spPr>
          <a:xfrm>
            <a:off x="4572000" y="3200400"/>
            <a:ext cx="3047695" cy="457200"/>
          </a:xfrm>
          <a:prstGeom prst="rect">
            <a:avLst/>
          </a:prstGeom>
          <a:noFill/>
        </p:spPr>
        <p:txBody>
          <a:bodyPr wrap="square">
            <a:spAutoFit/>
          </a:bodyPr>
          <a:lstStyle/>
          <a:p>
            <a:pPr algn="ctr">
              <a:defRPr sz="2800" b="1">
                <a:solidFill>
                  <a:srgbClr val="3B82F6"/>
                </a:solidFill>
                <a:latin typeface="微软雅黑"/>
              </a:defRPr>
            </a:pPr>
            <a:r>
              <a:t>上海银行</a:t>
            </a:r>
          </a:p>
        </p:txBody>
      </p:sp>
      <p:sp>
        <p:nvSpPr>
          <p:cNvPr id="8" name="Rectangle 7"/>
          <p:cNvSpPr/>
          <p:nvPr/>
        </p:nvSpPr>
        <p:spPr>
          <a:xfrm>
            <a:off x="4114800" y="3931920"/>
            <a:ext cx="39620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4389120"/>
            <a:ext cx="7619695" cy="914400"/>
          </a:xfrm>
          <a:prstGeom prst="rect">
            <a:avLst/>
          </a:prstGeom>
          <a:noFill/>
        </p:spPr>
        <p:txBody>
          <a:bodyPr wrap="square">
            <a:spAutoFit/>
          </a:bodyPr>
          <a:lstStyle/>
          <a:p>
            <a:pPr algn="ctr">
              <a:defRPr sz="4200" b="1">
                <a:solidFill>
                  <a:srgbClr val="FFFFFF"/>
                </a:solidFill>
                <a:latin typeface="微软雅黑"/>
              </a:defRPr>
            </a:pPr>
            <a:r>
              <a:t>安防数智化应用展示</a:t>
            </a:r>
          </a:p>
        </p:txBody>
      </p:sp>
      <p:sp>
        <p:nvSpPr>
          <p:cNvPr id="10" name="TextBox 9"/>
          <p:cNvSpPr txBox="1"/>
          <p:nvPr/>
        </p:nvSpPr>
        <p:spPr>
          <a:xfrm>
            <a:off x="1828800" y="5303520"/>
            <a:ext cx="8534095" cy="548640"/>
          </a:xfrm>
          <a:prstGeom prst="rect">
            <a:avLst/>
          </a:prstGeom>
          <a:noFill/>
        </p:spPr>
        <p:txBody>
          <a:bodyPr wrap="square">
            <a:spAutoFit/>
          </a:bodyPr>
          <a:lstStyle/>
          <a:p>
            <a:pPr algn="ctr">
              <a:defRPr sz="2000" b="0">
                <a:solidFill>
                  <a:srgbClr val="9CA3AF"/>
                </a:solidFill>
                <a:latin typeface="微软雅黑"/>
              </a:defRPr>
            </a:pPr>
            <a:r>
              <a:t>统筹发展与安全，筑牢金融安全防线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03 / 21</a:t>
            </a:r>
          </a:p>
        </p:txBody>
      </p:sp>
      <p:sp>
        <p:nvSpPr>
          <p:cNvPr id="5" name="Rectangle 4"/>
          <p:cNvSpPr/>
          <p:nvPr/>
        </p:nvSpPr>
        <p:spPr>
          <a:xfrm>
            <a:off x="457200" y="731520"/>
            <a:ext cx="5029200" cy="53035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286000"/>
            <a:ext cx="3200400" cy="914400"/>
          </a:xfrm>
          <a:prstGeom prst="rect">
            <a:avLst/>
          </a:prstGeom>
          <a:noFill/>
        </p:spPr>
        <p:txBody>
          <a:bodyPr wrap="square">
            <a:spAutoFit/>
          </a:bodyPr>
          <a:lstStyle/>
          <a:p>
            <a:pPr algn="ctr">
              <a:defRPr sz="1600" b="0">
                <a:solidFill>
                  <a:srgbClr val="6B7280"/>
                </a:solidFill>
                <a:latin typeface="微软雅黑"/>
              </a:defRPr>
            </a:pPr>
            <a:r>
              <a:t>素材1-1</a:t>
            </a:r>
            <a:br/>
            <a:r>
              <a:t>总行浦西大楼航拍</a:t>
            </a:r>
          </a:p>
        </p:txBody>
      </p:sp>
      <p:sp>
        <p:nvSpPr>
          <p:cNvPr id="7" name="TextBox 6"/>
          <p:cNvSpPr txBox="1"/>
          <p:nvPr/>
        </p:nvSpPr>
        <p:spPr>
          <a:xfrm>
            <a:off x="1371600" y="3200400"/>
            <a:ext cx="3200400" cy="914400"/>
          </a:xfrm>
          <a:prstGeom prst="rect">
            <a:avLst/>
          </a:prstGeom>
          <a:noFill/>
        </p:spPr>
        <p:txBody>
          <a:bodyPr wrap="square">
            <a:spAutoFit/>
          </a:bodyPr>
          <a:lstStyle/>
          <a:p>
            <a:pPr algn="ctr">
              <a:defRPr sz="1600" b="0">
                <a:solidFill>
                  <a:srgbClr val="6B7280"/>
                </a:solidFill>
                <a:latin typeface="微软雅黑"/>
              </a:defRPr>
            </a:pPr>
            <a:r>
              <a:t>素材1-2</a:t>
            </a:r>
            <a:br/>
            <a:r>
              <a:t>金库视频</a:t>
            </a:r>
          </a:p>
        </p:txBody>
      </p:sp>
      <p:sp>
        <p:nvSpPr>
          <p:cNvPr id="8" name="TextBox 7"/>
          <p:cNvSpPr txBox="1"/>
          <p:nvPr/>
        </p:nvSpPr>
        <p:spPr>
          <a:xfrm>
            <a:off x="5943600" y="914400"/>
            <a:ext cx="5943600" cy="1097280"/>
          </a:xfrm>
          <a:prstGeom prst="rect">
            <a:avLst/>
          </a:prstGeom>
          <a:noFill/>
        </p:spPr>
        <p:txBody>
          <a:bodyPr wrap="square">
            <a:spAutoFit/>
          </a:bodyPr>
          <a:lstStyle/>
          <a:p>
            <a:pPr algn="l">
              <a:defRPr sz="3600" b="1">
                <a:solidFill>
                  <a:srgbClr val="FFFFFF"/>
                </a:solidFill>
                <a:latin typeface="微软雅黑"/>
              </a:defRPr>
            </a:pPr>
            <a:r>
              <a:t>背景与发展概况</a:t>
            </a:r>
          </a:p>
        </p:txBody>
      </p:sp>
      <p:sp>
        <p:nvSpPr>
          <p:cNvPr id="9" name="Rectangle 8"/>
          <p:cNvSpPr/>
          <p:nvPr/>
        </p:nvSpPr>
        <p:spPr>
          <a:xfrm>
            <a:off x="5943600" y="210312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2468880"/>
            <a:ext cx="5943600" cy="3657600"/>
          </a:xfrm>
          <a:prstGeom prst="rect">
            <a:avLst/>
          </a:prstGeom>
          <a:noFill/>
        </p:spPr>
        <p:txBody>
          <a:bodyPr wrap="square">
            <a:spAutoFit/>
          </a:bodyPr>
          <a:lstStyle/>
          <a:p>
            <a:pPr algn="l">
              <a:spcAft>
                <a:spcPts val="400"/>
              </a:spcAft>
              <a:defRPr sz="2000" b="0">
                <a:solidFill>
                  <a:srgbClr val="FFFFFF"/>
                </a:solidFill>
                <a:latin typeface="微软雅黑"/>
              </a:defRPr>
            </a:pPr>
            <a:r>
              <a:t>贯彻监管与总行领导要求，坚定践行‘一管三化’工作体系，推进安防数智化升级，加速安全管理向‘人防、技防、智防’深度融合的现代化模式加速转型。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04 / 21</a:t>
            </a:r>
          </a:p>
        </p:txBody>
      </p:sp>
      <p:sp>
        <p:nvSpPr>
          <p:cNvPr id="5" name="TextBox 4"/>
          <p:cNvSpPr txBox="1"/>
          <p:nvPr/>
        </p:nvSpPr>
        <p:spPr>
          <a:xfrm>
            <a:off x="457200" y="731520"/>
            <a:ext cx="11430000" cy="731520"/>
          </a:xfrm>
          <a:prstGeom prst="rect">
            <a:avLst/>
          </a:prstGeom>
          <a:noFill/>
        </p:spPr>
        <p:txBody>
          <a:bodyPr wrap="square">
            <a:spAutoFit/>
          </a:bodyPr>
          <a:lstStyle/>
          <a:p>
            <a:pPr algn="l">
              <a:defRPr sz="3600" b="1">
                <a:solidFill>
                  <a:srgbClr val="FFFFFF"/>
                </a:solidFill>
                <a:latin typeface="微软雅黑"/>
              </a:defRPr>
            </a:pPr>
            <a:r>
              <a:t>安防四大发展阶段</a:t>
            </a:r>
          </a:p>
        </p:txBody>
      </p:sp>
      <p:sp>
        <p:nvSpPr>
          <p:cNvPr id="6" name="Rectangle 5"/>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2103120"/>
            <a:ext cx="2651760" cy="32004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86000"/>
            <a:ext cx="2103120" cy="548640"/>
          </a:xfrm>
          <a:prstGeom prst="rect">
            <a:avLst/>
          </a:prstGeom>
          <a:noFill/>
        </p:spPr>
        <p:txBody>
          <a:bodyPr wrap="square">
            <a:spAutoFit/>
          </a:bodyPr>
          <a:lstStyle/>
          <a:p>
            <a:pPr algn="l">
              <a:defRPr sz="3200" b="1">
                <a:solidFill>
                  <a:srgbClr val="3B82F6"/>
                </a:solidFill>
                <a:latin typeface="微软雅黑"/>
              </a:defRPr>
            </a:pPr>
            <a:r>
              <a:t>01</a:t>
            </a:r>
          </a:p>
        </p:txBody>
      </p:sp>
      <p:sp>
        <p:nvSpPr>
          <p:cNvPr id="9" name="TextBox 8"/>
          <p:cNvSpPr txBox="1"/>
          <p:nvPr/>
        </p:nvSpPr>
        <p:spPr>
          <a:xfrm>
            <a:off x="731520" y="2926080"/>
            <a:ext cx="2103120" cy="548640"/>
          </a:xfrm>
          <a:prstGeom prst="rect">
            <a:avLst/>
          </a:prstGeom>
          <a:noFill/>
        </p:spPr>
        <p:txBody>
          <a:bodyPr wrap="square">
            <a:spAutoFit/>
          </a:bodyPr>
          <a:lstStyle/>
          <a:p>
            <a:pPr algn="l">
              <a:defRPr sz="2200" b="1">
                <a:solidFill>
                  <a:srgbClr val="FFFFFF"/>
                </a:solidFill>
                <a:latin typeface="微软雅黑"/>
              </a:defRPr>
            </a:pPr>
            <a:r>
              <a:t>模拟安防</a:t>
            </a:r>
          </a:p>
        </p:txBody>
      </p:sp>
      <p:sp>
        <p:nvSpPr>
          <p:cNvPr id="10" name="TextBox 9"/>
          <p:cNvSpPr txBox="1"/>
          <p:nvPr/>
        </p:nvSpPr>
        <p:spPr>
          <a:xfrm>
            <a:off x="731520" y="3566160"/>
            <a:ext cx="2103120" cy="1097280"/>
          </a:xfrm>
          <a:prstGeom prst="rect">
            <a:avLst/>
          </a:prstGeom>
          <a:noFill/>
        </p:spPr>
        <p:txBody>
          <a:bodyPr wrap="square">
            <a:spAutoFit/>
          </a:bodyPr>
          <a:lstStyle/>
          <a:p>
            <a:pPr algn="l">
              <a:defRPr sz="1400" b="0">
                <a:solidFill>
                  <a:srgbClr val="9CA3AF"/>
                </a:solidFill>
                <a:latin typeface="微软雅黑"/>
              </a:defRPr>
            </a:pPr>
            <a:r>
              <a:t>GA38-2004</a:t>
            </a:r>
            <a:br/>
            <a:r>
              <a:t>24h人工轮巡</a:t>
            </a:r>
          </a:p>
        </p:txBody>
      </p:sp>
      <p:sp>
        <p:nvSpPr>
          <p:cNvPr id="11" name="TextBox 10"/>
          <p:cNvSpPr txBox="1"/>
          <p:nvPr/>
        </p:nvSpPr>
        <p:spPr>
          <a:xfrm>
            <a:off x="3108960" y="3383280"/>
            <a:ext cx="457200" cy="457200"/>
          </a:xfrm>
          <a:prstGeom prst="rect">
            <a:avLst/>
          </a:prstGeom>
          <a:noFill/>
        </p:spPr>
        <p:txBody>
          <a:bodyPr wrap="square">
            <a:spAutoFit/>
          </a:bodyPr>
          <a:lstStyle/>
          <a:p>
            <a:pPr algn="ctr">
              <a:defRPr sz="2800" b="1">
                <a:solidFill>
                  <a:srgbClr val="60A5FA"/>
                </a:solidFill>
                <a:latin typeface="微软雅黑"/>
              </a:defRPr>
            </a:pPr>
            <a:r>
              <a:t>→</a:t>
            </a:r>
          </a:p>
        </p:txBody>
      </p:sp>
      <p:sp>
        <p:nvSpPr>
          <p:cNvPr id="12" name="Rounded Rectangle 11"/>
          <p:cNvSpPr/>
          <p:nvPr/>
        </p:nvSpPr>
        <p:spPr>
          <a:xfrm>
            <a:off x="3291840" y="2103120"/>
            <a:ext cx="2651760" cy="32004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286000"/>
            <a:ext cx="2103120" cy="548640"/>
          </a:xfrm>
          <a:prstGeom prst="rect">
            <a:avLst/>
          </a:prstGeom>
          <a:noFill/>
        </p:spPr>
        <p:txBody>
          <a:bodyPr wrap="square">
            <a:spAutoFit/>
          </a:bodyPr>
          <a:lstStyle/>
          <a:p>
            <a:pPr algn="l">
              <a:defRPr sz="3200" b="1">
                <a:solidFill>
                  <a:srgbClr val="3B82F6"/>
                </a:solidFill>
                <a:latin typeface="微软雅黑"/>
              </a:defRPr>
            </a:pPr>
            <a:r>
              <a:t>02</a:t>
            </a:r>
          </a:p>
        </p:txBody>
      </p:sp>
      <p:sp>
        <p:nvSpPr>
          <p:cNvPr id="14" name="TextBox 13"/>
          <p:cNvSpPr txBox="1"/>
          <p:nvPr/>
        </p:nvSpPr>
        <p:spPr>
          <a:xfrm>
            <a:off x="3566160" y="2926080"/>
            <a:ext cx="2103120" cy="548640"/>
          </a:xfrm>
          <a:prstGeom prst="rect">
            <a:avLst/>
          </a:prstGeom>
          <a:noFill/>
        </p:spPr>
        <p:txBody>
          <a:bodyPr wrap="square">
            <a:spAutoFit/>
          </a:bodyPr>
          <a:lstStyle/>
          <a:p>
            <a:pPr algn="l">
              <a:defRPr sz="2200" b="1">
                <a:solidFill>
                  <a:srgbClr val="FFFFFF"/>
                </a:solidFill>
                <a:latin typeface="微软雅黑"/>
              </a:defRPr>
            </a:pPr>
            <a:r>
              <a:t>数字安防</a:t>
            </a:r>
          </a:p>
        </p:txBody>
      </p:sp>
      <p:sp>
        <p:nvSpPr>
          <p:cNvPr id="15" name="TextBox 14"/>
          <p:cNvSpPr txBox="1"/>
          <p:nvPr/>
        </p:nvSpPr>
        <p:spPr>
          <a:xfrm>
            <a:off x="3566160" y="3566160"/>
            <a:ext cx="2103120" cy="1097280"/>
          </a:xfrm>
          <a:prstGeom prst="rect">
            <a:avLst/>
          </a:prstGeom>
          <a:noFill/>
        </p:spPr>
        <p:txBody>
          <a:bodyPr wrap="square">
            <a:spAutoFit/>
          </a:bodyPr>
          <a:lstStyle/>
          <a:p>
            <a:pPr algn="l">
              <a:defRPr sz="1400" b="0">
                <a:solidFill>
                  <a:srgbClr val="9CA3AF"/>
                </a:solidFill>
                <a:latin typeface="微软雅黑"/>
              </a:defRPr>
            </a:pPr>
            <a:r>
              <a:t>2018-2021</a:t>
            </a:r>
            <a:br/>
            <a:r>
              <a:t>模改数</a:t>
            </a:r>
          </a:p>
        </p:txBody>
      </p:sp>
      <p:sp>
        <p:nvSpPr>
          <p:cNvPr id="16" name="TextBox 15"/>
          <p:cNvSpPr txBox="1"/>
          <p:nvPr/>
        </p:nvSpPr>
        <p:spPr>
          <a:xfrm>
            <a:off x="5943600" y="3383280"/>
            <a:ext cx="457200" cy="457200"/>
          </a:xfrm>
          <a:prstGeom prst="rect">
            <a:avLst/>
          </a:prstGeom>
          <a:noFill/>
        </p:spPr>
        <p:txBody>
          <a:bodyPr wrap="square">
            <a:spAutoFit/>
          </a:bodyPr>
          <a:lstStyle/>
          <a:p>
            <a:pPr algn="ctr">
              <a:defRPr sz="2800" b="1">
                <a:solidFill>
                  <a:srgbClr val="60A5FA"/>
                </a:solidFill>
                <a:latin typeface="微软雅黑"/>
              </a:defRPr>
            </a:pPr>
            <a:r>
              <a:t>→</a:t>
            </a:r>
          </a:p>
        </p:txBody>
      </p:sp>
      <p:sp>
        <p:nvSpPr>
          <p:cNvPr id="17" name="Rounded Rectangle 16"/>
          <p:cNvSpPr/>
          <p:nvPr/>
        </p:nvSpPr>
        <p:spPr>
          <a:xfrm>
            <a:off x="6126480" y="2103120"/>
            <a:ext cx="2651760" cy="32004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286000"/>
            <a:ext cx="2103120" cy="548640"/>
          </a:xfrm>
          <a:prstGeom prst="rect">
            <a:avLst/>
          </a:prstGeom>
          <a:noFill/>
        </p:spPr>
        <p:txBody>
          <a:bodyPr wrap="square">
            <a:spAutoFit/>
          </a:bodyPr>
          <a:lstStyle/>
          <a:p>
            <a:pPr algn="l">
              <a:defRPr sz="3200" b="1">
                <a:solidFill>
                  <a:srgbClr val="3B82F6"/>
                </a:solidFill>
                <a:latin typeface="微软雅黑"/>
              </a:defRPr>
            </a:pPr>
            <a:r>
              <a:t>03</a:t>
            </a:r>
          </a:p>
        </p:txBody>
      </p:sp>
      <p:sp>
        <p:nvSpPr>
          <p:cNvPr id="19" name="TextBox 18"/>
          <p:cNvSpPr txBox="1"/>
          <p:nvPr/>
        </p:nvSpPr>
        <p:spPr>
          <a:xfrm>
            <a:off x="6400800" y="2926080"/>
            <a:ext cx="2103120" cy="548640"/>
          </a:xfrm>
          <a:prstGeom prst="rect">
            <a:avLst/>
          </a:prstGeom>
          <a:noFill/>
        </p:spPr>
        <p:txBody>
          <a:bodyPr wrap="square">
            <a:spAutoFit/>
          </a:bodyPr>
          <a:lstStyle/>
          <a:p>
            <a:pPr algn="l">
              <a:defRPr sz="2200" b="1">
                <a:solidFill>
                  <a:srgbClr val="FFFFFF"/>
                </a:solidFill>
                <a:latin typeface="微软雅黑"/>
              </a:defRPr>
            </a:pPr>
            <a:r>
              <a:t>智能应用</a:t>
            </a:r>
          </a:p>
        </p:txBody>
      </p:sp>
      <p:sp>
        <p:nvSpPr>
          <p:cNvPr id="20" name="TextBox 19"/>
          <p:cNvSpPr txBox="1"/>
          <p:nvPr/>
        </p:nvSpPr>
        <p:spPr>
          <a:xfrm>
            <a:off x="6400800" y="3566160"/>
            <a:ext cx="2103120" cy="1097280"/>
          </a:xfrm>
          <a:prstGeom prst="rect">
            <a:avLst/>
          </a:prstGeom>
          <a:noFill/>
        </p:spPr>
        <p:txBody>
          <a:bodyPr wrap="square">
            <a:spAutoFit/>
          </a:bodyPr>
          <a:lstStyle/>
          <a:p>
            <a:pPr algn="l">
              <a:defRPr sz="1400" b="0">
                <a:solidFill>
                  <a:srgbClr val="9CA3AF"/>
                </a:solidFill>
                <a:latin typeface="微软雅黑"/>
              </a:defRPr>
            </a:pPr>
            <a:r>
              <a:t>2021-2025</a:t>
            </a:r>
            <a:br/>
            <a:r>
              <a:t>智能化功能</a:t>
            </a:r>
          </a:p>
        </p:txBody>
      </p:sp>
      <p:sp>
        <p:nvSpPr>
          <p:cNvPr id="21" name="TextBox 20"/>
          <p:cNvSpPr txBox="1"/>
          <p:nvPr/>
        </p:nvSpPr>
        <p:spPr>
          <a:xfrm>
            <a:off x="8778240" y="3383280"/>
            <a:ext cx="457200" cy="457200"/>
          </a:xfrm>
          <a:prstGeom prst="rect">
            <a:avLst/>
          </a:prstGeom>
          <a:noFill/>
        </p:spPr>
        <p:txBody>
          <a:bodyPr wrap="square">
            <a:spAutoFit/>
          </a:bodyPr>
          <a:lstStyle/>
          <a:p>
            <a:pPr algn="ctr">
              <a:defRPr sz="2800" b="1">
                <a:solidFill>
                  <a:srgbClr val="60A5FA"/>
                </a:solidFill>
                <a:latin typeface="微软雅黑"/>
              </a:defRPr>
            </a:pPr>
            <a:r>
              <a:t>→</a:t>
            </a:r>
          </a:p>
        </p:txBody>
      </p:sp>
      <p:sp>
        <p:nvSpPr>
          <p:cNvPr id="22" name="Rounded Rectangle 21"/>
          <p:cNvSpPr/>
          <p:nvPr/>
        </p:nvSpPr>
        <p:spPr>
          <a:xfrm>
            <a:off x="8961120" y="2103120"/>
            <a:ext cx="2651760" cy="32004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2286000"/>
            <a:ext cx="2103120" cy="548640"/>
          </a:xfrm>
          <a:prstGeom prst="rect">
            <a:avLst/>
          </a:prstGeom>
          <a:noFill/>
        </p:spPr>
        <p:txBody>
          <a:bodyPr wrap="square">
            <a:spAutoFit/>
          </a:bodyPr>
          <a:lstStyle/>
          <a:p>
            <a:pPr algn="l">
              <a:defRPr sz="3200" b="1">
                <a:solidFill>
                  <a:srgbClr val="3B82F6"/>
                </a:solidFill>
                <a:latin typeface="微软雅黑"/>
              </a:defRPr>
            </a:pPr>
            <a:r>
              <a:t>04</a:t>
            </a:r>
          </a:p>
        </p:txBody>
      </p:sp>
      <p:sp>
        <p:nvSpPr>
          <p:cNvPr id="24" name="TextBox 23"/>
          <p:cNvSpPr txBox="1"/>
          <p:nvPr/>
        </p:nvSpPr>
        <p:spPr>
          <a:xfrm>
            <a:off x="9235440" y="2926080"/>
            <a:ext cx="2103120" cy="548640"/>
          </a:xfrm>
          <a:prstGeom prst="rect">
            <a:avLst/>
          </a:prstGeom>
          <a:noFill/>
        </p:spPr>
        <p:txBody>
          <a:bodyPr wrap="square">
            <a:spAutoFit/>
          </a:bodyPr>
          <a:lstStyle/>
          <a:p>
            <a:pPr algn="l">
              <a:defRPr sz="2200" b="1">
                <a:solidFill>
                  <a:srgbClr val="FFFFFF"/>
                </a:solidFill>
                <a:latin typeface="微软雅黑"/>
              </a:defRPr>
            </a:pPr>
            <a:r>
              <a:t>数智化阶段</a:t>
            </a:r>
          </a:p>
        </p:txBody>
      </p:sp>
      <p:sp>
        <p:nvSpPr>
          <p:cNvPr id="25" name="TextBox 24"/>
          <p:cNvSpPr txBox="1"/>
          <p:nvPr/>
        </p:nvSpPr>
        <p:spPr>
          <a:xfrm>
            <a:off x="9235440" y="3566160"/>
            <a:ext cx="2103120" cy="1097280"/>
          </a:xfrm>
          <a:prstGeom prst="rect">
            <a:avLst/>
          </a:prstGeom>
          <a:noFill/>
        </p:spPr>
        <p:txBody>
          <a:bodyPr wrap="square">
            <a:spAutoFit/>
          </a:bodyPr>
          <a:lstStyle/>
          <a:p>
            <a:pPr algn="l">
              <a:defRPr sz="1400" b="0">
                <a:solidFill>
                  <a:srgbClr val="9CA3AF"/>
                </a:solidFill>
                <a:latin typeface="微软雅黑"/>
              </a:defRPr>
            </a:pPr>
            <a:r>
              <a:t>2025→</a:t>
            </a:r>
            <a:br/>
            <a:r>
              <a:t>大模型驱动</a:t>
            </a:r>
          </a:p>
        </p:txBody>
      </p:sp>
      <p:sp>
        <p:nvSpPr>
          <p:cNvPr id="26" name="TextBox 25"/>
          <p:cNvSpPr txBox="1"/>
          <p:nvPr/>
        </p:nvSpPr>
        <p:spPr>
          <a:xfrm>
            <a:off x="457200" y="5669280"/>
            <a:ext cx="11430000" cy="731520"/>
          </a:xfrm>
          <a:prstGeom prst="rect">
            <a:avLst/>
          </a:prstGeom>
          <a:noFill/>
        </p:spPr>
        <p:txBody>
          <a:bodyPr wrap="square">
            <a:spAutoFit/>
          </a:bodyPr>
          <a:lstStyle/>
          <a:p>
            <a:pPr algn="l">
              <a:defRPr sz="1300" b="0">
                <a:solidFill>
                  <a:srgbClr val="9CA3AF"/>
                </a:solidFill>
                <a:latin typeface="微软雅黑"/>
              </a:defRPr>
            </a:pPr>
            <a:r>
              <a:t>银行业安防历经模拟、数字、智能三大阶段，目前全面迈入数智化新时代。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05 / 21</a:t>
            </a:r>
          </a:p>
        </p:txBody>
      </p:sp>
      <p:sp>
        <p:nvSpPr>
          <p:cNvPr id="5" name="TextBox 4"/>
          <p:cNvSpPr txBox="1"/>
          <p:nvPr/>
        </p:nvSpPr>
        <p:spPr>
          <a:xfrm>
            <a:off x="457200" y="731520"/>
            <a:ext cx="11430000" cy="731520"/>
          </a:xfrm>
          <a:prstGeom prst="rect">
            <a:avLst/>
          </a:prstGeom>
          <a:noFill/>
        </p:spPr>
        <p:txBody>
          <a:bodyPr wrap="square">
            <a:spAutoFit/>
          </a:bodyPr>
          <a:lstStyle/>
          <a:p>
            <a:pPr algn="l">
              <a:defRPr sz="3600" b="1">
                <a:solidFill>
                  <a:srgbClr val="FFFFFF"/>
                </a:solidFill>
                <a:latin typeface="微软雅黑"/>
              </a:defRPr>
            </a:pPr>
            <a:r>
              <a:t>技术底座 · 三大引擎</a:t>
            </a:r>
          </a:p>
        </p:txBody>
      </p:sp>
      <p:sp>
        <p:nvSpPr>
          <p:cNvPr id="6" name="Rectangle 5"/>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2011680"/>
            <a:ext cx="3657600" cy="384048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3108960" cy="457200"/>
          </a:xfrm>
          <a:prstGeom prst="rect">
            <a:avLst/>
          </a:prstGeom>
          <a:noFill/>
        </p:spPr>
        <p:txBody>
          <a:bodyPr wrap="square">
            <a:spAutoFit/>
          </a:bodyPr>
          <a:lstStyle/>
          <a:p>
            <a:pPr algn="l">
              <a:defRPr sz="3600" b="0">
                <a:solidFill>
                  <a:srgbClr val="FFFFFF"/>
                </a:solidFill>
                <a:latin typeface="微软雅黑"/>
              </a:defRPr>
            </a:pPr>
            <a:r>
              <a:t>📡</a:t>
            </a:r>
          </a:p>
        </p:txBody>
      </p:sp>
      <p:sp>
        <p:nvSpPr>
          <p:cNvPr id="9" name="TextBox 8"/>
          <p:cNvSpPr txBox="1"/>
          <p:nvPr/>
        </p:nvSpPr>
        <p:spPr>
          <a:xfrm>
            <a:off x="731520" y="2834640"/>
            <a:ext cx="3108960" cy="457200"/>
          </a:xfrm>
          <a:prstGeom prst="rect">
            <a:avLst/>
          </a:prstGeom>
          <a:noFill/>
        </p:spPr>
        <p:txBody>
          <a:bodyPr wrap="square">
            <a:spAutoFit/>
          </a:bodyPr>
          <a:lstStyle/>
          <a:p>
            <a:pPr algn="l">
              <a:defRPr sz="2400" b="1">
                <a:solidFill>
                  <a:srgbClr val="3B82F6"/>
                </a:solidFill>
                <a:latin typeface="微软雅黑"/>
              </a:defRPr>
            </a:pPr>
            <a:r>
              <a:t>物联网技术</a:t>
            </a:r>
          </a:p>
        </p:txBody>
      </p:sp>
      <p:sp>
        <p:nvSpPr>
          <p:cNvPr id="10" name="Rectangle 9"/>
          <p:cNvSpPr/>
          <p:nvPr/>
        </p:nvSpPr>
        <p:spPr>
          <a:xfrm>
            <a:off x="731520" y="3383280"/>
            <a:ext cx="1371600" cy="1371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57600"/>
            <a:ext cx="3108960" cy="1828800"/>
          </a:xfrm>
          <a:prstGeom prst="rect">
            <a:avLst/>
          </a:prstGeom>
          <a:noFill/>
        </p:spPr>
        <p:txBody>
          <a:bodyPr wrap="square">
            <a:spAutoFit/>
          </a:bodyPr>
          <a:lstStyle/>
          <a:p>
            <a:pPr algn="l">
              <a:spcAft>
                <a:spcPts val="400"/>
              </a:spcAft>
              <a:defRPr sz="1600" b="0">
                <a:solidFill>
                  <a:srgbClr val="9CA3AF"/>
                </a:solidFill>
                <a:latin typeface="微软雅黑"/>
              </a:defRPr>
            </a:pPr>
            <a:r>
              <a:t>摄像机、传感器、读识设备</a:t>
            </a:r>
          </a:p>
          <a:p>
            <a:pPr algn="l">
              <a:spcAft>
                <a:spcPts val="400"/>
              </a:spcAft>
              <a:defRPr sz="1600" b="0">
                <a:solidFill>
                  <a:srgbClr val="9CA3AF"/>
                </a:solidFill>
                <a:latin typeface="微软雅黑"/>
              </a:defRPr>
            </a:pPr>
            <a:r>
              <a:t>触探设备等物联部署</a:t>
            </a:r>
          </a:p>
          <a:p>
            <a:pPr algn="l">
              <a:spcAft>
                <a:spcPts val="400"/>
              </a:spcAft>
              <a:defRPr sz="1600" b="0">
                <a:solidFill>
                  <a:srgbClr val="9CA3AF"/>
                </a:solidFill>
                <a:latin typeface="微软雅黑"/>
              </a:defRPr>
            </a:pPr>
            <a:r>
              <a:t>清晰感知、识别、监测</a:t>
            </a:r>
          </a:p>
        </p:txBody>
      </p:sp>
      <p:sp>
        <p:nvSpPr>
          <p:cNvPr id="12" name="Rounded Rectangle 11"/>
          <p:cNvSpPr/>
          <p:nvPr/>
        </p:nvSpPr>
        <p:spPr>
          <a:xfrm>
            <a:off x="4297680" y="2011680"/>
            <a:ext cx="3657600" cy="384048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194560"/>
            <a:ext cx="3108960" cy="457200"/>
          </a:xfrm>
          <a:prstGeom prst="rect">
            <a:avLst/>
          </a:prstGeom>
          <a:noFill/>
        </p:spPr>
        <p:txBody>
          <a:bodyPr wrap="square">
            <a:spAutoFit/>
          </a:bodyPr>
          <a:lstStyle/>
          <a:p>
            <a:pPr algn="l">
              <a:defRPr sz="3600" b="0">
                <a:solidFill>
                  <a:srgbClr val="FFFFFF"/>
                </a:solidFill>
                <a:latin typeface="微软雅黑"/>
              </a:defRPr>
            </a:pPr>
            <a:r>
              <a:t>⚙️</a:t>
            </a:r>
          </a:p>
        </p:txBody>
      </p:sp>
      <p:sp>
        <p:nvSpPr>
          <p:cNvPr id="14" name="TextBox 13"/>
          <p:cNvSpPr txBox="1"/>
          <p:nvPr/>
        </p:nvSpPr>
        <p:spPr>
          <a:xfrm>
            <a:off x="4572000" y="2834640"/>
            <a:ext cx="3108960" cy="457200"/>
          </a:xfrm>
          <a:prstGeom prst="rect">
            <a:avLst/>
          </a:prstGeom>
          <a:noFill/>
        </p:spPr>
        <p:txBody>
          <a:bodyPr wrap="square">
            <a:spAutoFit/>
          </a:bodyPr>
          <a:lstStyle/>
          <a:p>
            <a:pPr algn="l">
              <a:defRPr sz="2400" b="1">
                <a:solidFill>
                  <a:srgbClr val="3B82F6"/>
                </a:solidFill>
                <a:latin typeface="微软雅黑"/>
              </a:defRPr>
            </a:pPr>
            <a:r>
              <a:t>自动化系统</a:t>
            </a:r>
          </a:p>
        </p:txBody>
      </p:sp>
      <p:sp>
        <p:nvSpPr>
          <p:cNvPr id="15" name="Rectangle 14"/>
          <p:cNvSpPr/>
          <p:nvPr/>
        </p:nvSpPr>
        <p:spPr>
          <a:xfrm>
            <a:off x="4572000" y="3383280"/>
            <a:ext cx="1371600" cy="1371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657600"/>
            <a:ext cx="3108960" cy="1828800"/>
          </a:xfrm>
          <a:prstGeom prst="rect">
            <a:avLst/>
          </a:prstGeom>
          <a:noFill/>
        </p:spPr>
        <p:txBody>
          <a:bodyPr wrap="square">
            <a:spAutoFit/>
          </a:bodyPr>
          <a:lstStyle/>
          <a:p>
            <a:pPr algn="l">
              <a:spcAft>
                <a:spcPts val="400"/>
              </a:spcAft>
              <a:defRPr sz="1600" b="0">
                <a:solidFill>
                  <a:srgbClr val="9CA3AF"/>
                </a:solidFill>
                <a:latin typeface="微软雅黑"/>
              </a:defRPr>
            </a:pPr>
            <a:r>
              <a:t>视频分析、AI识别算法</a:t>
            </a:r>
          </a:p>
          <a:p>
            <a:pPr algn="l">
              <a:spcAft>
                <a:spcPts val="400"/>
              </a:spcAft>
              <a:defRPr sz="1600" b="0">
                <a:solidFill>
                  <a:srgbClr val="9CA3AF"/>
                </a:solidFill>
                <a:latin typeface="微软雅黑"/>
              </a:defRPr>
            </a:pPr>
            <a:r>
              <a:t>风险隐患提前预警</a:t>
            </a:r>
          </a:p>
          <a:p>
            <a:pPr algn="l">
              <a:spcAft>
                <a:spcPts val="400"/>
              </a:spcAft>
              <a:defRPr sz="1600" b="0">
                <a:solidFill>
                  <a:srgbClr val="9CA3AF"/>
                </a:solidFill>
                <a:latin typeface="微软雅黑"/>
              </a:defRPr>
            </a:pPr>
            <a:r>
              <a:t>设备24h不间断监测</a:t>
            </a:r>
          </a:p>
        </p:txBody>
      </p:sp>
      <p:sp>
        <p:nvSpPr>
          <p:cNvPr id="17" name="Rounded Rectangle 16"/>
          <p:cNvSpPr/>
          <p:nvPr/>
        </p:nvSpPr>
        <p:spPr>
          <a:xfrm>
            <a:off x="8138160" y="2011680"/>
            <a:ext cx="3657600" cy="384048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194560"/>
            <a:ext cx="3108960" cy="457200"/>
          </a:xfrm>
          <a:prstGeom prst="rect">
            <a:avLst/>
          </a:prstGeom>
          <a:noFill/>
        </p:spPr>
        <p:txBody>
          <a:bodyPr wrap="square">
            <a:spAutoFit/>
          </a:bodyPr>
          <a:lstStyle/>
          <a:p>
            <a:pPr algn="l">
              <a:defRPr sz="3600" b="0">
                <a:solidFill>
                  <a:srgbClr val="FFFFFF"/>
                </a:solidFill>
                <a:latin typeface="微软雅黑"/>
              </a:defRPr>
            </a:pPr>
            <a:r>
              <a:t>📊</a:t>
            </a:r>
          </a:p>
        </p:txBody>
      </p:sp>
      <p:sp>
        <p:nvSpPr>
          <p:cNvPr id="19" name="TextBox 18"/>
          <p:cNvSpPr txBox="1"/>
          <p:nvPr/>
        </p:nvSpPr>
        <p:spPr>
          <a:xfrm>
            <a:off x="8412480" y="2834640"/>
            <a:ext cx="3108960" cy="457200"/>
          </a:xfrm>
          <a:prstGeom prst="rect">
            <a:avLst/>
          </a:prstGeom>
          <a:noFill/>
        </p:spPr>
        <p:txBody>
          <a:bodyPr wrap="square">
            <a:spAutoFit/>
          </a:bodyPr>
          <a:lstStyle/>
          <a:p>
            <a:pPr algn="l">
              <a:defRPr sz="2400" b="1">
                <a:solidFill>
                  <a:srgbClr val="3B82F6"/>
                </a:solidFill>
                <a:latin typeface="微软雅黑"/>
              </a:defRPr>
            </a:pPr>
            <a:r>
              <a:t>数据驱动</a:t>
            </a:r>
          </a:p>
        </p:txBody>
      </p:sp>
      <p:sp>
        <p:nvSpPr>
          <p:cNvPr id="20" name="Rectangle 19"/>
          <p:cNvSpPr/>
          <p:nvPr/>
        </p:nvSpPr>
        <p:spPr>
          <a:xfrm>
            <a:off x="8412480" y="3383280"/>
            <a:ext cx="1371600" cy="1371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3657600"/>
            <a:ext cx="3108960" cy="1828800"/>
          </a:xfrm>
          <a:prstGeom prst="rect">
            <a:avLst/>
          </a:prstGeom>
          <a:noFill/>
        </p:spPr>
        <p:txBody>
          <a:bodyPr wrap="square">
            <a:spAutoFit/>
          </a:bodyPr>
          <a:lstStyle/>
          <a:p>
            <a:pPr algn="l">
              <a:spcAft>
                <a:spcPts val="400"/>
              </a:spcAft>
              <a:defRPr sz="1600" b="0">
                <a:solidFill>
                  <a:srgbClr val="9CA3AF"/>
                </a:solidFill>
                <a:latin typeface="微软雅黑"/>
              </a:defRPr>
            </a:pPr>
            <a:r>
              <a:t>安全管理数据结构化</a:t>
            </a:r>
          </a:p>
          <a:p>
            <a:pPr algn="l">
              <a:spcAft>
                <a:spcPts val="400"/>
              </a:spcAft>
              <a:defRPr sz="1600" b="0">
                <a:solidFill>
                  <a:srgbClr val="9CA3AF"/>
                </a:solidFill>
                <a:latin typeface="微软雅黑"/>
              </a:defRPr>
            </a:pPr>
            <a:r>
              <a:t>分析人员行为</a:t>
            </a:r>
          </a:p>
          <a:p>
            <a:pPr algn="l">
              <a:spcAft>
                <a:spcPts val="400"/>
              </a:spcAft>
              <a:defRPr sz="1600" b="0">
                <a:solidFill>
                  <a:srgbClr val="9CA3AF"/>
                </a:solidFill>
                <a:latin typeface="微软雅黑"/>
              </a:defRPr>
            </a:pPr>
            <a:r>
              <a:t>辅助管理决策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3B82F6"/>
                </a:solidFill>
                <a:latin typeface="微软雅黑"/>
              </a:defRPr>
            </a:pPr>
            <a:r>
              <a:t>CHAPTER 02</a:t>
            </a:r>
          </a:p>
        </p:txBody>
      </p:sp>
      <p:sp>
        <p:nvSpPr>
          <p:cNvPr id="5" name="Rectangle 4"/>
          <p:cNvSpPr/>
          <p:nvPr/>
        </p:nvSpPr>
        <p:spPr>
          <a:xfrm>
            <a:off x="0" y="5669280"/>
            <a:ext cx="12191695" cy="11887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FFFFFF"/>
                </a:solidFill>
                <a:latin typeface="微软雅黑"/>
              </a:defRPr>
            </a:pPr>
            <a:r>
              <a:t>整体规划框架</a:t>
            </a:r>
          </a:p>
        </p:txBody>
      </p:sp>
      <p:sp>
        <p:nvSpPr>
          <p:cNvPr id="7" name="Rectangle 6"/>
          <p:cNvSpPr/>
          <p:nvPr/>
        </p:nvSpPr>
        <p:spPr>
          <a:xfrm>
            <a:off x="45720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9CA3AF"/>
                </a:solidFill>
                <a:latin typeface="微软雅黑"/>
              </a:defRPr>
            </a:pPr>
            <a:r>
              <a:t>三大方向 · "看得到 管得牢 用得优"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07 / 21</a:t>
            </a:r>
          </a:p>
        </p:txBody>
      </p:sp>
      <p:sp>
        <p:nvSpPr>
          <p:cNvPr id="5" name="TextBox 4"/>
          <p:cNvSpPr txBox="1"/>
          <p:nvPr/>
        </p:nvSpPr>
        <p:spPr>
          <a:xfrm>
            <a:off x="457200" y="731520"/>
            <a:ext cx="11430000" cy="731520"/>
          </a:xfrm>
          <a:prstGeom prst="rect">
            <a:avLst/>
          </a:prstGeom>
          <a:noFill/>
        </p:spPr>
        <p:txBody>
          <a:bodyPr wrap="square">
            <a:spAutoFit/>
          </a:bodyPr>
          <a:lstStyle/>
          <a:p>
            <a:pPr algn="l">
              <a:defRPr sz="3600" b="1">
                <a:solidFill>
                  <a:srgbClr val="FFFFFF"/>
                </a:solidFill>
                <a:latin typeface="微软雅黑"/>
              </a:defRPr>
            </a:pPr>
            <a:r>
              <a:t>一屏观全行 · 一网管全行</a:t>
            </a:r>
          </a:p>
        </p:txBody>
      </p:sp>
      <p:sp>
        <p:nvSpPr>
          <p:cNvPr id="6" name="Rectangle 5"/>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2011680"/>
            <a:ext cx="3657600" cy="41148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2926080" cy="731520"/>
          </a:xfrm>
          <a:prstGeom prst="rect">
            <a:avLst/>
          </a:prstGeom>
          <a:noFill/>
        </p:spPr>
        <p:txBody>
          <a:bodyPr wrap="square">
            <a:spAutoFit/>
          </a:bodyPr>
          <a:lstStyle/>
          <a:p>
            <a:pPr algn="l">
              <a:defRPr sz="4800" b="1">
                <a:solidFill>
                  <a:srgbClr val="3B82F6"/>
                </a:solidFill>
                <a:latin typeface="微软雅黑"/>
              </a:defRPr>
            </a:pPr>
            <a:r>
              <a:t>看</a:t>
            </a:r>
          </a:p>
        </p:txBody>
      </p:sp>
      <p:sp>
        <p:nvSpPr>
          <p:cNvPr id="9" name="TextBox 8"/>
          <p:cNvSpPr txBox="1"/>
          <p:nvPr/>
        </p:nvSpPr>
        <p:spPr>
          <a:xfrm>
            <a:off x="822960" y="3108960"/>
            <a:ext cx="2926080" cy="365760"/>
          </a:xfrm>
          <a:prstGeom prst="rect">
            <a:avLst/>
          </a:prstGeom>
          <a:noFill/>
        </p:spPr>
        <p:txBody>
          <a:bodyPr wrap="square">
            <a:spAutoFit/>
          </a:bodyPr>
          <a:lstStyle/>
          <a:p>
            <a:pPr algn="l">
              <a:defRPr sz="1600" b="1">
                <a:solidFill>
                  <a:srgbClr val="60A5FA"/>
                </a:solidFill>
                <a:latin typeface="微软雅黑"/>
              </a:defRPr>
            </a:pPr>
            <a:r>
              <a:t>3个突破</a:t>
            </a:r>
          </a:p>
        </p:txBody>
      </p:sp>
      <p:sp>
        <p:nvSpPr>
          <p:cNvPr id="10" name="Rectangle 9"/>
          <p:cNvSpPr/>
          <p:nvPr/>
        </p:nvSpPr>
        <p:spPr>
          <a:xfrm>
            <a:off x="822960" y="3566160"/>
            <a:ext cx="1371600" cy="1371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840480"/>
            <a:ext cx="2926080" cy="365760"/>
          </a:xfrm>
          <a:prstGeom prst="rect">
            <a:avLst/>
          </a:prstGeom>
          <a:noFill/>
        </p:spPr>
        <p:txBody>
          <a:bodyPr wrap="square">
            <a:spAutoFit/>
          </a:bodyPr>
          <a:lstStyle/>
          <a:p>
            <a:pPr algn="l">
              <a:defRPr sz="1400" b="0">
                <a:solidFill>
                  <a:srgbClr val="9CA3AF"/>
                </a:solidFill>
                <a:latin typeface="微软雅黑"/>
              </a:defRPr>
            </a:pPr>
            <a:r>
              <a:t>▸ 专网建设取得突破</a:t>
            </a:r>
          </a:p>
        </p:txBody>
      </p:sp>
      <p:sp>
        <p:nvSpPr>
          <p:cNvPr id="12" name="TextBox 11"/>
          <p:cNvSpPr txBox="1"/>
          <p:nvPr/>
        </p:nvSpPr>
        <p:spPr>
          <a:xfrm>
            <a:off x="822960" y="4297680"/>
            <a:ext cx="2926080" cy="365760"/>
          </a:xfrm>
          <a:prstGeom prst="rect">
            <a:avLst/>
          </a:prstGeom>
          <a:noFill/>
        </p:spPr>
        <p:txBody>
          <a:bodyPr wrap="square">
            <a:spAutoFit/>
          </a:bodyPr>
          <a:lstStyle/>
          <a:p>
            <a:pPr algn="l">
              <a:defRPr sz="1400" b="0">
                <a:solidFill>
                  <a:srgbClr val="9CA3AF"/>
                </a:solidFill>
                <a:latin typeface="微软雅黑"/>
              </a:defRPr>
            </a:pPr>
            <a:r>
              <a:t>▸ 系统整合取得突破</a:t>
            </a:r>
          </a:p>
        </p:txBody>
      </p:sp>
      <p:sp>
        <p:nvSpPr>
          <p:cNvPr id="13" name="TextBox 12"/>
          <p:cNvSpPr txBox="1"/>
          <p:nvPr/>
        </p:nvSpPr>
        <p:spPr>
          <a:xfrm>
            <a:off x="822960" y="4754880"/>
            <a:ext cx="2926080" cy="365760"/>
          </a:xfrm>
          <a:prstGeom prst="rect">
            <a:avLst/>
          </a:prstGeom>
          <a:noFill/>
        </p:spPr>
        <p:txBody>
          <a:bodyPr wrap="square">
            <a:spAutoFit/>
          </a:bodyPr>
          <a:lstStyle/>
          <a:p>
            <a:pPr algn="l">
              <a:defRPr sz="1400" b="0">
                <a:solidFill>
                  <a:srgbClr val="9CA3AF"/>
                </a:solidFill>
                <a:latin typeface="微软雅黑"/>
              </a:defRPr>
            </a:pPr>
            <a:r>
              <a:t>▸ 数智化监测取得突破</a:t>
            </a:r>
          </a:p>
        </p:txBody>
      </p:sp>
      <p:sp>
        <p:nvSpPr>
          <p:cNvPr id="14" name="Rounded Rectangle 13"/>
          <p:cNvSpPr/>
          <p:nvPr/>
        </p:nvSpPr>
        <p:spPr>
          <a:xfrm>
            <a:off x="4297680" y="2011680"/>
            <a:ext cx="3657600" cy="41148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194560"/>
            <a:ext cx="2926080" cy="731520"/>
          </a:xfrm>
          <a:prstGeom prst="rect">
            <a:avLst/>
          </a:prstGeom>
          <a:noFill/>
        </p:spPr>
        <p:txBody>
          <a:bodyPr wrap="square">
            <a:spAutoFit/>
          </a:bodyPr>
          <a:lstStyle/>
          <a:p>
            <a:pPr algn="l">
              <a:defRPr sz="4800" b="1">
                <a:solidFill>
                  <a:srgbClr val="3B82F6"/>
                </a:solidFill>
                <a:latin typeface="微软雅黑"/>
              </a:defRPr>
            </a:pPr>
            <a:r>
              <a:t>管</a:t>
            </a:r>
          </a:p>
        </p:txBody>
      </p:sp>
      <p:sp>
        <p:nvSpPr>
          <p:cNvPr id="16" name="TextBox 15"/>
          <p:cNvSpPr txBox="1"/>
          <p:nvPr/>
        </p:nvSpPr>
        <p:spPr>
          <a:xfrm>
            <a:off x="4663440" y="3108960"/>
            <a:ext cx="2926080" cy="365760"/>
          </a:xfrm>
          <a:prstGeom prst="rect">
            <a:avLst/>
          </a:prstGeom>
          <a:noFill/>
        </p:spPr>
        <p:txBody>
          <a:bodyPr wrap="square">
            <a:spAutoFit/>
          </a:bodyPr>
          <a:lstStyle/>
          <a:p>
            <a:pPr algn="l">
              <a:defRPr sz="1600" b="1">
                <a:solidFill>
                  <a:srgbClr val="60A5FA"/>
                </a:solidFill>
                <a:latin typeface="微软雅黑"/>
              </a:defRPr>
            </a:pPr>
            <a:r>
              <a:t>3个创新</a:t>
            </a:r>
          </a:p>
        </p:txBody>
      </p:sp>
      <p:sp>
        <p:nvSpPr>
          <p:cNvPr id="17" name="Rectangle 16"/>
          <p:cNvSpPr/>
          <p:nvPr/>
        </p:nvSpPr>
        <p:spPr>
          <a:xfrm>
            <a:off x="4663440" y="3566160"/>
            <a:ext cx="1371600" cy="1371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840480"/>
            <a:ext cx="2926080" cy="365760"/>
          </a:xfrm>
          <a:prstGeom prst="rect">
            <a:avLst/>
          </a:prstGeom>
          <a:noFill/>
        </p:spPr>
        <p:txBody>
          <a:bodyPr wrap="square">
            <a:spAutoFit/>
          </a:bodyPr>
          <a:lstStyle/>
          <a:p>
            <a:pPr algn="l">
              <a:defRPr sz="1400" b="0">
                <a:solidFill>
                  <a:srgbClr val="9CA3AF"/>
                </a:solidFill>
                <a:latin typeface="微软雅黑"/>
              </a:defRPr>
            </a:pPr>
            <a:r>
              <a:t>▸ 数智化全流程闭环管理</a:t>
            </a:r>
          </a:p>
        </p:txBody>
      </p:sp>
      <p:sp>
        <p:nvSpPr>
          <p:cNvPr id="19" name="TextBox 18"/>
          <p:cNvSpPr txBox="1"/>
          <p:nvPr/>
        </p:nvSpPr>
        <p:spPr>
          <a:xfrm>
            <a:off x="4663440" y="4297680"/>
            <a:ext cx="2926080" cy="365760"/>
          </a:xfrm>
          <a:prstGeom prst="rect">
            <a:avLst/>
          </a:prstGeom>
          <a:noFill/>
        </p:spPr>
        <p:txBody>
          <a:bodyPr wrap="square">
            <a:spAutoFit/>
          </a:bodyPr>
          <a:lstStyle/>
          <a:p>
            <a:pPr algn="l">
              <a:defRPr sz="1400" b="0">
                <a:solidFill>
                  <a:srgbClr val="9CA3AF"/>
                </a:solidFill>
                <a:latin typeface="微软雅黑"/>
              </a:defRPr>
            </a:pPr>
            <a:r>
              <a:t>▸ 全员安防线上履职APP</a:t>
            </a:r>
          </a:p>
        </p:txBody>
      </p:sp>
      <p:sp>
        <p:nvSpPr>
          <p:cNvPr id="20" name="TextBox 19"/>
          <p:cNvSpPr txBox="1"/>
          <p:nvPr/>
        </p:nvSpPr>
        <p:spPr>
          <a:xfrm>
            <a:off x="4663440" y="4754880"/>
            <a:ext cx="2926080" cy="365760"/>
          </a:xfrm>
          <a:prstGeom prst="rect">
            <a:avLst/>
          </a:prstGeom>
          <a:noFill/>
        </p:spPr>
        <p:txBody>
          <a:bodyPr wrap="square">
            <a:spAutoFit/>
          </a:bodyPr>
          <a:lstStyle/>
          <a:p>
            <a:pPr algn="l">
              <a:defRPr sz="1400" b="0">
                <a:solidFill>
                  <a:srgbClr val="9CA3AF"/>
                </a:solidFill>
                <a:latin typeface="微软雅黑"/>
              </a:defRPr>
            </a:pPr>
            <a:r>
              <a:t>▸ 安全生产数字画像</a:t>
            </a:r>
          </a:p>
        </p:txBody>
      </p:sp>
      <p:sp>
        <p:nvSpPr>
          <p:cNvPr id="21" name="Rounded Rectangle 20"/>
          <p:cNvSpPr/>
          <p:nvPr/>
        </p:nvSpPr>
        <p:spPr>
          <a:xfrm>
            <a:off x="8138160" y="2011680"/>
            <a:ext cx="3657600" cy="41148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2194560"/>
            <a:ext cx="2926080" cy="731520"/>
          </a:xfrm>
          <a:prstGeom prst="rect">
            <a:avLst/>
          </a:prstGeom>
          <a:noFill/>
        </p:spPr>
        <p:txBody>
          <a:bodyPr wrap="square">
            <a:spAutoFit/>
          </a:bodyPr>
          <a:lstStyle/>
          <a:p>
            <a:pPr algn="l">
              <a:defRPr sz="4800" b="1">
                <a:solidFill>
                  <a:srgbClr val="3B82F6"/>
                </a:solidFill>
                <a:latin typeface="微软雅黑"/>
              </a:defRPr>
            </a:pPr>
            <a:r>
              <a:t>用</a:t>
            </a:r>
          </a:p>
        </p:txBody>
      </p:sp>
      <p:sp>
        <p:nvSpPr>
          <p:cNvPr id="23" name="TextBox 22"/>
          <p:cNvSpPr txBox="1"/>
          <p:nvPr/>
        </p:nvSpPr>
        <p:spPr>
          <a:xfrm>
            <a:off x="8503920" y="3108960"/>
            <a:ext cx="2926080" cy="365760"/>
          </a:xfrm>
          <a:prstGeom prst="rect">
            <a:avLst/>
          </a:prstGeom>
          <a:noFill/>
        </p:spPr>
        <p:txBody>
          <a:bodyPr wrap="square">
            <a:spAutoFit/>
          </a:bodyPr>
          <a:lstStyle/>
          <a:p>
            <a:pPr algn="l">
              <a:defRPr sz="1600" b="1">
                <a:solidFill>
                  <a:srgbClr val="60A5FA"/>
                </a:solidFill>
                <a:latin typeface="微软雅黑"/>
              </a:defRPr>
            </a:pPr>
            <a:r>
              <a:t>2个探索</a:t>
            </a:r>
          </a:p>
        </p:txBody>
      </p:sp>
      <p:sp>
        <p:nvSpPr>
          <p:cNvPr id="24" name="Rectangle 23"/>
          <p:cNvSpPr/>
          <p:nvPr/>
        </p:nvSpPr>
        <p:spPr>
          <a:xfrm>
            <a:off x="8503920" y="3566160"/>
            <a:ext cx="1371600" cy="1371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0" y="3840480"/>
            <a:ext cx="2926080" cy="365760"/>
          </a:xfrm>
          <a:prstGeom prst="rect">
            <a:avLst/>
          </a:prstGeom>
          <a:noFill/>
        </p:spPr>
        <p:txBody>
          <a:bodyPr wrap="square">
            <a:spAutoFit/>
          </a:bodyPr>
          <a:lstStyle/>
          <a:p>
            <a:pPr algn="l">
              <a:defRPr sz="1400" b="0">
                <a:solidFill>
                  <a:srgbClr val="9CA3AF"/>
                </a:solidFill>
                <a:latin typeface="微软雅黑"/>
              </a:defRPr>
            </a:pPr>
            <a:r>
              <a:t>▸ AI模型业务横向经营赋能</a:t>
            </a:r>
          </a:p>
        </p:txBody>
      </p:sp>
      <p:sp>
        <p:nvSpPr>
          <p:cNvPr id="26" name="TextBox 25"/>
          <p:cNvSpPr txBox="1"/>
          <p:nvPr/>
        </p:nvSpPr>
        <p:spPr>
          <a:xfrm>
            <a:off x="8503920" y="4297680"/>
            <a:ext cx="2926080" cy="365760"/>
          </a:xfrm>
          <a:prstGeom prst="rect">
            <a:avLst/>
          </a:prstGeom>
          <a:noFill/>
        </p:spPr>
        <p:txBody>
          <a:bodyPr wrap="square">
            <a:spAutoFit/>
          </a:bodyPr>
          <a:lstStyle/>
          <a:p>
            <a:pPr algn="l">
              <a:defRPr sz="1400" b="0">
                <a:solidFill>
                  <a:srgbClr val="9CA3AF"/>
                </a:solidFill>
                <a:latin typeface="微软雅黑"/>
              </a:defRPr>
            </a:pPr>
            <a:r>
              <a:t>▸ AI模型基层纵向履职赋能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3B82F6"/>
                </a:solidFill>
                <a:latin typeface="微软雅黑"/>
              </a:defRPr>
            </a:pPr>
            <a:r>
              <a:t>CHAPTER 03</a:t>
            </a:r>
          </a:p>
        </p:txBody>
      </p:sp>
      <p:sp>
        <p:nvSpPr>
          <p:cNvPr id="5" name="Rectangle 4"/>
          <p:cNvSpPr/>
          <p:nvPr/>
        </p:nvSpPr>
        <p:spPr>
          <a:xfrm>
            <a:off x="0" y="5669280"/>
            <a:ext cx="12191695" cy="11887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FFFFFF"/>
                </a:solidFill>
                <a:latin typeface="微软雅黑"/>
              </a:defRPr>
            </a:pPr>
            <a:r>
              <a:t>核心实践成果</a:t>
            </a:r>
          </a:p>
        </p:txBody>
      </p:sp>
      <p:sp>
        <p:nvSpPr>
          <p:cNvPr id="7" name="Rectangle 6"/>
          <p:cNvSpPr/>
          <p:nvPr/>
        </p:nvSpPr>
        <p:spPr>
          <a:xfrm>
            <a:off x="45720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9CA3AF"/>
                </a:solidFill>
                <a:latin typeface="微软雅黑"/>
              </a:defRPr>
            </a:pPr>
            <a:r>
              <a:t>三大板块 · 全面落地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09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板块一 看得到·看得清·看得全</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1、业内率先实现上海地区安防专网全覆盖，实现监控中心的“多场所”。</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011680"/>
            <a:ext cx="11277295" cy="11887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731520" cy="548640"/>
          </a:xfrm>
          <a:prstGeom prst="rect">
            <a:avLst/>
          </a:prstGeom>
          <a:noFill/>
        </p:spPr>
        <p:txBody>
          <a:bodyPr wrap="square">
            <a:spAutoFit/>
          </a:bodyPr>
          <a:lstStyle/>
          <a:p>
            <a:pPr algn="l">
              <a:defRPr sz="2800" b="1">
                <a:solidFill>
                  <a:srgbClr val="3B82F6"/>
                </a:solidFill>
                <a:latin typeface="微软雅黑"/>
              </a:defRPr>
            </a:pPr>
            <a:r>
              <a:t>01</a:t>
            </a:r>
          </a:p>
        </p:txBody>
      </p:sp>
      <p:sp>
        <p:nvSpPr>
          <p:cNvPr id="10" name="TextBox 9"/>
          <p:cNvSpPr txBox="1"/>
          <p:nvPr/>
        </p:nvSpPr>
        <p:spPr>
          <a:xfrm>
            <a:off x="1645920" y="2194560"/>
            <a:ext cx="9601200" cy="548640"/>
          </a:xfrm>
          <a:prstGeom prst="rect">
            <a:avLst/>
          </a:prstGeom>
          <a:noFill/>
        </p:spPr>
        <p:txBody>
          <a:bodyPr wrap="square">
            <a:spAutoFit/>
          </a:bodyPr>
          <a:lstStyle/>
          <a:p>
            <a:pPr algn="l">
              <a:defRPr sz="2000" b="0">
                <a:solidFill>
                  <a:srgbClr val="FFFFFF"/>
                </a:solidFill>
                <a:latin typeface="微软雅黑"/>
              </a:defRPr>
            </a:pPr>
            <a:r>
              <a:t>业内率先实现上海地区安防专网全覆盖，实现监控中心的“多场所”。</a:t>
            </a:r>
          </a:p>
        </p:txBody>
      </p:sp>
      <p:sp>
        <p:nvSpPr>
          <p:cNvPr id="11" name="TextBox 10"/>
          <p:cNvSpPr txBox="1"/>
          <p:nvPr/>
        </p:nvSpPr>
        <p:spPr>
          <a:xfrm>
            <a:off x="11430000" y="2423160"/>
            <a:ext cx="457200" cy="274320"/>
          </a:xfrm>
          <a:prstGeom prst="rect">
            <a:avLst/>
          </a:prstGeom>
          <a:noFill/>
        </p:spPr>
        <p:txBody>
          <a:bodyPr wrap="square">
            <a:spAutoFit/>
          </a:bodyPr>
          <a:lstStyle/>
          <a:p>
            <a:pPr algn="r">
              <a:defRPr sz="1200" b="0">
                <a:solidFill>
                  <a:srgbClr val="9CA3AF"/>
                </a:solidFill>
                <a:latin typeface="微软雅黑"/>
              </a:defRPr>
            </a:pPr>
          </a:p>
        </p:txBody>
      </p:sp>
      <p:sp>
        <p:nvSpPr>
          <p:cNvPr id="12" name="Rounded Rectangle 11"/>
          <p:cNvSpPr/>
          <p:nvPr/>
        </p:nvSpPr>
        <p:spPr>
          <a:xfrm>
            <a:off x="457200" y="3383280"/>
            <a:ext cx="11277295" cy="11887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520440"/>
            <a:ext cx="731520" cy="548640"/>
          </a:xfrm>
          <a:prstGeom prst="rect">
            <a:avLst/>
          </a:prstGeom>
          <a:noFill/>
        </p:spPr>
        <p:txBody>
          <a:bodyPr wrap="square">
            <a:spAutoFit/>
          </a:bodyPr>
          <a:lstStyle/>
          <a:p>
            <a:pPr algn="l">
              <a:defRPr sz="2800" b="1">
                <a:solidFill>
                  <a:srgbClr val="3B82F6"/>
                </a:solidFill>
                <a:latin typeface="微软雅黑"/>
              </a:defRPr>
            </a:pPr>
            <a:r>
              <a:t>02</a:t>
            </a:r>
          </a:p>
        </p:txBody>
      </p:sp>
      <p:sp>
        <p:nvSpPr>
          <p:cNvPr id="14" name="TextBox 13"/>
          <p:cNvSpPr txBox="1"/>
          <p:nvPr/>
        </p:nvSpPr>
        <p:spPr>
          <a:xfrm>
            <a:off x="1645920" y="3566160"/>
            <a:ext cx="9601200" cy="548640"/>
          </a:xfrm>
          <a:prstGeom prst="rect">
            <a:avLst/>
          </a:prstGeom>
          <a:noFill/>
        </p:spPr>
        <p:txBody>
          <a:bodyPr wrap="square">
            <a:spAutoFit/>
          </a:bodyPr>
          <a:lstStyle/>
          <a:p>
            <a:pPr algn="l">
              <a:defRPr sz="2000" b="0">
                <a:solidFill>
                  <a:srgbClr val="FFFFFF"/>
                </a:solidFill>
                <a:latin typeface="微软雅黑"/>
              </a:defRPr>
            </a:pPr>
            <a:r>
              <a:t>业内首家对办公场所、重控场所的重点部位24小时监测，如燃气阀门等，发现问题实时通知整改。</a:t>
            </a:r>
          </a:p>
        </p:txBody>
      </p:sp>
      <p:sp>
        <p:nvSpPr>
          <p:cNvPr id="15" name="TextBox 14"/>
          <p:cNvSpPr txBox="1"/>
          <p:nvPr/>
        </p:nvSpPr>
        <p:spPr>
          <a:xfrm>
            <a:off x="11430000" y="3794760"/>
            <a:ext cx="457200" cy="274320"/>
          </a:xfrm>
          <a:prstGeom prst="rect">
            <a:avLst/>
          </a:prstGeom>
          <a:noFill/>
        </p:spPr>
        <p:txBody>
          <a:bodyPr wrap="square">
            <a:spAutoFit/>
          </a:bodyPr>
          <a:lstStyle/>
          <a:p>
            <a:pPr algn="r">
              <a:defRPr sz="1200" b="0">
                <a:solidFill>
                  <a:srgbClr val="9CA3AF"/>
                </a:solidFill>
                <a:latin typeface="微软雅黑"/>
              </a:defRPr>
            </a:pPr>
          </a:p>
        </p:txBody>
      </p:sp>
      <p:sp>
        <p:nvSpPr>
          <p:cNvPr id="16" name="Rounded Rectangle 15"/>
          <p:cNvSpPr/>
          <p:nvPr/>
        </p:nvSpPr>
        <p:spPr>
          <a:xfrm>
            <a:off x="457200" y="4754880"/>
            <a:ext cx="11277295" cy="11887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92040"/>
            <a:ext cx="731520" cy="548640"/>
          </a:xfrm>
          <a:prstGeom prst="rect">
            <a:avLst/>
          </a:prstGeom>
          <a:noFill/>
        </p:spPr>
        <p:txBody>
          <a:bodyPr wrap="square">
            <a:spAutoFit/>
          </a:bodyPr>
          <a:lstStyle/>
          <a:p>
            <a:pPr algn="l">
              <a:defRPr sz="2800" b="1">
                <a:solidFill>
                  <a:srgbClr val="3B82F6"/>
                </a:solidFill>
                <a:latin typeface="微软雅黑"/>
              </a:defRPr>
            </a:pPr>
            <a:r>
              <a:t>03</a:t>
            </a:r>
          </a:p>
        </p:txBody>
      </p:sp>
      <p:sp>
        <p:nvSpPr>
          <p:cNvPr id="18" name="TextBox 17"/>
          <p:cNvSpPr txBox="1"/>
          <p:nvPr/>
        </p:nvSpPr>
        <p:spPr>
          <a:xfrm>
            <a:off x="1645920" y="4937760"/>
            <a:ext cx="9601200" cy="548640"/>
          </a:xfrm>
          <a:prstGeom prst="rect">
            <a:avLst/>
          </a:prstGeom>
          <a:noFill/>
        </p:spPr>
        <p:txBody>
          <a:bodyPr wrap="square">
            <a:spAutoFit/>
          </a:bodyPr>
          <a:lstStyle/>
          <a:p>
            <a:pPr algn="l">
              <a:defRPr sz="2000" b="0">
                <a:solidFill>
                  <a:srgbClr val="FFFFFF"/>
                </a:solidFill>
                <a:latin typeface="微软雅黑"/>
              </a:defRPr>
            </a:pPr>
            <a:r>
              <a:t>搭建业内首个网络安全管理平台，实现安防设备在线准入、预防外部攻击、隔离内部网络侵袭、扫描系统漏洞、监测网络稳定性、入侵预警6大功能的监测模型。</a:t>
            </a:r>
          </a:p>
        </p:txBody>
      </p:sp>
      <p:sp>
        <p:nvSpPr>
          <p:cNvPr id="19" name="Rectangle 18"/>
          <p:cNvSpPr/>
          <p:nvPr/>
        </p:nvSpPr>
        <p:spPr>
          <a:xfrm>
            <a:off x="0" y="5669280"/>
            <a:ext cx="12191695" cy="11887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760720"/>
            <a:ext cx="914400" cy="274320"/>
          </a:xfrm>
          <a:prstGeom prst="rect">
            <a:avLst/>
          </a:prstGeom>
          <a:noFill/>
        </p:spPr>
        <p:txBody>
          <a:bodyPr wrap="square">
            <a:spAutoFit/>
          </a:bodyPr>
          <a:lstStyle/>
          <a:p>
            <a:pPr algn="l">
              <a:defRPr sz="1000" b="1">
                <a:solidFill>
                  <a:srgbClr val="3B82F6"/>
                </a:solidFill>
                <a:latin typeface="微软雅黑"/>
              </a:defRPr>
            </a:pPr>
            <a:r>
              <a:t>旁白</a:t>
            </a:r>
          </a:p>
        </p:txBody>
      </p:sp>
      <p:sp>
        <p:nvSpPr>
          <p:cNvPr id="21" name="TextBox 20"/>
          <p:cNvSpPr txBox="1"/>
          <p:nvPr/>
        </p:nvSpPr>
        <p:spPr>
          <a:xfrm>
            <a:off x="1371600" y="5760720"/>
            <a:ext cx="10332720" cy="548640"/>
          </a:xfrm>
          <a:prstGeom prst="rect">
            <a:avLst/>
          </a:prstGeom>
          <a:noFill/>
        </p:spPr>
        <p:txBody>
          <a:bodyPr wrap="square">
            <a:spAutoFit/>
          </a:bodyPr>
          <a:lstStyle/>
          <a:p>
            <a:pPr algn="l">
              <a:defRPr sz="1300" b="0">
                <a:solidFill>
                  <a:srgbClr val="9CA3AF"/>
                </a:solidFill>
                <a:latin typeface="微软雅黑"/>
              </a:defRPr>
            </a:pPr>
            <a:r>
              <a:t>专网建设取得突破，夯实硬件基础，实现“看得到”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10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板块一 看得到·看得清·看得全</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1、预警信息看得清，建立消防云平台，消防设施感知与视频联动。</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011680"/>
            <a:ext cx="11277295" cy="11887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731520" cy="548640"/>
          </a:xfrm>
          <a:prstGeom prst="rect">
            <a:avLst/>
          </a:prstGeom>
          <a:noFill/>
        </p:spPr>
        <p:txBody>
          <a:bodyPr wrap="square">
            <a:spAutoFit/>
          </a:bodyPr>
          <a:lstStyle/>
          <a:p>
            <a:pPr algn="l">
              <a:defRPr sz="2800" b="1">
                <a:solidFill>
                  <a:srgbClr val="3B82F6"/>
                </a:solidFill>
                <a:latin typeface="微软雅黑"/>
              </a:defRPr>
            </a:pPr>
            <a:r>
              <a:t>01</a:t>
            </a:r>
          </a:p>
        </p:txBody>
      </p:sp>
      <p:sp>
        <p:nvSpPr>
          <p:cNvPr id="10" name="TextBox 9"/>
          <p:cNvSpPr txBox="1"/>
          <p:nvPr/>
        </p:nvSpPr>
        <p:spPr>
          <a:xfrm>
            <a:off x="1645920" y="2194560"/>
            <a:ext cx="9601200" cy="548640"/>
          </a:xfrm>
          <a:prstGeom prst="rect">
            <a:avLst/>
          </a:prstGeom>
          <a:noFill/>
        </p:spPr>
        <p:txBody>
          <a:bodyPr wrap="square">
            <a:spAutoFit/>
          </a:bodyPr>
          <a:lstStyle/>
          <a:p>
            <a:pPr algn="l">
              <a:defRPr sz="2000" b="0">
                <a:solidFill>
                  <a:srgbClr val="FFFFFF"/>
                </a:solidFill>
                <a:latin typeface="微软雅黑"/>
              </a:defRPr>
            </a:pPr>
            <a:r>
              <a:t>预警信息看得清，建立消防云平台，消防设施感知与视频联动。</a:t>
            </a:r>
          </a:p>
        </p:txBody>
      </p:sp>
      <p:sp>
        <p:nvSpPr>
          <p:cNvPr id="11" name="TextBox 10"/>
          <p:cNvSpPr txBox="1"/>
          <p:nvPr/>
        </p:nvSpPr>
        <p:spPr>
          <a:xfrm>
            <a:off x="11430000" y="2423160"/>
            <a:ext cx="457200" cy="274320"/>
          </a:xfrm>
          <a:prstGeom prst="rect">
            <a:avLst/>
          </a:prstGeom>
          <a:noFill/>
        </p:spPr>
        <p:txBody>
          <a:bodyPr wrap="square">
            <a:spAutoFit/>
          </a:bodyPr>
          <a:lstStyle/>
          <a:p>
            <a:pPr algn="r">
              <a:defRPr sz="1200" b="0">
                <a:solidFill>
                  <a:srgbClr val="9CA3AF"/>
                </a:solidFill>
                <a:latin typeface="微软雅黑"/>
              </a:defRPr>
            </a:pPr>
          </a:p>
        </p:txBody>
      </p:sp>
      <p:sp>
        <p:nvSpPr>
          <p:cNvPr id="12" name="Rounded Rectangle 11"/>
          <p:cNvSpPr/>
          <p:nvPr/>
        </p:nvSpPr>
        <p:spPr>
          <a:xfrm>
            <a:off x="457200" y="3383280"/>
            <a:ext cx="11277295" cy="11887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520440"/>
            <a:ext cx="731520" cy="548640"/>
          </a:xfrm>
          <a:prstGeom prst="rect">
            <a:avLst/>
          </a:prstGeom>
          <a:noFill/>
        </p:spPr>
        <p:txBody>
          <a:bodyPr wrap="square">
            <a:spAutoFit/>
          </a:bodyPr>
          <a:lstStyle/>
          <a:p>
            <a:pPr algn="l">
              <a:defRPr sz="2800" b="1">
                <a:solidFill>
                  <a:srgbClr val="3B82F6"/>
                </a:solidFill>
                <a:latin typeface="微软雅黑"/>
              </a:defRPr>
            </a:pPr>
            <a:r>
              <a:t>02</a:t>
            </a:r>
          </a:p>
        </p:txBody>
      </p:sp>
      <p:sp>
        <p:nvSpPr>
          <p:cNvPr id="14" name="TextBox 13"/>
          <p:cNvSpPr txBox="1"/>
          <p:nvPr/>
        </p:nvSpPr>
        <p:spPr>
          <a:xfrm>
            <a:off x="1645920" y="3566160"/>
            <a:ext cx="9601200" cy="548640"/>
          </a:xfrm>
          <a:prstGeom prst="rect">
            <a:avLst/>
          </a:prstGeom>
          <a:noFill/>
        </p:spPr>
        <p:txBody>
          <a:bodyPr wrap="square">
            <a:spAutoFit/>
          </a:bodyPr>
          <a:lstStyle/>
          <a:p>
            <a:pPr algn="l">
              <a:defRPr sz="2000" b="0">
                <a:solidFill>
                  <a:srgbClr val="FFFFFF"/>
                </a:solidFill>
                <a:latin typeface="微软雅黑"/>
              </a:defRPr>
            </a:pPr>
            <a:r>
              <a:t>管理手势看得清，建立智慧楼宇管理平台，实现总行本级办公楼宇可视化管理。</a:t>
            </a:r>
          </a:p>
        </p:txBody>
      </p:sp>
      <p:sp>
        <p:nvSpPr>
          <p:cNvPr id="15" name="TextBox 14"/>
          <p:cNvSpPr txBox="1"/>
          <p:nvPr/>
        </p:nvSpPr>
        <p:spPr>
          <a:xfrm>
            <a:off x="11430000" y="3794760"/>
            <a:ext cx="457200" cy="274320"/>
          </a:xfrm>
          <a:prstGeom prst="rect">
            <a:avLst/>
          </a:prstGeom>
          <a:noFill/>
        </p:spPr>
        <p:txBody>
          <a:bodyPr wrap="square">
            <a:spAutoFit/>
          </a:bodyPr>
          <a:lstStyle/>
          <a:p>
            <a:pPr algn="r">
              <a:defRPr sz="1200" b="0">
                <a:solidFill>
                  <a:srgbClr val="9CA3AF"/>
                </a:solidFill>
                <a:latin typeface="微软雅黑"/>
              </a:defRPr>
            </a:pPr>
          </a:p>
        </p:txBody>
      </p:sp>
      <p:sp>
        <p:nvSpPr>
          <p:cNvPr id="16" name="Rounded Rectangle 15"/>
          <p:cNvSpPr/>
          <p:nvPr/>
        </p:nvSpPr>
        <p:spPr>
          <a:xfrm>
            <a:off x="457200" y="4754880"/>
            <a:ext cx="11277295" cy="11887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92040"/>
            <a:ext cx="731520" cy="548640"/>
          </a:xfrm>
          <a:prstGeom prst="rect">
            <a:avLst/>
          </a:prstGeom>
          <a:noFill/>
        </p:spPr>
        <p:txBody>
          <a:bodyPr wrap="square">
            <a:spAutoFit/>
          </a:bodyPr>
          <a:lstStyle/>
          <a:p>
            <a:pPr algn="l">
              <a:defRPr sz="2800" b="1">
                <a:solidFill>
                  <a:srgbClr val="3B82F6"/>
                </a:solidFill>
                <a:latin typeface="微软雅黑"/>
              </a:defRPr>
            </a:pPr>
            <a:r>
              <a:t>03</a:t>
            </a:r>
          </a:p>
        </p:txBody>
      </p:sp>
      <p:sp>
        <p:nvSpPr>
          <p:cNvPr id="18" name="TextBox 17"/>
          <p:cNvSpPr txBox="1"/>
          <p:nvPr/>
        </p:nvSpPr>
        <p:spPr>
          <a:xfrm>
            <a:off x="1645920" y="4937760"/>
            <a:ext cx="9601200" cy="548640"/>
          </a:xfrm>
          <a:prstGeom prst="rect">
            <a:avLst/>
          </a:prstGeom>
          <a:noFill/>
        </p:spPr>
        <p:txBody>
          <a:bodyPr wrap="square">
            <a:spAutoFit/>
          </a:bodyPr>
          <a:lstStyle/>
          <a:p>
            <a:pPr algn="l">
              <a:defRPr sz="2000" b="0">
                <a:solidFill>
                  <a:srgbClr val="FFFFFF"/>
                </a:solidFill>
                <a:latin typeface="微软雅黑"/>
              </a:defRPr>
            </a:pPr>
            <a:r>
              <a:t>处置流程看得清，建设金库智能安防系统，实现金库安全数字化统一管理。</a:t>
            </a:r>
          </a:p>
        </p:txBody>
      </p:sp>
      <p:sp>
        <p:nvSpPr>
          <p:cNvPr id="19" name="Rectangle 18"/>
          <p:cNvSpPr/>
          <p:nvPr/>
        </p:nvSpPr>
        <p:spPr>
          <a:xfrm>
            <a:off x="0" y="5669280"/>
            <a:ext cx="12191695" cy="11887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760720"/>
            <a:ext cx="914400" cy="274320"/>
          </a:xfrm>
          <a:prstGeom prst="rect">
            <a:avLst/>
          </a:prstGeom>
          <a:noFill/>
        </p:spPr>
        <p:txBody>
          <a:bodyPr wrap="square">
            <a:spAutoFit/>
          </a:bodyPr>
          <a:lstStyle/>
          <a:p>
            <a:pPr algn="l">
              <a:defRPr sz="1000" b="1">
                <a:solidFill>
                  <a:srgbClr val="3B82F6"/>
                </a:solidFill>
                <a:latin typeface="微软雅黑"/>
              </a:defRPr>
            </a:pPr>
            <a:r>
              <a:t>旁白</a:t>
            </a:r>
          </a:p>
        </p:txBody>
      </p:sp>
      <p:sp>
        <p:nvSpPr>
          <p:cNvPr id="21" name="TextBox 20"/>
          <p:cNvSpPr txBox="1"/>
          <p:nvPr/>
        </p:nvSpPr>
        <p:spPr>
          <a:xfrm>
            <a:off x="1371600" y="5760720"/>
            <a:ext cx="10332720" cy="548640"/>
          </a:xfrm>
          <a:prstGeom prst="rect">
            <a:avLst/>
          </a:prstGeom>
          <a:noFill/>
        </p:spPr>
        <p:txBody>
          <a:bodyPr wrap="square">
            <a:spAutoFit/>
          </a:bodyPr>
          <a:lstStyle/>
          <a:p>
            <a:pPr algn="l">
              <a:defRPr sz="1300" b="0">
                <a:solidFill>
                  <a:srgbClr val="9CA3AF"/>
                </a:solidFill>
                <a:latin typeface="微软雅黑"/>
              </a:defRPr>
            </a:pPr>
            <a:r>
              <a:t>系统整合取得突破，打通信息孤岛，消防云平台、智慧楼宇管理平台（通行）、金库智能安防系统界面联动演示全场景态势实现可视化管理，实现“看得清”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11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板块一 看得到·看得清·看得全</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全域看得全，上线运行35类风险场景监测模型，包括接送库等8个监管要求场景监测，赋能绿营 5个场景、赋能安全生产 7个场景、赋能服务 15个场景。</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011680"/>
            <a:ext cx="11277295" cy="11887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731520" cy="548640"/>
          </a:xfrm>
          <a:prstGeom prst="rect">
            <a:avLst/>
          </a:prstGeom>
          <a:noFill/>
        </p:spPr>
        <p:txBody>
          <a:bodyPr wrap="square">
            <a:spAutoFit/>
          </a:bodyPr>
          <a:lstStyle/>
          <a:p>
            <a:pPr algn="l">
              <a:defRPr sz="2800" b="1">
                <a:solidFill>
                  <a:srgbClr val="3B82F6"/>
                </a:solidFill>
                <a:latin typeface="微软雅黑"/>
              </a:defRPr>
            </a:pPr>
            <a:r>
              <a:t>01</a:t>
            </a:r>
          </a:p>
        </p:txBody>
      </p:sp>
      <p:sp>
        <p:nvSpPr>
          <p:cNvPr id="10" name="TextBox 9"/>
          <p:cNvSpPr txBox="1"/>
          <p:nvPr/>
        </p:nvSpPr>
        <p:spPr>
          <a:xfrm>
            <a:off x="1645920" y="2194560"/>
            <a:ext cx="9601200" cy="548640"/>
          </a:xfrm>
          <a:prstGeom prst="rect">
            <a:avLst/>
          </a:prstGeom>
          <a:noFill/>
        </p:spPr>
        <p:txBody>
          <a:bodyPr wrap="square">
            <a:spAutoFit/>
          </a:bodyPr>
          <a:lstStyle/>
          <a:p>
            <a:pPr algn="l">
              <a:defRPr sz="2000" b="0">
                <a:solidFill>
                  <a:srgbClr val="FFFFFF"/>
                </a:solidFill>
                <a:latin typeface="微软雅黑"/>
              </a:defRPr>
            </a:pPr>
            <a:r>
              <a:t>全域看得全，上线运行35类风险场景监测模型，包括接送库等8个监管要求场景监测，赋能绿营 5个场景、赋能安全生产 7个场景、赋能服务 15个场景。</a:t>
            </a:r>
          </a:p>
        </p:txBody>
      </p:sp>
      <p:sp>
        <p:nvSpPr>
          <p:cNvPr id="11" name="Rectangle 10"/>
          <p:cNvSpPr/>
          <p:nvPr/>
        </p:nvSpPr>
        <p:spPr>
          <a:xfrm>
            <a:off x="0" y="5669280"/>
            <a:ext cx="12191695" cy="11887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5760720"/>
            <a:ext cx="914400" cy="274320"/>
          </a:xfrm>
          <a:prstGeom prst="rect">
            <a:avLst/>
          </a:prstGeom>
          <a:noFill/>
        </p:spPr>
        <p:txBody>
          <a:bodyPr wrap="square">
            <a:spAutoFit/>
          </a:bodyPr>
          <a:lstStyle/>
          <a:p>
            <a:pPr algn="l">
              <a:defRPr sz="1000" b="1">
                <a:solidFill>
                  <a:srgbClr val="3B82F6"/>
                </a:solidFill>
                <a:latin typeface="微软雅黑"/>
              </a:defRPr>
            </a:pPr>
            <a:r>
              <a:t>旁白</a:t>
            </a:r>
          </a:p>
        </p:txBody>
      </p:sp>
      <p:sp>
        <p:nvSpPr>
          <p:cNvPr id="13" name="TextBox 12"/>
          <p:cNvSpPr txBox="1"/>
          <p:nvPr/>
        </p:nvSpPr>
        <p:spPr>
          <a:xfrm>
            <a:off x="1371600" y="5760720"/>
            <a:ext cx="10332720" cy="548640"/>
          </a:xfrm>
          <a:prstGeom prst="rect">
            <a:avLst/>
          </a:prstGeom>
          <a:noFill/>
        </p:spPr>
        <p:txBody>
          <a:bodyPr wrap="square">
            <a:spAutoFit/>
          </a:bodyPr>
          <a:lstStyle/>
          <a:p>
            <a:pPr algn="l">
              <a:defRPr sz="1300" b="0">
                <a:solidFill>
                  <a:srgbClr val="9CA3AF"/>
                </a:solidFill>
                <a:latin typeface="微软雅黑"/>
              </a:defRPr>
            </a:pPr>
            <a:r>
              <a:t>数智化监测取得突破，探索AI识别，35类风险场景智能监测、安防网络安全全维度防护，实现“看得全”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12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板块二 防得住·管得牢·抓得实</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1、率先建设安全综合管理平台，打造风险监测、预警、处置、线上归档、管理评估与质量分析等风险监测与预警处置的全流程数字化管理驾驶舱。</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11680"/>
            <a:ext cx="5029200" cy="411480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200400"/>
            <a:ext cx="3200400" cy="914400"/>
          </a:xfrm>
          <a:prstGeom prst="rect">
            <a:avLst/>
          </a:prstGeom>
          <a:noFill/>
        </p:spPr>
        <p:txBody>
          <a:bodyPr wrap="square">
            <a:spAutoFit/>
          </a:bodyPr>
          <a:lstStyle/>
          <a:p>
            <a:pPr algn="ctr">
              <a:defRPr sz="1400" b="0">
                <a:solidFill>
                  <a:srgbClr val="6B7280"/>
                </a:solidFill>
                <a:latin typeface="微软雅黑"/>
              </a:defRPr>
            </a:pPr>
            <a:r>
              <a:t>素材3-2-1</a:t>
            </a:r>
          </a:p>
        </p:txBody>
      </p:sp>
      <p:sp>
        <p:nvSpPr>
          <p:cNvPr id="10" name="TextBox 9"/>
          <p:cNvSpPr txBox="1"/>
          <p:nvPr/>
        </p:nvSpPr>
        <p:spPr>
          <a:xfrm>
            <a:off x="5943600" y="2011680"/>
            <a:ext cx="5943600" cy="4114800"/>
          </a:xfrm>
          <a:prstGeom prst="rect">
            <a:avLst/>
          </a:prstGeom>
          <a:noFill/>
        </p:spPr>
        <p:txBody>
          <a:bodyPr wrap="square">
            <a:spAutoFit/>
          </a:bodyPr>
          <a:lstStyle/>
          <a:p>
            <a:pPr algn="l">
              <a:spcAft>
                <a:spcPts val="400"/>
              </a:spcAft>
              <a:defRPr sz="2000" b="0">
                <a:solidFill>
                  <a:srgbClr val="FFFFFF"/>
                </a:solidFill>
                <a:latin typeface="微软雅黑"/>
              </a:defRPr>
            </a:pPr>
            <a:r>
              <a:t>▸ 率先建设安全综合管理平台，打造风险监测、预警、处置、线上归档、管理评估与质量分析等风险监测与预警处置的全流程数字化管理驾驶舱。</a:t>
            </a:r>
          </a:p>
          <a:p>
            <a:pPr algn="l">
              <a:spcAft>
                <a:spcPts val="400"/>
              </a:spcAft>
              <a:defRPr sz="2000" b="0">
                <a:solidFill>
                  <a:srgbClr val="FFFFFF"/>
                </a:solidFill>
                <a:latin typeface="微软雅黑"/>
              </a:defRPr>
            </a:pPr>
            <a:r>
              <a:t>▸ 建立非现场检查模式，每周对上海地区240家、各地122家网点实现常态化安全检查全覆盖（数据）。</a:t>
            </a:r>
          </a:p>
          <a:p>
            <a:pPr algn="l">
              <a:spcAft>
                <a:spcPts val="400"/>
              </a:spcAft>
              <a:defRPr sz="2000" b="0">
                <a:solidFill>
                  <a:srgbClr val="FFFFFF"/>
                </a:solidFill>
                <a:latin typeface="微软雅黑"/>
              </a:defRPr>
            </a:pPr>
            <a:r>
              <a:t>▸ 率先建设行业首家金库安全线上管理平台，实现金库全流程线上闭环管理。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13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板块二 防得住·管得牢·抓得实</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率先建设安全管理数字画像，实现全行各层级安全生产风险图谱评估与管理履职闭环数字化管理，推动安全责任可视化。</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11680"/>
            <a:ext cx="5029200" cy="411480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200400"/>
            <a:ext cx="3200400" cy="914400"/>
          </a:xfrm>
          <a:prstGeom prst="rect">
            <a:avLst/>
          </a:prstGeom>
          <a:noFill/>
        </p:spPr>
        <p:txBody>
          <a:bodyPr wrap="square">
            <a:spAutoFit/>
          </a:bodyPr>
          <a:lstStyle/>
          <a:p>
            <a:pPr algn="ctr">
              <a:defRPr sz="1400" b="0">
                <a:solidFill>
                  <a:srgbClr val="6B7280"/>
                </a:solidFill>
                <a:latin typeface="微软雅黑"/>
              </a:defRPr>
            </a:pPr>
            <a:r>
              <a:t>素材3-2-4</a:t>
            </a:r>
          </a:p>
        </p:txBody>
      </p:sp>
      <p:sp>
        <p:nvSpPr>
          <p:cNvPr id="10" name="TextBox 9"/>
          <p:cNvSpPr txBox="1"/>
          <p:nvPr/>
        </p:nvSpPr>
        <p:spPr>
          <a:xfrm>
            <a:off x="5943600" y="2011680"/>
            <a:ext cx="5943600" cy="4114800"/>
          </a:xfrm>
          <a:prstGeom prst="rect">
            <a:avLst/>
          </a:prstGeom>
          <a:noFill/>
        </p:spPr>
        <p:txBody>
          <a:bodyPr wrap="square">
            <a:spAutoFit/>
          </a:bodyPr>
          <a:lstStyle/>
          <a:p>
            <a:pPr algn="l">
              <a:spcAft>
                <a:spcPts val="400"/>
              </a:spcAft>
              <a:defRPr sz="2000" b="0">
                <a:solidFill>
                  <a:srgbClr val="FFFFFF"/>
                </a:solidFill>
                <a:latin typeface="微软雅黑"/>
              </a:defRPr>
            </a:pPr>
            <a:r>
              <a:t>▸ 率先建设安全管理数字画像，实现全行各层级安全生产风险图谱评估与管理履职闭环数字化管理，推动安全责任可视化。</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14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板块二 防得住·管得牢·抓得实</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全面推广安防 APP ，线上履职渠道全面铺开，安防检查、整改、演练等日常工作实现线上流转。</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11680"/>
            <a:ext cx="5029200" cy="411480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200400"/>
            <a:ext cx="3200400" cy="914400"/>
          </a:xfrm>
          <a:prstGeom prst="rect">
            <a:avLst/>
          </a:prstGeom>
          <a:noFill/>
        </p:spPr>
        <p:txBody>
          <a:bodyPr wrap="square">
            <a:spAutoFit/>
          </a:bodyPr>
          <a:lstStyle/>
          <a:p>
            <a:pPr algn="ctr">
              <a:defRPr sz="1400" b="0">
                <a:solidFill>
                  <a:srgbClr val="6B7280"/>
                </a:solidFill>
                <a:latin typeface="微软雅黑"/>
              </a:defRPr>
            </a:pPr>
            <a:r>
              <a:t>素材3-2-5</a:t>
            </a:r>
          </a:p>
        </p:txBody>
      </p:sp>
      <p:sp>
        <p:nvSpPr>
          <p:cNvPr id="10" name="TextBox 9"/>
          <p:cNvSpPr txBox="1"/>
          <p:nvPr/>
        </p:nvSpPr>
        <p:spPr>
          <a:xfrm>
            <a:off x="5943600" y="2011680"/>
            <a:ext cx="5943600" cy="4114800"/>
          </a:xfrm>
          <a:prstGeom prst="rect">
            <a:avLst/>
          </a:prstGeom>
          <a:noFill/>
        </p:spPr>
        <p:txBody>
          <a:bodyPr wrap="square">
            <a:spAutoFit/>
          </a:bodyPr>
          <a:lstStyle/>
          <a:p>
            <a:pPr algn="l">
              <a:spcAft>
                <a:spcPts val="400"/>
              </a:spcAft>
              <a:defRPr sz="2000" b="0">
                <a:solidFill>
                  <a:srgbClr val="FFFFFF"/>
                </a:solidFill>
                <a:latin typeface="微软雅黑"/>
              </a:defRPr>
            </a:pPr>
            <a:r>
              <a:t>▸ 全面推广安防 APP ，线上履职渠道全面铺开，安防检查、整改、演练等日常工作实现线上流转。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15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板块三 用得优·用得顺</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1、推广安防台账电子化，通过复用安防门禁系统，实现台账“线上化”、“智能化”，全年全行可节约5900小时操作时长。</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011680"/>
            <a:ext cx="5486400" cy="27432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86000"/>
            <a:ext cx="4572000" cy="914400"/>
          </a:xfrm>
          <a:prstGeom prst="rect">
            <a:avLst/>
          </a:prstGeom>
          <a:noFill/>
        </p:spPr>
        <p:txBody>
          <a:bodyPr wrap="square">
            <a:spAutoFit/>
          </a:bodyPr>
          <a:lstStyle/>
          <a:p>
            <a:pPr algn="ctr">
              <a:defRPr sz="4800" b="1">
                <a:solidFill>
                  <a:srgbClr val="3B82F6"/>
                </a:solidFill>
                <a:latin typeface="微软雅黑"/>
              </a:defRPr>
            </a:pPr>
            <a:r>
              <a:t>5900小时</a:t>
            </a:r>
          </a:p>
        </p:txBody>
      </p:sp>
      <p:sp>
        <p:nvSpPr>
          <p:cNvPr id="10" name="TextBox 9"/>
          <p:cNvSpPr txBox="1"/>
          <p:nvPr/>
        </p:nvSpPr>
        <p:spPr>
          <a:xfrm>
            <a:off x="914400" y="3200400"/>
            <a:ext cx="4572000" cy="731520"/>
          </a:xfrm>
          <a:prstGeom prst="rect">
            <a:avLst/>
          </a:prstGeom>
          <a:noFill/>
        </p:spPr>
        <p:txBody>
          <a:bodyPr wrap="square">
            <a:spAutoFit/>
          </a:bodyPr>
          <a:lstStyle/>
          <a:p>
            <a:pPr algn="ctr">
              <a:defRPr sz="1600" b="0">
                <a:solidFill>
                  <a:srgbClr val="9CA3AF"/>
                </a:solidFill>
                <a:latin typeface="微软雅黑"/>
              </a:defRPr>
            </a:pPr>
            <a:r>
              <a:t>推广安防台账电子化，通过复用安防门禁系统，实现台账“线上化”、“智能化”，全年全行可节约5900小时操作时长。</a:t>
            </a:r>
          </a:p>
        </p:txBody>
      </p:sp>
      <p:sp>
        <p:nvSpPr>
          <p:cNvPr id="11" name="Rounded Rectangle 10"/>
          <p:cNvSpPr/>
          <p:nvPr/>
        </p:nvSpPr>
        <p:spPr>
          <a:xfrm>
            <a:off x="6217920" y="2011680"/>
            <a:ext cx="5486400" cy="274320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2286000"/>
            <a:ext cx="4572000" cy="914400"/>
          </a:xfrm>
          <a:prstGeom prst="rect">
            <a:avLst/>
          </a:prstGeom>
          <a:noFill/>
        </p:spPr>
        <p:txBody>
          <a:bodyPr wrap="square">
            <a:spAutoFit/>
          </a:bodyPr>
          <a:lstStyle/>
          <a:p>
            <a:pPr algn="ctr">
              <a:defRPr sz="4800" b="1">
                <a:solidFill>
                  <a:srgbClr val="3B82F6"/>
                </a:solidFill>
                <a:latin typeface="微软雅黑"/>
              </a:defRPr>
            </a:pPr>
            <a:r>
              <a:t>3000小时</a:t>
            </a:r>
          </a:p>
        </p:txBody>
      </p:sp>
      <p:sp>
        <p:nvSpPr>
          <p:cNvPr id="13" name="TextBox 12"/>
          <p:cNvSpPr txBox="1"/>
          <p:nvPr/>
        </p:nvSpPr>
        <p:spPr>
          <a:xfrm>
            <a:off x="6675120" y="3200400"/>
            <a:ext cx="4572000" cy="731520"/>
          </a:xfrm>
          <a:prstGeom prst="rect">
            <a:avLst/>
          </a:prstGeom>
          <a:noFill/>
        </p:spPr>
        <p:txBody>
          <a:bodyPr wrap="square">
            <a:spAutoFit/>
          </a:bodyPr>
          <a:lstStyle/>
          <a:p>
            <a:pPr algn="ctr">
              <a:defRPr sz="1600" b="0">
                <a:solidFill>
                  <a:srgbClr val="9CA3AF"/>
                </a:solidFill>
                <a:latin typeface="微软雅黑"/>
              </a:defRPr>
            </a:pPr>
            <a:r>
              <a:t>试点安防设备AI质检，通过平台AI智能巡检功能，自动巡查监控图像质量，推广全行后，全年可节约3000小时操作时长。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16 / 21</a:t>
            </a:r>
          </a:p>
        </p:txBody>
      </p:sp>
      <p:sp>
        <p:nvSpPr>
          <p:cNvPr id="5" name="TextBox 4"/>
          <p:cNvSpPr txBox="1"/>
          <p:nvPr/>
        </p:nvSpPr>
        <p:spPr>
          <a:xfrm>
            <a:off x="274320" y="137160"/>
            <a:ext cx="7315200" cy="274320"/>
          </a:xfrm>
          <a:prstGeom prst="rect">
            <a:avLst/>
          </a:prstGeom>
          <a:noFill/>
        </p:spPr>
        <p:txBody>
          <a:bodyPr wrap="square">
            <a:spAutoFit/>
          </a:bodyPr>
          <a:lstStyle/>
          <a:p>
            <a:pPr algn="l">
              <a:defRPr sz="1100" b="0">
                <a:solidFill>
                  <a:srgbClr val="60A5FA"/>
                </a:solidFill>
                <a:latin typeface="微软雅黑"/>
              </a:defRPr>
            </a:pPr>
            <a:r>
              <a:t>板块三 用得优·用得顺</a:t>
            </a:r>
          </a:p>
        </p:txBody>
      </p:sp>
      <p:sp>
        <p:nvSpPr>
          <p:cNvPr id="6" name="TextBox 5"/>
          <p:cNvSpPr txBox="1"/>
          <p:nvPr/>
        </p:nvSpPr>
        <p:spPr>
          <a:xfrm>
            <a:off x="457200" y="640080"/>
            <a:ext cx="11430000" cy="822960"/>
          </a:xfrm>
          <a:prstGeom prst="rect">
            <a:avLst/>
          </a:prstGeom>
          <a:noFill/>
        </p:spPr>
        <p:txBody>
          <a:bodyPr wrap="square">
            <a:spAutoFit/>
          </a:bodyPr>
          <a:lstStyle/>
          <a:p>
            <a:pPr algn="l">
              <a:defRPr sz="3400" b="1">
                <a:solidFill>
                  <a:srgbClr val="FFFFFF"/>
                </a:solidFill>
                <a:latin typeface="微软雅黑"/>
              </a:defRPr>
            </a:pPr>
            <a:r>
              <a:t>1、推动数智安防深度融入经营场景，部署17 项案防与合规智能识别模型，20 家网点先行试点。</a:t>
            </a:r>
          </a:p>
        </p:txBody>
      </p:sp>
      <p:sp>
        <p:nvSpPr>
          <p:cNvPr id="7" name="Rectangle 6"/>
          <p:cNvSpPr/>
          <p:nvPr/>
        </p:nvSpPr>
        <p:spPr>
          <a:xfrm>
            <a:off x="457200" y="1554480"/>
            <a:ext cx="22860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011680"/>
            <a:ext cx="11277295" cy="16459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86000"/>
            <a:ext cx="914400" cy="548640"/>
          </a:xfrm>
          <a:prstGeom prst="rect">
            <a:avLst/>
          </a:prstGeom>
          <a:noFill/>
        </p:spPr>
        <p:txBody>
          <a:bodyPr wrap="square">
            <a:spAutoFit/>
          </a:bodyPr>
          <a:lstStyle/>
          <a:p>
            <a:pPr algn="l">
              <a:defRPr sz="3200" b="1">
                <a:solidFill>
                  <a:srgbClr val="3B82F6"/>
                </a:solidFill>
                <a:latin typeface="微软雅黑"/>
              </a:defRPr>
            </a:pPr>
            <a:r>
              <a:t>01</a:t>
            </a:r>
          </a:p>
        </p:txBody>
      </p:sp>
      <p:sp>
        <p:nvSpPr>
          <p:cNvPr id="10" name="TextBox 9"/>
          <p:cNvSpPr txBox="1"/>
          <p:nvPr/>
        </p:nvSpPr>
        <p:spPr>
          <a:xfrm>
            <a:off x="1828800" y="2331720"/>
            <a:ext cx="9601200" cy="914400"/>
          </a:xfrm>
          <a:prstGeom prst="rect">
            <a:avLst/>
          </a:prstGeom>
          <a:noFill/>
        </p:spPr>
        <p:txBody>
          <a:bodyPr wrap="square">
            <a:spAutoFit/>
          </a:bodyPr>
          <a:lstStyle/>
          <a:p>
            <a:pPr algn="l">
              <a:defRPr sz="2200" b="0">
                <a:solidFill>
                  <a:srgbClr val="FFFFFF"/>
                </a:solidFill>
                <a:latin typeface="微软雅黑"/>
              </a:defRPr>
            </a:pPr>
            <a:r>
              <a:t>推动数智安防深度融入经营场景，部署17 项案防与合规智能识别模型，20 家网点先行试点。</a:t>
            </a:r>
          </a:p>
        </p:txBody>
      </p:sp>
      <p:sp>
        <p:nvSpPr>
          <p:cNvPr id="11" name="Rounded Rectangle 10"/>
          <p:cNvSpPr/>
          <p:nvPr/>
        </p:nvSpPr>
        <p:spPr>
          <a:xfrm>
            <a:off x="457200" y="3840480"/>
            <a:ext cx="11277295" cy="1645920"/>
          </a:xfrm>
          <a:prstGeom prst="round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114800"/>
            <a:ext cx="914400" cy="548640"/>
          </a:xfrm>
          <a:prstGeom prst="rect">
            <a:avLst/>
          </a:prstGeom>
          <a:noFill/>
        </p:spPr>
        <p:txBody>
          <a:bodyPr wrap="square">
            <a:spAutoFit/>
          </a:bodyPr>
          <a:lstStyle/>
          <a:p>
            <a:pPr algn="l">
              <a:defRPr sz="3200" b="1">
                <a:solidFill>
                  <a:srgbClr val="3B82F6"/>
                </a:solidFill>
                <a:latin typeface="微软雅黑"/>
              </a:defRPr>
            </a:pPr>
            <a:r>
              <a:t>02</a:t>
            </a:r>
          </a:p>
        </p:txBody>
      </p:sp>
      <p:sp>
        <p:nvSpPr>
          <p:cNvPr id="13" name="TextBox 12"/>
          <p:cNvSpPr txBox="1"/>
          <p:nvPr/>
        </p:nvSpPr>
        <p:spPr>
          <a:xfrm>
            <a:off x="1828800" y="4160520"/>
            <a:ext cx="9601200" cy="914400"/>
          </a:xfrm>
          <a:prstGeom prst="rect">
            <a:avLst/>
          </a:prstGeom>
          <a:noFill/>
        </p:spPr>
        <p:txBody>
          <a:bodyPr wrap="square">
            <a:spAutoFit/>
          </a:bodyPr>
          <a:lstStyle/>
          <a:p>
            <a:pPr algn="l">
              <a:defRPr sz="2200" b="0">
                <a:solidFill>
                  <a:srgbClr val="FFFFFF"/>
                </a:solidFill>
                <a:latin typeface="微软雅黑"/>
              </a:defRPr>
            </a:pPr>
            <a:r>
              <a:t>针对养老客户排队难题，定期推送高峰时段网点客流数据，助力人力精准调配。</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3B82F6"/>
                </a:solidFill>
                <a:latin typeface="微软雅黑"/>
              </a:defRPr>
            </a:pPr>
            <a:r>
              <a:t>CHAPTER 04</a:t>
            </a:r>
          </a:p>
        </p:txBody>
      </p:sp>
      <p:sp>
        <p:nvSpPr>
          <p:cNvPr id="5" name="Rectangle 4"/>
          <p:cNvSpPr/>
          <p:nvPr/>
        </p:nvSpPr>
        <p:spPr>
          <a:xfrm>
            <a:off x="0" y="5669280"/>
            <a:ext cx="12191695" cy="1188720"/>
          </a:xfrm>
          <a:prstGeom prst="rect">
            <a:avLst/>
          </a:prstGeom>
          <a:solidFill>
            <a:srgbClr val="10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FFFFFF"/>
                </a:solidFill>
                <a:latin typeface="微软雅黑"/>
              </a:defRPr>
            </a:pPr>
            <a:r>
              <a:t>上篇 · 总结展望</a:t>
            </a:r>
          </a:p>
        </p:txBody>
      </p:sp>
      <p:sp>
        <p:nvSpPr>
          <p:cNvPr id="7" name="Rectangle 6"/>
          <p:cNvSpPr/>
          <p:nvPr/>
        </p:nvSpPr>
        <p:spPr>
          <a:xfrm>
            <a:off x="45720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9CA3AF"/>
                </a:solidFill>
                <a:latin typeface="微软雅黑"/>
              </a:defRPr>
            </a:pPr>
            <a:r>
              <a:t>立足安防 · 拥抱AI · 服务全行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828800" cy="274320"/>
          </a:xfrm>
          <a:prstGeom prst="rect">
            <a:avLst/>
          </a:prstGeom>
          <a:noFill/>
        </p:spPr>
        <p:txBody>
          <a:bodyPr wrap="square">
            <a:spAutoFit/>
          </a:bodyPr>
          <a:lstStyle/>
          <a:p>
            <a:pPr algn="l">
              <a:defRPr sz="1000" b="0">
                <a:solidFill>
                  <a:srgbClr val="6B7280"/>
                </a:solidFill>
                <a:latin typeface="微软雅黑"/>
              </a:defRPr>
            </a:pPr>
            <a:r>
              <a:t>18 / 21</a:t>
            </a:r>
          </a:p>
        </p:txBody>
      </p:sp>
      <p:sp>
        <p:nvSpPr>
          <p:cNvPr id="5" name="TextBox 4"/>
          <p:cNvSpPr txBox="1"/>
          <p:nvPr/>
        </p:nvSpPr>
        <p:spPr>
          <a:xfrm>
            <a:off x="914400" y="1371600"/>
            <a:ext cx="10515600" cy="1097280"/>
          </a:xfrm>
          <a:prstGeom prst="rect">
            <a:avLst/>
          </a:prstGeom>
          <a:noFill/>
        </p:spPr>
        <p:txBody>
          <a:bodyPr wrap="square">
            <a:spAutoFit/>
          </a:bodyPr>
          <a:lstStyle/>
          <a:p>
            <a:pPr algn="l">
              <a:defRPr sz="4400" b="1">
                <a:solidFill>
                  <a:srgbClr val="FFFFFF"/>
                </a:solidFill>
                <a:latin typeface="微软雅黑"/>
              </a:defRPr>
            </a:pPr>
            <a:r>
              <a:t>安防数智化道阻且长</a:t>
            </a:r>
          </a:p>
        </p:txBody>
      </p:sp>
      <p:sp>
        <p:nvSpPr>
          <p:cNvPr id="6" name="TextBox 5"/>
          <p:cNvSpPr txBox="1"/>
          <p:nvPr/>
        </p:nvSpPr>
        <p:spPr>
          <a:xfrm>
            <a:off x="914400" y="2560320"/>
            <a:ext cx="10515600" cy="1097280"/>
          </a:xfrm>
          <a:prstGeom prst="rect">
            <a:avLst/>
          </a:prstGeom>
          <a:noFill/>
        </p:spPr>
        <p:txBody>
          <a:bodyPr wrap="square">
            <a:spAutoFit/>
          </a:bodyPr>
          <a:lstStyle/>
          <a:p>
            <a:pPr algn="l">
              <a:defRPr sz="2800" b="0">
                <a:solidFill>
                  <a:srgbClr val="9CA3AF"/>
                </a:solidFill>
                <a:latin typeface="微软雅黑"/>
              </a:defRPr>
            </a:pPr>
            <a:r>
              <a:t>我们将继续秉承</a:t>
            </a:r>
          </a:p>
        </p:txBody>
      </p:sp>
      <p:sp>
        <p:nvSpPr>
          <p:cNvPr id="7" name="TextBox 6"/>
          <p:cNvSpPr txBox="1"/>
          <p:nvPr/>
        </p:nvSpPr>
        <p:spPr>
          <a:xfrm>
            <a:off x="914400" y="3200400"/>
            <a:ext cx="10515600" cy="1097280"/>
          </a:xfrm>
          <a:prstGeom prst="rect">
            <a:avLst/>
          </a:prstGeom>
          <a:noFill/>
        </p:spPr>
        <p:txBody>
          <a:bodyPr wrap="square">
            <a:spAutoFit/>
          </a:bodyPr>
          <a:lstStyle/>
          <a:p>
            <a:pPr algn="l">
              <a:defRPr sz="3600" b="1">
                <a:solidFill>
                  <a:srgbClr val="3B82F6"/>
                </a:solidFill>
                <a:latin typeface="微软雅黑"/>
              </a:defRPr>
            </a:pPr>
            <a:r>
              <a:t>立足安防 · 服务全行</a:t>
            </a:r>
          </a:p>
        </p:txBody>
      </p:sp>
      <p:sp>
        <p:nvSpPr>
          <p:cNvPr id="8" name="Rectangle 7"/>
          <p:cNvSpPr/>
          <p:nvPr/>
        </p:nvSpPr>
        <p:spPr>
          <a:xfrm>
            <a:off x="914400" y="43891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54880"/>
            <a:ext cx="10515600" cy="365760"/>
          </a:xfrm>
          <a:prstGeom prst="rect">
            <a:avLst/>
          </a:prstGeom>
          <a:noFill/>
        </p:spPr>
        <p:txBody>
          <a:bodyPr wrap="square">
            <a:spAutoFit/>
          </a:bodyPr>
          <a:lstStyle/>
          <a:p>
            <a:pPr algn="l">
              <a:defRPr sz="1800" b="0">
                <a:solidFill>
                  <a:srgbClr val="9CA3AF"/>
                </a:solidFill>
                <a:latin typeface="微软雅黑"/>
              </a:defRPr>
            </a:pPr>
            <a:r>
              <a:t>▸ 坚持专业主义、长期主义</a:t>
            </a:r>
          </a:p>
        </p:txBody>
      </p:sp>
      <p:sp>
        <p:nvSpPr>
          <p:cNvPr id="10" name="TextBox 9"/>
          <p:cNvSpPr txBox="1"/>
          <p:nvPr/>
        </p:nvSpPr>
        <p:spPr>
          <a:xfrm>
            <a:off x="914400" y="5212080"/>
            <a:ext cx="10515600" cy="365760"/>
          </a:xfrm>
          <a:prstGeom prst="rect">
            <a:avLst/>
          </a:prstGeom>
          <a:noFill/>
        </p:spPr>
        <p:txBody>
          <a:bodyPr wrap="square">
            <a:spAutoFit/>
          </a:bodyPr>
          <a:lstStyle/>
          <a:p>
            <a:pPr algn="l">
              <a:defRPr sz="1800" b="0">
                <a:solidFill>
                  <a:srgbClr val="9CA3AF"/>
                </a:solidFill>
                <a:latin typeface="微软雅黑"/>
              </a:defRPr>
            </a:pPr>
            <a:r>
              <a:t>▸ 拥抱AI，深挖安防数据价值</a:t>
            </a:r>
          </a:p>
        </p:txBody>
      </p:sp>
      <p:sp>
        <p:nvSpPr>
          <p:cNvPr id="11" name="TextBox 10"/>
          <p:cNvSpPr txBox="1"/>
          <p:nvPr/>
        </p:nvSpPr>
        <p:spPr>
          <a:xfrm>
            <a:off x="914400" y="5669280"/>
            <a:ext cx="10515600" cy="365760"/>
          </a:xfrm>
          <a:prstGeom prst="rect">
            <a:avLst/>
          </a:prstGeom>
          <a:noFill/>
        </p:spPr>
        <p:txBody>
          <a:bodyPr wrap="square">
            <a:spAutoFit/>
          </a:bodyPr>
          <a:lstStyle/>
          <a:p>
            <a:pPr algn="l">
              <a:defRPr sz="1800" b="0">
                <a:solidFill>
                  <a:srgbClr val="9CA3AF"/>
                </a:solidFill>
                <a:latin typeface="微软雅黑"/>
              </a:defRPr>
            </a:pPr>
            <a:r>
              <a:t>▸ 科技兴安、智慧赋能</a:t>
            </a:r>
          </a:p>
        </p:txBody>
      </p:sp>
      <p:sp>
        <p:nvSpPr>
          <p:cNvPr id="12" name="TextBox 11"/>
          <p:cNvSpPr txBox="1"/>
          <p:nvPr/>
        </p:nvSpPr>
        <p:spPr>
          <a:xfrm>
            <a:off x="914400" y="6126480"/>
            <a:ext cx="10515600" cy="365760"/>
          </a:xfrm>
          <a:prstGeom prst="rect">
            <a:avLst/>
          </a:prstGeom>
          <a:noFill/>
        </p:spPr>
        <p:txBody>
          <a:bodyPr wrap="square">
            <a:spAutoFit/>
          </a:bodyPr>
          <a:lstStyle/>
          <a:p>
            <a:pPr algn="l">
              <a:defRPr sz="2000" b="1">
                <a:solidFill>
                  <a:srgbClr val="FFFFFF"/>
                </a:solidFill>
                <a:latin typeface="微软雅黑"/>
              </a:defRPr>
            </a:pPr>
            <a:r>
              <a:t>为我行高质量发展保驾护航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2860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828800"/>
            <a:ext cx="9601200" cy="1097280"/>
          </a:xfrm>
          <a:prstGeom prst="rect">
            <a:avLst/>
          </a:prstGeom>
          <a:noFill/>
        </p:spPr>
        <p:txBody>
          <a:bodyPr wrap="square">
            <a:spAutoFit/>
          </a:bodyPr>
          <a:lstStyle/>
          <a:p>
            <a:pPr algn="l">
              <a:defRPr sz="4800" b="1">
                <a:solidFill>
                  <a:srgbClr val="FFFFFF"/>
                </a:solidFill>
                <a:latin typeface="微软雅黑"/>
              </a:defRPr>
            </a:pPr>
            <a:r>
              <a:t>持续数智创新</a:t>
            </a:r>
            <a:br/>
            <a:r>
              <a:t>筑牢金融安全屏障</a:t>
            </a:r>
          </a:p>
        </p:txBody>
      </p:sp>
      <p:sp>
        <p:nvSpPr>
          <p:cNvPr id="6" name="Rectangle 5"/>
          <p:cNvSpPr/>
          <p:nvPr/>
        </p:nvSpPr>
        <p:spPr>
          <a:xfrm>
            <a:off x="1371600" y="329184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657600"/>
            <a:ext cx="9601200" cy="640080"/>
          </a:xfrm>
          <a:prstGeom prst="rect">
            <a:avLst/>
          </a:prstGeom>
          <a:noFill/>
        </p:spPr>
        <p:txBody>
          <a:bodyPr wrap="square">
            <a:spAutoFit/>
          </a:bodyPr>
          <a:lstStyle/>
          <a:p>
            <a:pPr algn="l">
              <a:defRPr sz="2600" b="0">
                <a:solidFill>
                  <a:srgbClr val="60A5FA"/>
                </a:solidFill>
                <a:latin typeface="微软雅黑"/>
              </a:defRPr>
            </a:pPr>
            <a:r>
              <a:t>金融让生活更美好</a:t>
            </a:r>
          </a:p>
        </p:txBody>
      </p:sp>
      <p:sp>
        <p:nvSpPr>
          <p:cNvPr id="8" name="TextBox 7"/>
          <p:cNvSpPr txBox="1"/>
          <p:nvPr/>
        </p:nvSpPr>
        <p:spPr>
          <a:xfrm>
            <a:off x="1371600" y="4572000"/>
            <a:ext cx="9601200" cy="457200"/>
          </a:xfrm>
          <a:prstGeom prst="rect">
            <a:avLst/>
          </a:prstGeom>
          <a:noFill/>
        </p:spPr>
        <p:txBody>
          <a:bodyPr wrap="square">
            <a:spAutoFit/>
          </a:bodyPr>
          <a:lstStyle/>
          <a:p>
            <a:pPr algn="l">
              <a:defRPr sz="1600" b="0">
                <a:solidFill>
                  <a:srgbClr val="6B7280"/>
                </a:solidFill>
                <a:latin typeface="微软雅黑"/>
              </a:defRPr>
            </a:pPr>
            <a:r>
              <a:t>上海银行  ·  安全保卫部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