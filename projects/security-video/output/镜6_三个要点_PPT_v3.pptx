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4572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0" b="1">
                <a:solidFill>
                  <a:srgbClr val="E0E8F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2D73"/>
                </a:solidFill>
                <a:latin typeface="Microsoft YaHei"/>
              </a:defRPr>
            </a:pPr>
            <a:r>
              <a:t>业内率先实现上海地区安防专网全覆盖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73"/>
                </a:solidFill>
                <a:latin typeface="Microsoft YaHei"/>
              </a:defRPr>
            </a:pPr>
            <a:r>
              <a:t>实现监控中心的“多场所”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3200400" cy="18288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73"/>
                </a:solidFill>
                <a:latin typeface="Microsoft YaHei"/>
              </a:defRPr>
            </a:pPr>
            <a:r>
              <a:t>▎安防专网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757D"/>
                </a:solidFill>
                <a:latin typeface="Microsoft YaHei"/>
              </a:defRPr>
            </a:pPr>
            <a:r>
              <a:t>上海地区全覆盖，业内率先完成部署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73"/>
                </a:solidFill>
                <a:latin typeface="Microsoft YaHei"/>
              </a:defRPr>
            </a:pPr>
            <a:r>
              <a:t>▎多场所监控中心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757D"/>
                </a:solidFill>
                <a:latin typeface="Microsoft YaHei"/>
              </a:defRPr>
            </a:pPr>
            <a:r>
              <a:t>打破物理空间限制，实现远程集中值守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73"/>
                </a:solidFill>
                <a:latin typeface="Microsoft YaHei"/>
              </a:defRPr>
            </a:pPr>
            <a:r>
              <a:t>▎核心价值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757D"/>
                </a:solidFill>
                <a:latin typeface="Microsoft YaHei"/>
              </a:defRPr>
            </a:pPr>
            <a:r>
              <a:t>统一管控 · 降低人力成本 · 提升响应速度</a:t>
            </a:r>
          </a:p>
        </p:txBody>
      </p:sp>
      <p:sp>
        <p:nvSpPr>
          <p:cNvPr id="13" name="Oval 12"/>
          <p:cNvSpPr/>
          <p:nvPr/>
        </p:nvSpPr>
        <p:spPr>
          <a:xfrm>
            <a:off x="11864340" y="4823460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43020" y="5511495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696" y="6116542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58500" y="6565625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01984" y="6804578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3335" y="6804578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46820" y="6565625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11623" y="6116542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62299" y="5511495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40980" y="4823460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2299" y="4135424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11623" y="3530377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46820" y="3081294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3335" y="2842341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1984" y="2842341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58500" y="3081294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93696" y="3530377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743020" y="4135424"/>
            <a:ext cx="45720" cy="45720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0" y="3200400"/>
            <a:ext cx="3291840" cy="3291840"/>
          </a:xfrm>
          <a:prstGeom prst="ellipse">
            <a:avLst/>
          </a:prstGeom>
          <a:noFill/>
          <a:ln w="1905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72600" y="4343400"/>
            <a:ext cx="1005840" cy="100584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3434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监控</a:t>
            </a:r>
            <a:br/>
            <a:r>
              <a:t>中心</a:t>
            </a:r>
          </a:p>
        </p:txBody>
      </p:sp>
      <p:sp>
        <p:nvSpPr>
          <p:cNvPr id="34" name="Oval 33"/>
          <p:cNvSpPr/>
          <p:nvPr/>
        </p:nvSpPr>
        <p:spPr>
          <a:xfrm>
            <a:off x="9674352" y="2633472"/>
            <a:ext cx="402336" cy="402336"/>
          </a:xfrm>
          <a:prstGeom prst="ellipse">
            <a:avLst/>
          </a:prstGeom>
          <a:solidFill>
            <a:srgbClr val="E5E8EC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26334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网点1</a:t>
            </a:r>
          </a:p>
        </p:txBody>
      </p:sp>
      <p:sp>
        <p:nvSpPr>
          <p:cNvPr id="36" name="Oval 35"/>
          <p:cNvSpPr/>
          <p:nvPr/>
        </p:nvSpPr>
        <p:spPr>
          <a:xfrm>
            <a:off x="11416517" y="3639312"/>
            <a:ext cx="402336" cy="402336"/>
          </a:xfrm>
          <a:prstGeom prst="ellipse">
            <a:avLst/>
          </a:prstGeom>
          <a:solidFill>
            <a:srgbClr val="E5E8EC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16517" y="36393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网点2</a:t>
            </a:r>
          </a:p>
        </p:txBody>
      </p:sp>
      <p:sp>
        <p:nvSpPr>
          <p:cNvPr id="38" name="Oval 37"/>
          <p:cNvSpPr/>
          <p:nvPr/>
        </p:nvSpPr>
        <p:spPr>
          <a:xfrm>
            <a:off x="11416517" y="5650992"/>
            <a:ext cx="402336" cy="402336"/>
          </a:xfrm>
          <a:prstGeom prst="ellipse">
            <a:avLst/>
          </a:prstGeom>
          <a:solidFill>
            <a:srgbClr val="E5E8EC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16517" y="56509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网点3</a:t>
            </a:r>
          </a:p>
        </p:txBody>
      </p:sp>
      <p:sp>
        <p:nvSpPr>
          <p:cNvPr id="40" name="Oval 39"/>
          <p:cNvSpPr/>
          <p:nvPr/>
        </p:nvSpPr>
        <p:spPr>
          <a:xfrm>
            <a:off x="9674352" y="6656832"/>
            <a:ext cx="402336" cy="402336"/>
          </a:xfrm>
          <a:prstGeom prst="ellipse">
            <a:avLst/>
          </a:prstGeom>
          <a:solidFill>
            <a:srgbClr val="E5E8EC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74352" y="66568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网点4</a:t>
            </a:r>
          </a:p>
        </p:txBody>
      </p:sp>
      <p:sp>
        <p:nvSpPr>
          <p:cNvPr id="42" name="Oval 41"/>
          <p:cNvSpPr/>
          <p:nvPr/>
        </p:nvSpPr>
        <p:spPr>
          <a:xfrm>
            <a:off x="7932186" y="5650992"/>
            <a:ext cx="402336" cy="402336"/>
          </a:xfrm>
          <a:prstGeom prst="ellipse">
            <a:avLst/>
          </a:prstGeom>
          <a:solidFill>
            <a:srgbClr val="E5E8EC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32186" y="56509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网点5</a:t>
            </a:r>
          </a:p>
        </p:txBody>
      </p:sp>
      <p:sp>
        <p:nvSpPr>
          <p:cNvPr id="44" name="Oval 43"/>
          <p:cNvSpPr/>
          <p:nvPr/>
        </p:nvSpPr>
        <p:spPr>
          <a:xfrm>
            <a:off x="7932186" y="3639312"/>
            <a:ext cx="402336" cy="402336"/>
          </a:xfrm>
          <a:prstGeom prst="ellipse">
            <a:avLst/>
          </a:prstGeom>
          <a:solidFill>
            <a:srgbClr val="E5E8EC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32186" y="36393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2D73"/>
                </a:solidFill>
                <a:latin typeface="Microsoft YaHei"/>
              </a:defRPr>
            </a:pPr>
            <a:r>
              <a:t>网点6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4572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0" b="1">
                <a:solidFill>
                  <a:srgbClr val="E0E8F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D73"/>
                </a:solidFill>
                <a:latin typeface="Microsoft YaHei"/>
              </a:defRPr>
            </a:pPr>
            <a:r>
              <a:t>业内首家对办公场所、重控场所重点部位</a:t>
            </a:r>
            <a:br/>
            <a:r>
              <a:t>24 小时监测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D73"/>
                </a:solidFill>
                <a:latin typeface="Microsoft YaHei"/>
              </a:defRPr>
            </a:pPr>
            <a:r>
              <a:t>发现问题实时通知整改  ·  全流程闭环管理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474720"/>
            <a:ext cx="3474720" cy="3840480"/>
          </a:xfrm>
          <a:prstGeom prst="rect">
            <a:avLst/>
          </a:prstGeom>
          <a:solidFill>
            <a:srgbClr val="FCFCFD"/>
          </a:solidFill>
          <a:ln w="1270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3474720"/>
            <a:ext cx="73152" cy="384048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73"/>
                </a:solidFill>
                <a:latin typeface="Microsoft YaHei"/>
              </a:defRPr>
            </a:pPr>
            <a:r>
              <a:t>全面</a:t>
            </a:r>
            <a:br/>
            <a:r>
              <a:t>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5303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757D"/>
                </a:solidFill>
                <a:latin typeface="Microsoft YaHei"/>
              </a:defRPr>
            </a:pPr>
            <a:r>
              <a:t>办公场所 · 重控场所 · 燃气阀门</a:t>
            </a:r>
            <a:br/>
            <a:r>
              <a:t>……物联网传感器实时采集数据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E5E8E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3474720"/>
            <a:ext cx="3474720" cy="3840480"/>
          </a:xfrm>
          <a:prstGeom prst="rect">
            <a:avLst/>
          </a:prstGeom>
          <a:solidFill>
            <a:srgbClr val="FCFCFD"/>
          </a:solidFill>
          <a:ln w="1270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3474720"/>
            <a:ext cx="73152" cy="384048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4090"/>
                </a:solidFill>
                <a:latin typeface="Microsoft YaHei"/>
              </a:defRPr>
            </a:pPr>
            <a:r>
              <a:t>实时</a:t>
            </a:r>
            <a:br/>
            <a:r>
              <a:t>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5303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757D"/>
                </a:solidFill>
                <a:latin typeface="Microsoft YaHei"/>
              </a:defRPr>
            </a:pPr>
            <a:r>
              <a:t>异常行为自动识别 · 风险事件秒级预警</a:t>
            </a:r>
            <a:br/>
            <a:r>
              <a:t>多渠道通知到人 · 精准定位风险点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E5E8E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474720"/>
            <a:ext cx="3474720" cy="3840480"/>
          </a:xfrm>
          <a:prstGeom prst="rect">
            <a:avLst/>
          </a:prstGeom>
          <a:solidFill>
            <a:srgbClr val="FCFCFD"/>
          </a:solidFill>
          <a:ln w="1270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3474720"/>
            <a:ext cx="73152" cy="3840480"/>
          </a:xfrm>
          <a:prstGeom prst="rect">
            <a:avLst/>
          </a:prstGeom>
          <a:solidFill>
            <a:srgbClr val="00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5A0"/>
                </a:solidFill>
                <a:latin typeface="Microsoft YaHei"/>
              </a:defRPr>
            </a:pPr>
            <a:r>
              <a:t>闭环</a:t>
            </a:r>
            <a:br/>
            <a:r>
              <a:t>整改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5303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757D"/>
                </a:solidFill>
                <a:latin typeface="Microsoft YaHei"/>
              </a:defRPr>
            </a:pPr>
            <a:r>
              <a:t>发现→通知→处置→复核→归档</a:t>
            </a:r>
            <a:br/>
            <a:r>
              <a:t>全流程线上流转 · 可追溯可审计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E5E8EC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4572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0" b="1">
                <a:solidFill>
                  <a:srgbClr val="E0E8F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2D73"/>
                </a:solidFill>
                <a:latin typeface="Microsoft YaHei"/>
              </a:defRPr>
            </a:pPr>
            <a:r>
              <a:t>搭建业内首个网络安全管理平台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D73"/>
                </a:solidFill>
                <a:latin typeface="Microsoft YaHei"/>
              </a:defRPr>
            </a:pPr>
            <a:r>
              <a:t>六大功能监测模型  ·  全维度安全防护体系</a:t>
            </a:r>
          </a:p>
        </p:txBody>
      </p:sp>
      <p:sp>
        <p:nvSpPr>
          <p:cNvPr id="6" name="Oval 5"/>
          <p:cNvSpPr/>
          <p:nvPr/>
        </p:nvSpPr>
        <p:spPr>
          <a:xfrm>
            <a:off x="6492240" y="4206240"/>
            <a:ext cx="1645920" cy="164592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0" y="4389120"/>
            <a:ext cx="1280160" cy="12801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438912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D73"/>
                </a:solidFill>
                <a:latin typeface="Microsoft YaHei"/>
              </a:defRPr>
            </a:pPr>
            <a:r>
              <a:t>安防</a:t>
            </a:r>
            <a:br/>
            <a:r>
              <a:t>网络</a:t>
            </a:r>
            <a:br/>
            <a:r>
              <a:t>安全</a:t>
            </a:r>
          </a:p>
        </p:txBody>
      </p:sp>
      <p:sp>
        <p:nvSpPr>
          <p:cNvPr id="9" name="Oval 8"/>
          <p:cNvSpPr/>
          <p:nvPr/>
        </p:nvSpPr>
        <p:spPr>
          <a:xfrm>
            <a:off x="5120640" y="2834640"/>
            <a:ext cx="4389120" cy="4389120"/>
          </a:xfrm>
          <a:prstGeom prst="ellipse">
            <a:avLst/>
          </a:prstGeom>
          <a:noFill/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84848" y="1755648"/>
            <a:ext cx="1060704" cy="1060704"/>
          </a:xfrm>
          <a:prstGeom prst="ellipse">
            <a:avLst/>
          </a:prstGeom>
          <a:solidFill>
            <a:srgbClr val="FCFCFD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94576" y="1828800"/>
            <a:ext cx="841248" cy="3200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920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D73"/>
                </a:solidFill>
                <a:latin typeface="Microsoft YaHei"/>
              </a:defRPr>
            </a:pPr>
            <a:r>
              <a:t>在线准入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585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757D"/>
                </a:solidFill>
                <a:latin typeface="Microsoft YaHei"/>
              </a:defRPr>
            </a:pPr>
            <a:r>
              <a:t>设备身份验证</a:t>
            </a:r>
            <a:br/>
            <a:r>
              <a:t>安全接入控制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315200.0" y="2286000.0"/>
            <a:ext cx="0.0" cy="2194560.0"/>
          </a:xfrm>
          <a:prstGeom prst="line">
            <a:avLst/>
          </a:prstGeom>
          <a:ln w="1905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60528" y="3127248"/>
            <a:ext cx="1060704" cy="1060704"/>
          </a:xfrm>
          <a:prstGeom prst="ellipse">
            <a:avLst/>
          </a:prstGeom>
          <a:solidFill>
            <a:srgbClr val="FCFCFD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70256" y="3200400"/>
            <a:ext cx="841248" cy="3200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368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D73"/>
                </a:solidFill>
                <a:latin typeface="Microsoft YaHei"/>
              </a:defRPr>
            </a:pPr>
            <a:r>
              <a:t>防外部攻击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3680" y="3630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757D"/>
                </a:solidFill>
                <a:latin typeface="Microsoft YaHei"/>
              </a:defRPr>
            </a:pPr>
            <a:r>
              <a:t>防火墙策略</a:t>
            </a:r>
            <a:br/>
            <a:r>
              <a:t>入侵检测防御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790336.177532295" y="3657600.0"/>
            <a:ext cx="1900544.7101291772" cy="1097280.0"/>
          </a:xfrm>
          <a:prstGeom prst="line">
            <a:avLst/>
          </a:prstGeom>
          <a:ln w="1905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60528" y="5870448"/>
            <a:ext cx="1060704" cy="1060704"/>
          </a:xfrm>
          <a:prstGeom prst="ellipse">
            <a:avLst/>
          </a:prstGeom>
          <a:solidFill>
            <a:srgbClr val="FCFCFD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0256" y="5943600"/>
            <a:ext cx="841248" cy="3200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3680" y="6035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D73"/>
                </a:solidFill>
                <a:latin typeface="Microsoft YaHei"/>
              </a:defRPr>
            </a:pPr>
            <a:r>
              <a:t>隔离内网侵袭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3680" y="6373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757D"/>
                </a:solidFill>
                <a:latin typeface="Microsoft YaHei"/>
              </a:defRPr>
            </a:pPr>
            <a:r>
              <a:t>微隔离技术</a:t>
            </a:r>
            <a:br/>
            <a:r>
              <a:t>横向移动防护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90336.177532295" y="5303520.0"/>
            <a:ext cx="1900544.7101291772" cy="1097280.0"/>
          </a:xfrm>
          <a:prstGeom prst="line">
            <a:avLst/>
          </a:prstGeom>
          <a:ln w="1905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784848" y="7242048"/>
            <a:ext cx="1060704" cy="1060704"/>
          </a:xfrm>
          <a:prstGeom prst="ellipse">
            <a:avLst/>
          </a:prstGeom>
          <a:solidFill>
            <a:srgbClr val="FCFCFD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94576" y="7315200"/>
            <a:ext cx="841248" cy="3200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7406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D73"/>
                </a:solidFill>
                <a:latin typeface="Microsoft YaHei"/>
              </a:defRPr>
            </a:pPr>
            <a:r>
              <a:t>扫描系统漏洞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77449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757D"/>
                </a:solidFill>
                <a:latin typeface="Microsoft YaHei"/>
              </a:defRPr>
            </a:pPr>
            <a:r>
              <a:t>脆弱性自动巡检</a:t>
            </a:r>
            <a:br/>
            <a:r>
              <a:t>风险评级修复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0.0" y="5577840.0"/>
            <a:ext cx="0.0" cy="2194560.0"/>
          </a:xfrm>
          <a:prstGeom prst="line">
            <a:avLst/>
          </a:prstGeom>
          <a:ln w="1905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409167" y="5870448"/>
            <a:ext cx="1060704" cy="1060704"/>
          </a:xfrm>
          <a:prstGeom prst="ellipse">
            <a:avLst/>
          </a:prstGeom>
          <a:solidFill>
            <a:srgbClr val="FCFCFD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18895" y="5943600"/>
            <a:ext cx="841248" cy="3200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2319" y="6035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D73"/>
                </a:solidFill>
                <a:latin typeface="Microsoft YaHei"/>
              </a:defRPr>
            </a:pPr>
            <a:r>
              <a:t>网络稳定性监测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2319" y="6373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757D"/>
                </a:solidFill>
                <a:latin typeface="Microsoft YaHei"/>
              </a:defRPr>
            </a:pPr>
            <a:r>
              <a:t>流量行为分析</a:t>
            </a:r>
            <a:br/>
            <a:r>
              <a:t>异常精准定位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939519.112338528" y="5303520.0"/>
            <a:ext cx="1900544.7101291772" cy="1097280.0"/>
          </a:xfrm>
          <a:prstGeom prst="line">
            <a:avLst/>
          </a:prstGeom>
          <a:ln w="1905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409167" y="3127248"/>
            <a:ext cx="1060704" cy="1060704"/>
          </a:xfrm>
          <a:prstGeom prst="ellipse">
            <a:avLst/>
          </a:prstGeom>
          <a:solidFill>
            <a:srgbClr val="FCFCFD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18895" y="3200400"/>
            <a:ext cx="841248" cy="3200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2319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D73"/>
                </a:solidFill>
                <a:latin typeface="Microsoft YaHei"/>
              </a:defRPr>
            </a:pPr>
            <a:r>
              <a:t>入侵预警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2319" y="3630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757D"/>
                </a:solidFill>
                <a:latin typeface="Microsoft YaHei"/>
              </a:defRPr>
            </a:pPr>
            <a:r>
              <a:t>实时威胁告警</a:t>
            </a:r>
            <a:br/>
            <a:r>
              <a:t>自动响应处置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4939519.112338528" y="3657600.0"/>
            <a:ext cx="1900544.7101291772" cy="1097280.0"/>
          </a:xfrm>
          <a:prstGeom prst="line">
            <a:avLst/>
          </a:prstGeom>
          <a:ln w="1905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