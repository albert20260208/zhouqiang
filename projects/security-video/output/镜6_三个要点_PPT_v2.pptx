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4630400" cy="18288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365760" cy="2743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7432" cy="36576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0" y="7406640"/>
            <a:ext cx="365760" cy="27432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0" y="7406640"/>
            <a:ext cx="27432" cy="365760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74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>
                <a:solidFill>
                  <a:srgbClr val="E8EF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88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2D73"/>
                </a:solidFill>
                <a:latin typeface="Microsoft YaHei"/>
              </a:defRPr>
            </a:pPr>
            <a:r>
              <a:t>业内率先实现上海地区</a:t>
            </a:r>
            <a:br/>
            <a:r>
              <a:t>安防专网全覆盖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9AEB8"/>
                </a:solidFill>
                <a:latin typeface="Microsoft YaHei"/>
              </a:defRPr>
            </a:pPr>
            <a:r>
              <a:t>实现监控中心的多场所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200400"/>
            <a:ext cx="411480" cy="41148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108960"/>
            <a:ext cx="22860" cy="109728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73"/>
                </a:solidFill>
                <a:latin typeface="Microsoft YaHei"/>
              </a:defRPr>
            </a:pPr>
            <a:r>
              <a:t>安防专网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429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78"/>
                </a:solidFill>
                <a:latin typeface="Microsoft YaHei"/>
              </a:defRPr>
            </a:pPr>
            <a:r>
              <a:t>上海地区全覆盖</a:t>
            </a:r>
            <a:br/>
            <a:r>
              <a:t>业内率先完成部署</a:t>
            </a:r>
            <a:br/>
            <a:r>
              <a:t>统一管控 · 集中值守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572000"/>
            <a:ext cx="411480" cy="41148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4480560"/>
            <a:ext cx="22860" cy="109728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73"/>
                </a:solidFill>
                <a:latin typeface="Microsoft YaHei"/>
              </a:defRPr>
            </a:pPr>
            <a:r>
              <a:t>多场所监控中心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800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78"/>
                </a:solidFill>
                <a:latin typeface="Microsoft YaHei"/>
              </a:defRPr>
            </a:pPr>
            <a:r>
              <a:t>打破物理空间限制</a:t>
            </a:r>
            <a:br/>
            <a:r>
              <a:t>远程集中值守</a:t>
            </a:r>
            <a:br/>
            <a:r>
              <a:t>降低人力成本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5943600"/>
            <a:ext cx="411480" cy="41148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943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5852160"/>
            <a:ext cx="22860" cy="109728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73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6172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78"/>
                </a:solidFill>
                <a:latin typeface="Microsoft YaHei"/>
              </a:defRPr>
            </a:pPr>
            <a:r>
              <a:t>统一管控体系</a:t>
            </a:r>
            <a:br/>
            <a:r>
              <a:t>提升响应速度</a:t>
            </a:r>
            <a:br/>
            <a:r>
              <a:t>安全事件秒级处置</a:t>
            </a:r>
          </a:p>
        </p:txBody>
      </p:sp>
      <p:sp>
        <p:nvSpPr>
          <p:cNvPr id="26" name="Oval 25"/>
          <p:cNvSpPr/>
          <p:nvPr/>
        </p:nvSpPr>
        <p:spPr>
          <a:xfrm>
            <a:off x="12856464" y="435254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574699" y="540410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04904" y="6173899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53344" y="645566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01784" y="6173899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31988" y="540410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435254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31988" y="330098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01784" y="2531188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53344" y="2249424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804904" y="2531188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574699" y="3300983"/>
            <a:ext cx="73152" cy="73152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61120" y="2560320"/>
            <a:ext cx="3657600" cy="3657600"/>
          </a:xfrm>
          <a:prstGeom prst="ellipse">
            <a:avLst/>
          </a:prstGeom>
          <a:noFill/>
          <a:ln w="1270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41280" y="3840480"/>
            <a:ext cx="1097280" cy="109728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38404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监控</a:t>
            </a:r>
            <a:br/>
            <a:r>
              <a:t>中心</a:t>
            </a:r>
          </a:p>
        </p:txBody>
      </p:sp>
      <p:sp>
        <p:nvSpPr>
          <p:cNvPr id="41" name="Oval 40"/>
          <p:cNvSpPr/>
          <p:nvPr/>
        </p:nvSpPr>
        <p:spPr>
          <a:xfrm>
            <a:off x="10579608" y="207568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9608" y="20756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网点1</a:t>
            </a: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10789920.0" y="2286000.0"/>
            <a:ext cx="530352.0" cy="210312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2400963" y="312724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00963" y="312724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网点2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11320272" y="3337560.0"/>
            <a:ext cx="1291003.347207129" cy="105156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2400963" y="523036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400963" y="52303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320272" y="4389120"/>
            <a:ext cx="1291003.347207129" cy="105156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579608" y="628192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79608" y="62819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网点4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10789920.0" y="4389120"/>
            <a:ext cx="530352.0" cy="210312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758252" y="523036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58252" y="52303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网点5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8968564.652792871" y="4389120"/>
            <a:ext cx="2351707.347207129" cy="105156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758252" y="3127248"/>
            <a:ext cx="420624" cy="420624"/>
          </a:xfrm>
          <a:prstGeom prst="ellipse">
            <a:avLst/>
          </a:prstGeom>
          <a:solidFill>
            <a:srgbClr val="E0E3E8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8252" y="312724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网点6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8968564.652792871" y="3337560.0"/>
            <a:ext cx="2351707.347207129" cy="1051560.0"/>
          </a:xfrm>
          <a:prstGeom prst="line">
            <a:avLst/>
          </a:prstGeom>
          <a:ln w="63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0" y="7543800"/>
            <a:ext cx="14630400" cy="685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75895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533120" y="7818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9AEB8"/>
                </a:solidFill>
                <a:latin typeface="Microsoft YaHei"/>
              </a:defRPr>
            </a:pPr>
            <a: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4630400" cy="18288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365760" cy="2743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7432" cy="36576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0" y="7406640"/>
            <a:ext cx="365760" cy="27432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0" y="7406640"/>
            <a:ext cx="27432" cy="365760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74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>
                <a:solidFill>
                  <a:srgbClr val="E8EF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73"/>
                </a:solidFill>
                <a:latin typeface="Microsoft YaHei"/>
              </a:defRPr>
            </a:pPr>
            <a:r>
              <a:t>业内首家对办公场所、重控场所</a:t>
            </a:r>
            <a:br/>
            <a:r>
              <a:t>重点部位 24 小时监测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9AEB8"/>
                </a:solidFill>
                <a:latin typeface="Microsoft YaHei"/>
              </a:defRPr>
            </a:pPr>
            <a:r>
              <a:t>发现问题实时通知整改  ·  全流程闭环管理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743200"/>
            <a:ext cx="3291840" cy="4572000"/>
          </a:xfrm>
          <a:prstGeom prst="rect">
            <a:avLst/>
          </a:prstGeom>
          <a:solidFill>
            <a:srgbClr val="FAFBFC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743200"/>
            <a:ext cx="329184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017520"/>
            <a:ext cx="3291840" cy="50292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感知层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49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D73"/>
                </a:solidFill>
                <a:latin typeface="Microsoft YaHei"/>
              </a:defRPr>
            </a:pPr>
            <a:r>
              <a:t>物联网传感器网络</a:t>
            </a:r>
          </a:p>
        </p:txBody>
      </p:sp>
      <p:sp>
        <p:nvSpPr>
          <p:cNvPr id="16" name="Oval 15"/>
          <p:cNvSpPr/>
          <p:nvPr/>
        </p:nvSpPr>
        <p:spPr>
          <a:xfrm>
            <a:off x="1600200" y="4343400"/>
            <a:ext cx="91440" cy="914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2793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摄像机实时画面采集</a:t>
            </a:r>
          </a:p>
        </p:txBody>
      </p:sp>
      <p:sp>
        <p:nvSpPr>
          <p:cNvPr id="18" name="Oval 17"/>
          <p:cNvSpPr/>
          <p:nvPr/>
        </p:nvSpPr>
        <p:spPr>
          <a:xfrm>
            <a:off x="1600200" y="4892040"/>
            <a:ext cx="91440" cy="914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8280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燃气阀门状态监测</a:t>
            </a:r>
          </a:p>
        </p:txBody>
      </p:sp>
      <p:sp>
        <p:nvSpPr>
          <p:cNvPr id="20" name="Oval 19"/>
          <p:cNvSpPr/>
          <p:nvPr/>
        </p:nvSpPr>
        <p:spPr>
          <a:xfrm>
            <a:off x="1600200" y="5440680"/>
            <a:ext cx="91440" cy="914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376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门禁通行记录抓取</a:t>
            </a:r>
          </a:p>
        </p:txBody>
      </p:sp>
      <p:sp>
        <p:nvSpPr>
          <p:cNvPr id="22" name="Oval 21"/>
          <p:cNvSpPr/>
          <p:nvPr/>
        </p:nvSpPr>
        <p:spPr>
          <a:xfrm>
            <a:off x="1600200" y="5989320"/>
            <a:ext cx="91440" cy="914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9253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环境温湿度感知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800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9AEB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743200"/>
            <a:ext cx="3291840" cy="4572000"/>
          </a:xfrm>
          <a:prstGeom prst="rect">
            <a:avLst/>
          </a:prstGeom>
          <a:solidFill>
            <a:srgbClr val="FAFBFC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2743200"/>
            <a:ext cx="3291840" cy="54864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3017520"/>
            <a:ext cx="3291840" cy="502920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识别层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749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D73"/>
                </a:solidFill>
                <a:latin typeface="Microsoft YaHei"/>
              </a:defRPr>
            </a:pPr>
            <a:r>
              <a:t>AI视觉智能分析</a:t>
            </a:r>
          </a:p>
        </p:txBody>
      </p:sp>
      <p:sp>
        <p:nvSpPr>
          <p:cNvPr id="30" name="Oval 29"/>
          <p:cNvSpPr/>
          <p:nvPr/>
        </p:nvSpPr>
        <p:spPr>
          <a:xfrm>
            <a:off x="5440680" y="4343400"/>
            <a:ext cx="91440" cy="91440"/>
          </a:xfrm>
          <a:prstGeom prst="ellipse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2793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异常行为自动识别</a:t>
            </a:r>
          </a:p>
        </p:txBody>
      </p:sp>
      <p:sp>
        <p:nvSpPr>
          <p:cNvPr id="32" name="Oval 31"/>
          <p:cNvSpPr/>
          <p:nvPr/>
        </p:nvSpPr>
        <p:spPr>
          <a:xfrm>
            <a:off x="5440680" y="4892040"/>
            <a:ext cx="91440" cy="91440"/>
          </a:xfrm>
          <a:prstGeom prst="ellipse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280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人员闯入边界预警</a:t>
            </a:r>
          </a:p>
        </p:txBody>
      </p:sp>
      <p:sp>
        <p:nvSpPr>
          <p:cNvPr id="34" name="Oval 33"/>
          <p:cNvSpPr/>
          <p:nvPr/>
        </p:nvSpPr>
        <p:spPr>
          <a:xfrm>
            <a:off x="5440680" y="5440680"/>
            <a:ext cx="91440" cy="91440"/>
          </a:xfrm>
          <a:prstGeom prst="ellipse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376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设备离线秒级告警</a:t>
            </a:r>
          </a:p>
        </p:txBody>
      </p:sp>
      <p:sp>
        <p:nvSpPr>
          <p:cNvPr id="36" name="Oval 35"/>
          <p:cNvSpPr/>
          <p:nvPr/>
        </p:nvSpPr>
        <p:spPr>
          <a:xfrm>
            <a:off x="5440680" y="5989320"/>
            <a:ext cx="91440" cy="91440"/>
          </a:xfrm>
          <a:prstGeom prst="ellipse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59253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风险事件分级推送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800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9AEB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743200"/>
            <a:ext cx="3291840" cy="4572000"/>
          </a:xfrm>
          <a:prstGeom prst="rect">
            <a:avLst/>
          </a:prstGeom>
          <a:solidFill>
            <a:srgbClr val="FAFBFC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2743200"/>
            <a:ext cx="3291840" cy="54864"/>
          </a:xfrm>
          <a:prstGeom prst="rect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0" y="3017520"/>
            <a:ext cx="3291840" cy="502920"/>
          </a:xfrm>
          <a:prstGeom prst="rect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处置层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749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D73"/>
                </a:solidFill>
                <a:latin typeface="Microsoft YaHei"/>
              </a:defRPr>
            </a:pPr>
            <a:r>
              <a:t>闭环整改追溯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4343400"/>
            <a:ext cx="91440" cy="914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42793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多渠道通知到责任人</a:t>
            </a:r>
          </a:p>
        </p:txBody>
      </p:sp>
      <p:sp>
        <p:nvSpPr>
          <p:cNvPr id="46" name="Oval 45"/>
          <p:cNvSpPr/>
          <p:nvPr/>
        </p:nvSpPr>
        <p:spPr>
          <a:xfrm>
            <a:off x="9281160" y="4892040"/>
            <a:ext cx="91440" cy="914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48280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线上流转处置工单</a:t>
            </a:r>
          </a:p>
        </p:txBody>
      </p:sp>
      <p:sp>
        <p:nvSpPr>
          <p:cNvPr id="48" name="Oval 47"/>
          <p:cNvSpPr/>
          <p:nvPr/>
        </p:nvSpPr>
        <p:spPr>
          <a:xfrm>
            <a:off x="9281160" y="5440680"/>
            <a:ext cx="91440" cy="914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5376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整改结果复核归档</a:t>
            </a:r>
          </a:p>
        </p:txBody>
      </p:sp>
      <p:sp>
        <p:nvSpPr>
          <p:cNvPr id="50" name="Oval 49"/>
          <p:cNvSpPr/>
          <p:nvPr/>
        </p:nvSpPr>
        <p:spPr>
          <a:xfrm>
            <a:off x="9281160" y="5989320"/>
            <a:ext cx="91440" cy="914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59253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全流程可追溯可审计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7543800"/>
            <a:ext cx="14630400" cy="685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75895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0" y="7818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9AEB8"/>
                </a:solidFill>
                <a:latin typeface="Microsoft YaHei"/>
              </a:defRPr>
            </a:pPr>
            <a: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4630400" cy="18288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365760" cy="2743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7432" cy="36576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0" y="7406640"/>
            <a:ext cx="365760" cy="27432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0" y="7406640"/>
            <a:ext cx="27432" cy="365760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74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>
                <a:solidFill>
                  <a:srgbClr val="E8EF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73"/>
                </a:solidFill>
                <a:latin typeface="Microsoft YaHei"/>
              </a:defRPr>
            </a:pPr>
            <a:r>
              <a:t>搭建业内首个网络安全管理平台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9AEB8"/>
                </a:solidFill>
                <a:latin typeface="Microsoft YaHei"/>
              </a:defRPr>
            </a:pPr>
            <a:r>
              <a:t>六大功能监测模型  ·  全维度安全防护体系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3886200"/>
            <a:ext cx="1920240" cy="19202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406908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06908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安防</a:t>
            </a:r>
            <a:br/>
            <a:r>
              <a:t>网络</a:t>
            </a:r>
            <a:br/>
            <a:r>
              <a:t>安全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2468880"/>
            <a:ext cx="4754880" cy="4754880"/>
          </a:xfrm>
          <a:prstGeom prst="ellipse">
            <a:avLst/>
          </a:prstGeom>
          <a:noFill/>
          <a:ln w="1270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141732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50876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在线准入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设备身份验证</a:t>
            </a:r>
            <a:br/>
            <a:r>
              <a:t>安全接入控制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315200.0" y="2011680.0"/>
            <a:ext cx="0.0" cy="210312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75710" y="283464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12870" y="292608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150" y="3017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防外部攻击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150" y="33375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防火墙策略</a:t>
            </a:r>
            <a:br/>
            <a:r>
              <a:t>入侵检测防御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948714.903376393" y="3429000.0"/>
            <a:ext cx="1821355.347207129" cy="105156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75710" y="566928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12870" y="576072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150" y="5852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隔离内网侵袭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150" y="61722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微隔离技术</a:t>
            </a:r>
            <a:br/>
            <a:r>
              <a:t>横向移动防护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48714.903376393" y="5212080.0"/>
            <a:ext cx="1821355.347207129" cy="105156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720840" y="708660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717804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7269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扫描系统漏洞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75895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脆弱性自动巡检</a:t>
            </a:r>
            <a:br/>
            <a:r>
              <a:t>风险评级修复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0.0" y="5577840.0"/>
            <a:ext cx="0.0" cy="210312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265969" y="566928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03129" y="576072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7409" y="5852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网络稳定性监测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7409" y="61722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流量行为分析</a:t>
            </a:r>
            <a:br/>
            <a:r>
              <a:t>异常精准定位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4860329.749416478" y="5212080.0"/>
            <a:ext cx="1821355.347207129" cy="105156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265969" y="2834640"/>
            <a:ext cx="1188720" cy="1188720"/>
          </a:xfrm>
          <a:prstGeom prst="ellipse">
            <a:avLst/>
          </a:prstGeom>
          <a:solidFill>
            <a:srgbClr val="FAFBFC"/>
          </a:solidFill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03129" y="2926080"/>
            <a:ext cx="914400" cy="36576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7409" y="3017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入侵预警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7409" y="33375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078"/>
                </a:solidFill>
                <a:latin typeface="Microsoft YaHei"/>
              </a:defRPr>
            </a:pPr>
            <a:r>
              <a:t>实时威胁告警</a:t>
            </a:r>
            <a:br/>
            <a:r>
              <a:t>自动响应处置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4860329.749416479" y="3429000.0"/>
            <a:ext cx="1821355.347207128" cy="1051560.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0" y="7543800"/>
            <a:ext cx="14630400" cy="685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75895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0" y="7818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9AEB8"/>
                </a:solidFill>
                <a:latin typeface="Microsoft YaHei"/>
              </a:defRPr>
            </a:pPr>
            <a: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