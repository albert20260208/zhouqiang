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4864" cy="146304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82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73"/>
                </a:solidFill>
                <a:latin typeface="Microsoft YaHei"/>
              </a:defRPr>
            </a:pPr>
            <a:r>
              <a:t>业内率先实现上海地区安防专网全覆盖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9AEB8"/>
                </a:solidFill>
                <a:latin typeface="Microsoft YaHei"/>
              </a:defRPr>
            </a:pPr>
            <a:r>
              <a:t>实现监控中心的多场所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 安防专网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上海地区全覆盖，业内率先完成部署</a:t>
            </a:r>
          </a:p>
          <a:p>
            <a:pPr>
              <a:spcAft>
                <a:spcPts val="3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 多场所监控中心</a:t>
            </a:r>
          </a:p>
          <a:p>
            <a:pPr>
              <a:spcAft>
                <a:spcPts val="450"/>
              </a:spcAft>
              <a:defRPr sz="1500" b="0">
                <a:solidFill>
                  <a:srgbClr val="1A1A1A"/>
                </a:solidFill>
                <a:latin typeface="Microsoft YaHei"/>
              </a:defRPr>
            </a:pPr>
            <a:r>
              <a:t>打破物理空间限制，实现远程集中值守</a:t>
            </a:r>
          </a:p>
          <a:p>
            <a:pPr>
              <a:spcAft>
                <a:spcPts val="300"/>
              </a:spcAft>
              <a:defRPr sz="1000" b="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002D73"/>
                </a:solidFill>
                <a:latin typeface="Microsoft YaHei"/>
              </a:defRPr>
            </a:pPr>
            <a:r>
              <a:t>▎ 核心价值</a:t>
            </a:r>
          </a:p>
          <a:p>
            <a:pPr>
              <a:spcAft>
                <a:spcPts val="450"/>
              </a:spcAft>
              <a:defRPr sz="1500" b="0">
                <a:solidFill>
                  <a:srgbClr val="A9AEB8"/>
                </a:solidFill>
                <a:latin typeface="Microsoft YaHei"/>
              </a:defRPr>
            </a:pPr>
            <a:r>
              <a:t>统一管控 · 降低人力成本 · 提升响应速度</a:t>
            </a:r>
          </a:p>
        </p:txBody>
      </p:sp>
      <p:sp>
        <p:nvSpPr>
          <p:cNvPr id="8" name="Oval 7"/>
          <p:cNvSpPr/>
          <p:nvPr/>
        </p:nvSpPr>
        <p:spPr>
          <a:xfrm>
            <a:off x="10012680" y="3337560"/>
            <a:ext cx="1005840" cy="100584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3564" b="1">
                <a:solidFill>
                  <a:srgbClr val="FFFFFF"/>
                </a:solidFill>
                <a:latin typeface="Arial"/>
              </a:defRPr>
            </a:pPr>
            <a:r>
              <a:t>监控</a:t>
            </a:r>
            <a:br/>
            <a:r>
              <a:t>中心</a:t>
            </a:r>
          </a:p>
        </p:txBody>
      </p:sp>
      <p:sp>
        <p:nvSpPr>
          <p:cNvPr id="9" name="Oval 8"/>
          <p:cNvSpPr/>
          <p:nvPr/>
        </p:nvSpPr>
        <p:spPr>
          <a:xfrm>
            <a:off x="12024360" y="3520440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分行1</a:t>
            </a:r>
          </a:p>
        </p:txBody>
      </p:sp>
      <p:sp>
        <p:nvSpPr>
          <p:cNvPr id="10" name="Oval 9"/>
          <p:cNvSpPr/>
          <p:nvPr/>
        </p:nvSpPr>
        <p:spPr>
          <a:xfrm>
            <a:off x="11109960" y="5104227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分行2</a:t>
            </a:r>
          </a:p>
        </p:txBody>
      </p:sp>
      <p:sp>
        <p:nvSpPr>
          <p:cNvPr id="11" name="Oval 10"/>
          <p:cNvSpPr/>
          <p:nvPr/>
        </p:nvSpPr>
        <p:spPr>
          <a:xfrm>
            <a:off x="9281160" y="5104227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分行3</a:t>
            </a:r>
          </a:p>
        </p:txBody>
      </p:sp>
      <p:sp>
        <p:nvSpPr>
          <p:cNvPr id="12" name="Oval 11"/>
          <p:cNvSpPr/>
          <p:nvPr/>
        </p:nvSpPr>
        <p:spPr>
          <a:xfrm>
            <a:off x="8366760" y="3520440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分行4</a:t>
            </a:r>
          </a:p>
        </p:txBody>
      </p:sp>
      <p:sp>
        <p:nvSpPr>
          <p:cNvPr id="13" name="Oval 12"/>
          <p:cNvSpPr/>
          <p:nvPr/>
        </p:nvSpPr>
        <p:spPr>
          <a:xfrm>
            <a:off x="9281160" y="1936652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分行5</a:t>
            </a:r>
          </a:p>
        </p:txBody>
      </p:sp>
      <p:sp>
        <p:nvSpPr>
          <p:cNvPr id="14" name="Oval 13"/>
          <p:cNvSpPr/>
          <p:nvPr/>
        </p:nvSpPr>
        <p:spPr>
          <a:xfrm>
            <a:off x="11109960" y="1936652"/>
            <a:ext cx="640080" cy="640080"/>
          </a:xfrm>
          <a:prstGeom prst="ellipse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268" b="1">
                <a:solidFill>
                  <a:srgbClr val="002D73"/>
                </a:solidFill>
                <a:latin typeface="Arial"/>
              </a:defRPr>
            </a:pPr>
            <a:r>
              <a:t>分行6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14630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76352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" cy="128016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868680"/>
            <a:ext cx="502920" cy="50292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82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2D73"/>
                </a:solidFill>
                <a:latin typeface="Microsoft YaHei"/>
              </a:defRPr>
            </a:pPr>
            <a:r>
              <a:t>业内首家对办公场所、重控场所重点部位 24 小时监测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9AEB8"/>
                </a:solidFill>
                <a:latin typeface="Microsoft YaHei"/>
              </a:defRPr>
            </a:pPr>
            <a:r>
              <a:t>发现问题实时通知整改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86000"/>
            <a:ext cx="3657600" cy="4114800"/>
          </a:xfrm>
          <a:prstGeom prst="rect">
            <a:avLst/>
          </a:prstGeom>
          <a:solidFill>
            <a:srgbClr val="F0F2F5"/>
          </a:solidFill>
          <a:ln w="6350">
            <a:solidFill>
              <a:srgbClr val="005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2286000"/>
            <a:ext cx="36576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2D73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73"/>
                </a:solidFill>
                <a:latin typeface="Microsoft YaHei"/>
              </a:defRPr>
            </a:pPr>
            <a:r>
              <a:t>全面感知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办公场所 · 重控场所</a:t>
            </a:r>
            <a:br/>
            <a:r>
              <a:t>燃气阀门 · 重点部位</a:t>
            </a:r>
            <a:br/>
            <a:r>
              <a:t>物联网传感器实时采集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286000"/>
            <a:ext cx="3657600" cy="4114800"/>
          </a:xfrm>
          <a:prstGeom prst="rect">
            <a:avLst/>
          </a:prstGeom>
          <a:solidFill>
            <a:srgbClr val="F0F2F5"/>
          </a:solidFill>
          <a:ln w="6350">
            <a:solidFill>
              <a:srgbClr val="005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286000"/>
            <a:ext cx="36576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2D73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73"/>
                </a:solidFill>
                <a:latin typeface="Microsoft YaHei"/>
              </a:defRPr>
            </a:pPr>
            <a:r>
              <a:t>实时告警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异常行为自动识别</a:t>
            </a:r>
            <a:br/>
            <a:r>
              <a:t>风险事件秒级预警</a:t>
            </a:r>
            <a:br/>
            <a:r>
              <a:t>多渠道通知到人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286000"/>
            <a:ext cx="3657600" cy="4114800"/>
          </a:xfrm>
          <a:prstGeom prst="rect">
            <a:avLst/>
          </a:prstGeom>
          <a:solidFill>
            <a:srgbClr val="F0F2F5"/>
          </a:solidFill>
          <a:ln w="6350">
            <a:solidFill>
              <a:srgbClr val="005A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286000"/>
            <a:ext cx="3657600" cy="54864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2D73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2D73"/>
                </a:solidFill>
                <a:latin typeface="Microsoft YaHei"/>
              </a:defRPr>
            </a:pPr>
            <a:r>
              <a:t>闭环整改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114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问题发现 → 通知 → 处置</a:t>
            </a:r>
            <a:br/>
            <a:r>
              <a:t>→ 复核 → 归档</a:t>
            </a:r>
            <a:br/>
            <a:r>
              <a:t>全流程线上追溯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949440"/>
            <a:ext cx="14630400" cy="54864"/>
          </a:xfrm>
          <a:prstGeom prst="rect">
            <a:avLst/>
          </a:prstGeom>
          <a:solidFill>
            <a:srgbClr val="A9A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7132320"/>
            <a:ext cx="1243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9AEB8"/>
                </a:solidFill>
                <a:latin typeface="Microsoft YaHei"/>
              </a:defRPr>
            </a:pPr>
            <a:r>
              <a:t>涵盖：办公场所 | 重控场所 | 燃气阀门 | 重点部位  ·  监测方式：物联网传感器 + AI视觉识别 + 人工复核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7589520"/>
            <a:ext cx="14630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76352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54864" cy="1280160"/>
          </a:xfrm>
          <a:prstGeom prst="rect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868680"/>
            <a:ext cx="502920" cy="50292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782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D73"/>
                </a:solidFill>
                <a:latin typeface="Microsoft YaHei"/>
              </a:defRPr>
            </a:pPr>
            <a:r>
              <a:t>搭建业内首个网络安全管理平台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9AEB8"/>
                </a:solidFill>
                <a:latin typeface="Microsoft YaHei"/>
              </a:defRPr>
            </a:pPr>
            <a:r>
              <a:t>六大功能监测模型，全维度防护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3566160"/>
            <a:ext cx="2011680" cy="2011680"/>
          </a:xfrm>
          <a:prstGeom prst="ellipse">
            <a:avLst/>
          </a:prstGeom>
          <a:solidFill>
            <a:srgbClr val="002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128" b="1">
                <a:solidFill>
                  <a:srgbClr val="FFFFFF"/>
                </a:solidFill>
                <a:latin typeface="Arial"/>
              </a:defRPr>
            </a:pPr>
            <a:r>
              <a:t>安防</a:t>
            </a:r>
            <a:br/>
            <a:r>
              <a:t>网络</a:t>
            </a:r>
            <a:br/>
            <a:r>
              <a:t>安全</a:t>
            </a:r>
          </a:p>
        </p:txBody>
      </p:sp>
      <p:sp>
        <p:nvSpPr>
          <p:cNvPr id="8" name="Oval 7"/>
          <p:cNvSpPr/>
          <p:nvPr/>
        </p:nvSpPr>
        <p:spPr>
          <a:xfrm>
            <a:off x="6080760" y="3337560"/>
            <a:ext cx="2468880" cy="2468880"/>
          </a:xfrm>
          <a:prstGeom prst="ellipse">
            <a:avLst/>
          </a:prstGeom>
          <a:noFill/>
          <a:ln w="2540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141732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在线准入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设备接入</a:t>
            </a:r>
            <a:br/>
            <a:r>
              <a:t>身份验证</a:t>
            </a:r>
          </a:p>
        </p:txBody>
      </p:sp>
      <p:sp>
        <p:nvSpPr>
          <p:cNvPr id="10" name="Oval 9"/>
          <p:cNvSpPr/>
          <p:nvPr/>
        </p:nvSpPr>
        <p:spPr>
          <a:xfrm>
            <a:off x="8938142" y="269748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防外部攻击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防火墙</a:t>
            </a:r>
            <a:br/>
            <a:r>
              <a:t>入侵检测</a:t>
            </a:r>
          </a:p>
        </p:txBody>
      </p:sp>
      <p:sp>
        <p:nvSpPr>
          <p:cNvPr id="11" name="Oval 10"/>
          <p:cNvSpPr/>
          <p:nvPr/>
        </p:nvSpPr>
        <p:spPr>
          <a:xfrm>
            <a:off x="8938142" y="525780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隔离内网</a:t>
            </a:r>
            <a:br/>
            <a:r>
              <a:t>侵袭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微隔离</a:t>
            </a:r>
            <a:br/>
            <a:r>
              <a:t>横向防护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653796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扫描系统</a:t>
            </a:r>
            <a:br/>
            <a:r>
              <a:t>漏洞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脆弱性</a:t>
            </a:r>
            <a:br/>
            <a:r>
              <a:t>自动巡检</a:t>
            </a:r>
          </a:p>
        </p:txBody>
      </p:sp>
      <p:sp>
        <p:nvSpPr>
          <p:cNvPr id="13" name="Oval 12"/>
          <p:cNvSpPr/>
          <p:nvPr/>
        </p:nvSpPr>
        <p:spPr>
          <a:xfrm>
            <a:off x="4503537" y="525780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监测网络</a:t>
            </a:r>
            <a:br/>
            <a:r>
              <a:t>稳定性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流量分析</a:t>
            </a:r>
            <a:br/>
            <a:r>
              <a:t>异常定位</a:t>
            </a:r>
          </a:p>
        </p:txBody>
      </p:sp>
      <p:sp>
        <p:nvSpPr>
          <p:cNvPr id="14" name="Oval 13"/>
          <p:cNvSpPr/>
          <p:nvPr/>
        </p:nvSpPr>
        <p:spPr>
          <a:xfrm>
            <a:off x="4503537" y="2697480"/>
            <a:ext cx="1188720" cy="1188720"/>
          </a:xfrm>
          <a:prstGeom prst="ellipse">
            <a:avLst/>
          </a:prstGeom>
          <a:solidFill>
            <a:srgbClr val="F0F2F5"/>
          </a:solidFill>
          <a:ln w="19050">
            <a:solidFill>
              <a:srgbClr val="002D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D73"/>
                </a:solidFill>
                <a:latin typeface="Microsoft YaHei"/>
              </a:defRPr>
            </a:pPr>
            <a:r>
              <a:t>入侵预警</a:t>
            </a:r>
          </a:p>
          <a:p>
            <a:pPr algn="ctr">
              <a:defRPr sz="800">
                <a:solidFill>
                  <a:srgbClr val="A9AEB8"/>
                </a:solidFill>
                <a:latin typeface="Microsoft YaHei"/>
              </a:defRPr>
            </a:pPr>
            <a:r>
              <a:t>实时告警</a:t>
            </a:r>
            <a:br/>
            <a:r>
              <a:t>自动响应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7589520"/>
            <a:ext cx="14630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763524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9AEB8"/>
                </a:solidFill>
                <a:latin typeface="Microsoft YaHei"/>
              </a:defRPr>
            </a:pPr>
            <a:r>
              <a:t>【下阶段】加快推进各地分行安防专网建设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