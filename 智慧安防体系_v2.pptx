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01 / 04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428625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428625"/>
            <a:ext cx="381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16305" y="549592"/>
            <a:ext cx="28657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2E8F0"/>
                </a:solidFill>
                <a:latin typeface="Segoe UI"/>
                <a:ea typeface="Microsoft YaHei"/>
                <a:cs typeface="Segoe UI"/>
              </a:rPr>
              <a:t>预警信息看得清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85260" y="746760"/>
            <a:ext cx="27748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消防云平台 · 消防设施感知与视频联动</a:t>
            </a:r>
          </a:p>
        </p:txBody>
      </p:sp>
      <p:sp>
        <p:nvSpPr>
          <p:cNvPr id="14" name="Line 14"/>
          <p:cNvSpPr/>
          <p:nvPr/>
        </p:nvSpPr>
        <p:spPr>
          <a:xfrm>
            <a:off x="571500" y="1333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571500" y="1619250"/>
            <a:ext cx="5334000" cy="2286000"/>
            <a:chOff x="571500" y="1619250"/>
            <a:chExt cx="5334000" cy="2286000"/>
          </a:xfrm>
        </p:grpSpPr>
        <p:sp>
          <p:nvSpPr>
            <p:cNvPr id="15" name="Rectangle 15"/>
            <p:cNvSpPr/>
            <p:nvPr/>
          </p:nvSpPr>
          <p:spPr>
            <a:xfrm>
              <a:off x="571500" y="161925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1619250"/>
              <a:ext cx="53340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17" name="Ellipse 17"/>
            <p:cNvSpPr/>
            <p:nvPr/>
          </p:nvSpPr>
          <p:spPr>
            <a:xfrm>
              <a:off x="828675" y="1876425"/>
              <a:ext cx="533400" cy="533400"/>
            </a:xfrm>
            <a:prstGeom prst="ellipse">
              <a:avLst/>
            </a:prstGeom>
            <a:noFill/>
            <a:ln w="14288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8724" y="2073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94485" y="1932622"/>
              <a:ext cx="17969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IoT全链路感知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76325" y="2552700"/>
              <a:ext cx="34385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实时监测烟雾、温度、火焰传感器数据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6325" y="2886075"/>
              <a:ext cx="33085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IoT设备全链路接入，99.9%感知覆盖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95375" y="3333750"/>
              <a:ext cx="1905000" cy="2857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63421" y="3428524"/>
              <a:ext cx="1168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REAL-TIME SENSING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19250"/>
            <a:ext cx="5334000" cy="2286000"/>
            <a:chOff x="6286500" y="1619250"/>
            <a:chExt cx="5334000" cy="22860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19250"/>
              <a:ext cx="5334000" cy="22860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19250"/>
              <a:ext cx="5334000" cy="28575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543675" y="1876425"/>
              <a:ext cx="533400" cy="533400"/>
            </a:xfrm>
            <a:prstGeom prst="ellipse">
              <a:avLst/>
            </a:prstGeom>
            <a:noFill/>
            <a:ln w="14288">
              <a:solidFill>
                <a:srgbClr val="7C3AED">
                  <a:alpha val="5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3724" y="207359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1932622"/>
              <a:ext cx="19198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AI图像识别联动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1325" y="2552700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预警触发自动调取周边摄像头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1325" y="2886075"/>
              <a:ext cx="30084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AI视觉分析辅助判断火情现场态势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10375" y="3333750"/>
              <a:ext cx="1905000" cy="28575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80709" y="3428524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75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AI VISION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191000"/>
            <a:ext cx="5334000" cy="1905000"/>
            <a:chOff x="571500" y="4191000"/>
            <a:chExt cx="53340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571500" y="4191000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191000"/>
              <a:ext cx="5334000" cy="28575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7" name="Ellipse 37"/>
            <p:cNvSpPr/>
            <p:nvPr/>
          </p:nvSpPr>
          <p:spPr>
            <a:xfrm>
              <a:off x="828675" y="4448175"/>
              <a:ext cx="533400" cy="533400"/>
            </a:xfrm>
            <a:prstGeom prst="ellipse">
              <a:avLst/>
            </a:prstGeom>
            <a:noFill/>
            <a:ln w="14288">
              <a:solidFill>
                <a:srgbClr val="10B981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8724" y="464534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94485" y="4504372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秒级预警延迟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6325" y="5124450"/>
              <a:ext cx="25784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从传感触发到告警推送 &lt; 3秒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6325" y="54578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多通道并行推送，确保消息必达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0107" y="4373880"/>
              <a:ext cx="107436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600" b="1" dirty="0">
                  <a:solidFill>
                    <a:srgbClr val="10B981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&lt; 3s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4191000"/>
            <a:ext cx="5334000" cy="1905000"/>
            <a:chOff x="6286500" y="4191000"/>
            <a:chExt cx="5334000" cy="1905000"/>
          </a:xfrm>
        </p:grpSpPr>
        <p:sp>
          <p:nvSpPr>
            <p:cNvPr id="44" name="Rectangle 44"/>
            <p:cNvSpPr/>
            <p:nvPr/>
          </p:nvSpPr>
          <p:spPr>
            <a:xfrm>
              <a:off x="6286500" y="4191000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86500" y="4191000"/>
              <a:ext cx="53340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46" name="Ellipse 46"/>
            <p:cNvSpPr/>
            <p:nvPr/>
          </p:nvSpPr>
          <p:spPr>
            <a:xfrm>
              <a:off x="6543675" y="4448175"/>
              <a:ext cx="533400" cy="533400"/>
            </a:xfrm>
            <a:prstGeom prst="ellipse">
              <a:avLst/>
            </a:prstGeom>
            <a:noFill/>
            <a:ln w="14288">
              <a:solidFill>
                <a:srgbClr val="00D4FF">
                  <a:alpha val="50000"/>
                </a:srgb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3724" y="4645342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⏱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09485" y="4504372"/>
              <a:ext cx="209728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7×24 不间断运行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1325" y="512445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全天候消防感知覆盖，无死角监控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1325" y="545782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高可用架构，灾备自动切换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99091" y="437388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60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7×24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4000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3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02 / 04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428625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428625"/>
            <a:ext cx="381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16305" y="549592"/>
            <a:ext cx="28657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2E8F0"/>
                </a:solidFill>
                <a:latin typeface="Segoe UI"/>
                <a:ea typeface="Microsoft YaHei"/>
                <a:cs typeface="Segoe UI"/>
              </a:rPr>
              <a:t>管理手势看得清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85260" y="746760"/>
            <a:ext cx="2934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智慧楼宇管理平台 · 办公楼宇可视化管理</a:t>
            </a:r>
          </a:p>
        </p:txBody>
      </p:sp>
      <p:sp>
        <p:nvSpPr>
          <p:cNvPr id="14" name="Line 14"/>
          <p:cNvSpPr/>
          <p:nvPr/>
        </p:nvSpPr>
        <p:spPr>
          <a:xfrm>
            <a:off x="571500" y="1333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40" name="Group 40"/>
          <p:cNvGrpSpPr/>
          <p:nvPr/>
        </p:nvGrpSpPr>
        <p:grpSpPr>
          <a:xfrm>
            <a:off x="571500" y="1571625"/>
            <a:ext cx="5334000" cy="4667250"/>
            <a:chOff x="571500" y="1571625"/>
            <a:chExt cx="5334000" cy="4667250"/>
          </a:xfrm>
        </p:grpSpPr>
        <p:sp>
          <p:nvSpPr>
            <p:cNvPr id="15" name="Rectangle 15"/>
            <p:cNvSpPr/>
            <p:nvPr/>
          </p:nvSpPr>
          <p:spPr>
            <a:xfrm>
              <a:off x="571500" y="1571625"/>
              <a:ext cx="5334000" cy="4667250"/>
            </a:xfrm>
            <a:prstGeom prst="roundRect">
              <a:avLst>
                <a:gd name="adj" fmla="val 1633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33500" y="1952625"/>
              <a:ext cx="3810000" cy="3905250"/>
            </a:xfrm>
            <a:prstGeom prst="roundRect">
              <a:avLst>
                <a:gd name="adj" fmla="val 500"/>
              </a:avLst>
            </a:prstGeom>
            <a:gradFill>
              <a:gsLst>
                <a:gs pos="0">
                  <a:srgbClr val="00D4FF">
                    <a:alpha val="6000"/>
                  </a:srgbClr>
                </a:gs>
                <a:gs pos="100000">
                  <a:srgbClr val="0A0E17">
                    <a:alpha val="0"/>
                  </a:srgbClr>
                </a:gs>
              </a:gsLst>
              <a:lin ang="5400000" scaled="1"/>
            </a:gradFill>
            <a:ln w="7620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333500" y="27146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8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33500" y="34766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8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33500" y="42386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8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5000625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8">
              <a:solidFill>
                <a:srgbClr val="00D4FF">
                  <a:alpha val="25000"/>
                </a:srgb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2190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05000" y="2190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190750" y="2190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19250" y="2952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05000" y="2952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2952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19250" y="3714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05000" y="3714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90750" y="3714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1619250" y="4476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05000" y="4476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190750" y="4476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19250" y="5238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905000" y="5238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190750" y="5238750"/>
              <a:ext cx="114300" cy="114300"/>
            </a:xfrm>
            <a:prstGeom prst="rect">
              <a:avLst/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05000" y="3714750"/>
              <a:ext cx="114300" cy="114300"/>
            </a:xfrm>
            <a:prstGeom prst="rect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1905000" y="2952750"/>
              <a:ext cx="114300" cy="114300"/>
            </a:xfrm>
            <a:prstGeom prst="rect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2190750" y="4476750"/>
              <a:ext cx="114300" cy="114300"/>
            </a:xfrm>
            <a:prstGeom prst="rect">
              <a:avLst/>
            </a:prstGeom>
            <a:solidFill>
              <a:srgbClr val="10B981">
                <a:alpha val="4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1431036" y="5871210"/>
              <a:ext cx="36149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BIM + 3D 数字孪生 · 楼宇结构/设备/管线一屏掌控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571625"/>
            <a:ext cx="5334000" cy="1000125"/>
            <a:chOff x="6286500" y="1571625"/>
            <a:chExt cx="5334000" cy="1000125"/>
          </a:xfrm>
        </p:grpSpPr>
        <p:sp>
          <p:nvSpPr>
            <p:cNvPr id="41" name="Rectangle 41"/>
            <p:cNvSpPr/>
            <p:nvPr/>
          </p:nvSpPr>
          <p:spPr>
            <a:xfrm>
              <a:off x="6286500" y="1571625"/>
              <a:ext cx="5334000" cy="1000125"/>
            </a:xfrm>
            <a:prstGeom prst="roundRect">
              <a:avLst>
                <a:gd name="adj" fmla="val 571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1571625"/>
              <a:ext cx="38100" cy="100012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7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6549390" y="1805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空间管理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6058" y="2167414"/>
              <a:ext cx="45294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楼层平面可视化 · 工位分配 · 会议室预约 · 空间利用率分析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74323" y="1894999"/>
              <a:ext cx="382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75" dirty="0">
                  <a:solidFill>
                    <a:srgbClr val="00D4FF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SPACE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2762250"/>
            <a:ext cx="5334000" cy="1000125"/>
            <a:chOff x="6286500" y="2762250"/>
            <a:chExt cx="5334000" cy="1000125"/>
          </a:xfrm>
        </p:grpSpPr>
        <p:sp>
          <p:nvSpPr>
            <p:cNvPr id="47" name="Rectangle 47"/>
            <p:cNvSpPr/>
            <p:nvPr/>
          </p:nvSpPr>
          <p:spPr>
            <a:xfrm>
              <a:off x="6286500" y="2762250"/>
              <a:ext cx="5334000" cy="1000125"/>
            </a:xfrm>
            <a:prstGeom prst="roundRect">
              <a:avLst>
                <a:gd name="adj" fmla="val 571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86500" y="2762250"/>
              <a:ext cx="38100" cy="1000125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7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49" name="TextBox 49"/>
            <p:cNvSpPr txBox="1"/>
            <p:nvPr/>
          </p:nvSpPr>
          <p:spPr>
            <a:xfrm>
              <a:off x="6549390" y="29965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能耗监控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6058" y="3358039"/>
              <a:ext cx="43594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水电气实时计量 · 碳排放跟踪 · 异常用量告警 · 能效优化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02814" y="3085624"/>
              <a:ext cx="453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75" dirty="0">
                  <a:solidFill>
                    <a:srgbClr val="7C3AED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ENERGY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86500" y="3952875"/>
            <a:ext cx="5334000" cy="1000125"/>
            <a:chOff x="6286500" y="3952875"/>
            <a:chExt cx="5334000" cy="1000125"/>
          </a:xfrm>
        </p:grpSpPr>
        <p:sp>
          <p:nvSpPr>
            <p:cNvPr id="53" name="Rectangle 53"/>
            <p:cNvSpPr/>
            <p:nvPr/>
          </p:nvSpPr>
          <p:spPr>
            <a:xfrm>
              <a:off x="6286500" y="3952875"/>
              <a:ext cx="5334000" cy="1000125"/>
            </a:xfrm>
            <a:prstGeom prst="roundRect">
              <a:avLst>
                <a:gd name="adj" fmla="val 571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86500" y="3952875"/>
              <a:ext cx="38100" cy="1000125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7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6549390" y="41871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设备运维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56058" y="4548664"/>
              <a:ext cx="44699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设备全生命周期管理 · 预测性维护 · 巡检数字化 · SLA管理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91337" y="4276249"/>
              <a:ext cx="2652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75" dirty="0">
                  <a:solidFill>
                    <a:srgbClr val="10B981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OPS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86500" y="5143500"/>
            <a:ext cx="5334000" cy="1000125"/>
            <a:chOff x="6286500" y="5143500"/>
            <a:chExt cx="5334000" cy="1000125"/>
          </a:xfrm>
        </p:grpSpPr>
        <p:sp>
          <p:nvSpPr>
            <p:cNvPr id="59" name="Rectangle 59"/>
            <p:cNvSpPr/>
            <p:nvPr/>
          </p:nvSpPr>
          <p:spPr>
            <a:xfrm>
              <a:off x="6286500" y="5143500"/>
              <a:ext cx="5334000" cy="1000125"/>
            </a:xfrm>
            <a:prstGeom prst="roundRect">
              <a:avLst>
                <a:gd name="adj" fmla="val 571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86500" y="5143500"/>
              <a:ext cx="38100" cy="100012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7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61" name="TextBox 61"/>
            <p:cNvSpPr txBox="1"/>
            <p:nvPr/>
          </p:nvSpPr>
          <p:spPr>
            <a:xfrm>
              <a:off x="6549390" y="537781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应急指挥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6058" y="5739289"/>
              <a:ext cx="40193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安防态势感知 · 环境监测 · 应急预案联动 · 一屏调度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62284" y="5466874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75" dirty="0">
                  <a:solidFill>
                    <a:srgbClr val="00D4FF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EMERGENCY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238500" y="762000"/>
            <a:ext cx="5715000" cy="5715000"/>
          </a:xfrm>
          <a:prstGeom prst="ellipse">
            <a:avLst/>
          </a:prstGeom>
          <a:gradFill>
            <a:gsLst>
              <a:gs pos="0">
                <a:srgbClr val="00D4FF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00D4FF">
                <a:alpha val="25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00D4FF">
                <a:alpha val="25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03 / 04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428625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428625"/>
            <a:ext cx="381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16305" y="549592"/>
            <a:ext cx="28657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2E8F0"/>
                </a:solidFill>
                <a:latin typeface="Segoe UI"/>
                <a:ea typeface="Microsoft YaHei"/>
                <a:cs typeface="Segoe UI"/>
              </a:rPr>
              <a:t>处置流程看得清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85260" y="746760"/>
            <a:ext cx="3254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金库智能安防系统 · 金库安全数字化统一管理</a:t>
            </a:r>
          </a:p>
        </p:txBody>
      </p:sp>
      <p:sp>
        <p:nvSpPr>
          <p:cNvPr id="11" name="Line 11"/>
          <p:cNvSpPr/>
          <p:nvPr/>
        </p:nvSpPr>
        <p:spPr>
          <a:xfrm>
            <a:off x="571500" y="1333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048250" y="1905000"/>
            <a:ext cx="2095500" cy="2095500"/>
            <a:chOff x="5048250" y="1905000"/>
            <a:chExt cx="2095500" cy="2095500"/>
          </a:xfrm>
        </p:grpSpPr>
        <p:sp>
          <p:nvSpPr>
            <p:cNvPr id="12" name="Freeform 12"/>
            <p:cNvSpPr/>
            <p:nvPr/>
          </p:nvSpPr>
          <p:spPr>
            <a:xfrm>
              <a:off x="5572125" y="2190750"/>
              <a:ext cx="1047750" cy="1524000"/>
            </a:xfrm>
            <a:custGeom>
              <a:avLst/>
              <a:gdLst/>
              <a:ahLst/>
              <a:cxnLst/>
              <a:rect l="l" t="t" r="r" b="b"/>
              <a:pathLst>
                <a:path w="1047750" h="1524000">
                  <a:moveTo>
                    <a:pt x="523875" y="0"/>
                  </a:moveTo>
                  <a:lnTo>
                    <a:pt x="1047750" y="238125"/>
                  </a:lnTo>
                  <a:lnTo>
                    <a:pt x="1047750" y="952500"/>
                  </a:lnTo>
                  <a:cubicBezTo>
                    <a:pt x="1047750" y="1174750"/>
                    <a:pt x="873125" y="1365250"/>
                    <a:pt x="523875" y="1524000"/>
                  </a:cubicBezTo>
                  <a:cubicBezTo>
                    <a:pt x="174625" y="1365250"/>
                    <a:pt x="0" y="1174750"/>
                    <a:pt x="0" y="952500"/>
                  </a:cubicBezTo>
                  <a:lnTo>
                    <a:pt x="0" y="238125"/>
                  </a:lnTo>
                  <a:close/>
                </a:path>
              </a:pathLst>
            </a:custGeom>
            <a:noFill/>
            <a:ln w="14288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0" y="238125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381000" y="0"/>
                  </a:moveTo>
                  <a:lnTo>
                    <a:pt x="762000" y="190500"/>
                  </a:lnTo>
                  <a:lnTo>
                    <a:pt x="762000" y="714375"/>
                  </a:lnTo>
                  <a:cubicBezTo>
                    <a:pt x="762000" y="885825"/>
                    <a:pt x="635000" y="1028700"/>
                    <a:pt x="381000" y="1143000"/>
                  </a:cubicBezTo>
                  <a:cubicBezTo>
                    <a:pt x="127000" y="1028700"/>
                    <a:pt x="0" y="885825"/>
                    <a:pt x="0" y="714375"/>
                  </a:cubicBezTo>
                  <a:lnTo>
                    <a:pt x="0" y="190500"/>
                  </a:lnTo>
                  <a:close/>
                </a:path>
              </a:pathLst>
            </a:custGeom>
            <a:solidFill>
              <a:srgbClr val="00D4FF">
                <a:alpha val="8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953125" y="2828925"/>
              <a:ext cx="314325" cy="219075"/>
            </a:xfrm>
            <a:custGeom>
              <a:avLst/>
              <a:gdLst/>
              <a:ahLst/>
              <a:cxnLst/>
              <a:rect l="l" t="t" r="r" b="b"/>
              <a:pathLst>
                <a:path w="314325" h="219075">
                  <a:moveTo>
                    <a:pt x="0" y="123825"/>
                  </a:moveTo>
                  <a:lnTo>
                    <a:pt x="95250" y="219075"/>
                  </a:lnTo>
                  <a:lnTo>
                    <a:pt x="314325" y="0"/>
                  </a:lnTo>
                </a:path>
              </a:pathLst>
            </a:custGeom>
            <a:noFill/>
            <a:ln w="28575" cap="rnd">
              <a:solidFill>
                <a:srgbClr val="10B981"/>
              </a:solidFill>
              <a:round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5191125" y="2047875"/>
              <a:ext cx="1809750" cy="1809750"/>
            </a:xfrm>
            <a:prstGeom prst="ellipse">
              <a:avLst/>
            </a:prstGeom>
            <a:noFill/>
            <a:ln w="4762">
              <a:solidFill>
                <a:srgbClr val="00D4FF">
                  <a:alpha val="15000"/>
                </a:srgb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048250" y="1905000"/>
              <a:ext cx="2095500" cy="2095500"/>
            </a:xfrm>
            <a:prstGeom prst="ellipse">
              <a:avLst/>
            </a:prstGeom>
            <a:noFill/>
            <a:ln w="2858">
              <a:solidFill>
                <a:srgbClr val="00D4FF">
                  <a:alpha val="8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43000" y="1714500"/>
            <a:ext cx="3048000" cy="1238250"/>
            <a:chOff x="1143000" y="1714500"/>
            <a:chExt cx="3048000" cy="1238250"/>
          </a:xfrm>
        </p:grpSpPr>
        <p:sp>
          <p:nvSpPr>
            <p:cNvPr id="18" name="Rectangle 18"/>
            <p:cNvSpPr/>
            <p:nvPr/>
          </p:nvSpPr>
          <p:spPr>
            <a:xfrm>
              <a:off x="1143000" y="1714500"/>
              <a:ext cx="304800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43000" y="1714500"/>
              <a:ext cx="30480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1368742" y="19902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00D4FF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LAYER 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58265" y="22059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生物识别认证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64932" y="2576989"/>
              <a:ext cx="24891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人脸 · 指纹 · 虹膜 · 多因子认证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1714500"/>
            <a:ext cx="3048000" cy="1238250"/>
            <a:chOff x="8001000" y="1714500"/>
            <a:chExt cx="3048000" cy="1238250"/>
          </a:xfrm>
        </p:grpSpPr>
        <p:sp>
          <p:nvSpPr>
            <p:cNvPr id="24" name="Rectangle 24"/>
            <p:cNvSpPr/>
            <p:nvPr/>
          </p:nvSpPr>
          <p:spPr>
            <a:xfrm>
              <a:off x="8001000" y="1714500"/>
              <a:ext cx="304800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0" y="1714500"/>
              <a:ext cx="3048000" cy="28575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8226742" y="19902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7C3AED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LAYER 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16265" y="22059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智能视频分析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2932" y="2576989"/>
              <a:ext cx="26082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行为轨迹追踪 · 异常行为实时检测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143500"/>
            <a:ext cx="3048000" cy="1238250"/>
            <a:chOff x="1143000" y="5143500"/>
            <a:chExt cx="3048000" cy="1238250"/>
          </a:xfrm>
        </p:grpSpPr>
        <p:sp>
          <p:nvSpPr>
            <p:cNvPr id="30" name="Rectangle 30"/>
            <p:cNvSpPr/>
            <p:nvPr/>
          </p:nvSpPr>
          <p:spPr>
            <a:xfrm>
              <a:off x="1143000" y="5143500"/>
              <a:ext cx="304800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143000" y="5143500"/>
              <a:ext cx="3048000" cy="28575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1368742" y="54192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10B981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LAYER 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8265" y="56349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全流程审计追溯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4932" y="6005989"/>
              <a:ext cx="2268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操作日志全记录 · 区块链存证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5143500"/>
            <a:ext cx="3048000" cy="1238250"/>
            <a:chOff x="8001000" y="5143500"/>
            <a:chExt cx="3048000" cy="1238250"/>
          </a:xfrm>
        </p:grpSpPr>
        <p:sp>
          <p:nvSpPr>
            <p:cNvPr id="36" name="Rectangle 36"/>
            <p:cNvSpPr/>
            <p:nvPr/>
          </p:nvSpPr>
          <p:spPr>
            <a:xfrm>
              <a:off x="8001000" y="5143500"/>
              <a:ext cx="304800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01000" y="5143500"/>
              <a:ext cx="304800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8226742" y="541924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00D4FF">
                      <a:alphaMod val="60000"/>
                    </a:srgbClr>
                  </a:solidFill>
                  <a:latin typeface="Consolas"/>
                  <a:ea typeface="Consolas"/>
                  <a:cs typeface="Consolas"/>
                </a:rPr>
                <a:t>LAYER 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16265" y="56349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零信任架构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2932" y="6005989"/>
              <a:ext cx="28037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持续验证 · 最小权限 · 动态访问控制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2667000" y="2381250"/>
            <a:ext cx="2571750" cy="762000"/>
          </a:xfrm>
          <a:custGeom>
            <a:avLst/>
            <a:gdLst/>
            <a:ahLst/>
            <a:cxnLst/>
            <a:rect l="l" t="t" r="r" b="b"/>
            <a:pathLst>
              <a:path w="2571750" h="762000">
                <a:moveTo>
                  <a:pt x="2571750" y="762000"/>
                </a:moveTo>
                <a:cubicBezTo>
                  <a:pt x="857250" y="254000"/>
                  <a:pt x="0" y="0"/>
                  <a:pt x="0" y="0"/>
                </a:cubicBez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6953250" y="2381250"/>
            <a:ext cx="2571750" cy="762000"/>
          </a:xfrm>
          <a:custGeom>
            <a:avLst/>
            <a:gdLst/>
            <a:ahLst/>
            <a:cxnLst/>
            <a:rect l="l" t="t" r="r" b="b"/>
            <a:pathLst>
              <a:path w="2571750" h="762000">
                <a:moveTo>
                  <a:pt x="0" y="762000"/>
                </a:moveTo>
                <a:cubicBezTo>
                  <a:pt x="1714500" y="254000"/>
                  <a:pt x="2571750" y="0"/>
                  <a:pt x="2571750" y="0"/>
                </a:cubicBez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2667000" y="3524250"/>
            <a:ext cx="2571750" cy="2190750"/>
          </a:xfrm>
          <a:custGeom>
            <a:avLst/>
            <a:gdLst/>
            <a:ahLst/>
            <a:cxnLst/>
            <a:rect l="l" t="t" r="r" b="b"/>
            <a:pathLst>
              <a:path w="2571750" h="2190750">
                <a:moveTo>
                  <a:pt x="2571750" y="0"/>
                </a:moveTo>
                <a:cubicBezTo>
                  <a:pt x="857250" y="1460500"/>
                  <a:pt x="0" y="2190750"/>
                  <a:pt x="0" y="2190750"/>
                </a:cubicBez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  <p:sp>
        <p:nvSpPr>
          <p:cNvPr id="45" name="Freeform 45"/>
          <p:cNvSpPr/>
          <p:nvPr/>
        </p:nvSpPr>
        <p:spPr>
          <a:xfrm>
            <a:off x="6953250" y="3524250"/>
            <a:ext cx="2571750" cy="2190750"/>
          </a:xfrm>
          <a:custGeom>
            <a:avLst/>
            <a:gdLst/>
            <a:ahLst/>
            <a:cxnLst/>
            <a:rect l="l" t="t" r="r" b="b"/>
            <a:pathLst>
              <a:path w="2571750" h="2190750">
                <a:moveTo>
                  <a:pt x="0" y="0"/>
                </a:moveTo>
                <a:cubicBezTo>
                  <a:pt x="1714500" y="1460500"/>
                  <a:pt x="2571750" y="2190750"/>
                  <a:pt x="2571750" y="2190750"/>
                </a:cubicBezTo>
              </a:path>
            </a:pathLst>
          </a:custGeom>
          <a:noFill/>
          <a:ln w="9525">
            <a:solidFill>
              <a:srgbClr val="00D4FF">
                <a:alpha val="12000"/>
              </a:srgb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04 / 04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428625"/>
            <a:ext cx="11049000" cy="6667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428625"/>
            <a:ext cx="38100" cy="66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16305" y="549592"/>
            <a:ext cx="206763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E2E8F0"/>
                </a:solidFill>
                <a:latin typeface="Segoe UI"/>
                <a:ea typeface="Microsoft YaHei"/>
                <a:cs typeface="Segoe UI"/>
              </a:rPr>
              <a:t>下阶段规划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09010" y="746760"/>
            <a:ext cx="29348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构建统一风险预警视图 · 打通全链路数据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1333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1E293B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571500" y="1571625"/>
            <a:ext cx="3524250" cy="1238250"/>
            <a:chOff x="571500" y="1571625"/>
            <a:chExt cx="3524250" cy="1238250"/>
          </a:xfrm>
        </p:grpSpPr>
        <p:sp>
          <p:nvSpPr>
            <p:cNvPr id="9" name="Rectangle 9"/>
            <p:cNvSpPr/>
            <p:nvPr/>
          </p:nvSpPr>
          <p:spPr>
            <a:xfrm>
              <a:off x="571500" y="1571625"/>
              <a:ext cx="352425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571625"/>
              <a:ext cx="3524250" cy="28575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838200" y="1838325"/>
              <a:ext cx="419100" cy="419100"/>
            </a:xfrm>
            <a:prstGeom prst="ellipse">
              <a:avLst/>
            </a:pr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5910" y="20012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5420" y="18507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数据湖搭建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0182" y="2176939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集中存储四大平台全量数据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60182" y="24341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统一数据治理与质量管控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33875" y="1571625"/>
            <a:ext cx="3524250" cy="1238250"/>
            <a:chOff x="4333875" y="1571625"/>
            <a:chExt cx="35242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4333875" y="1571625"/>
              <a:ext cx="352425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33875" y="1571625"/>
              <a:ext cx="3524250" cy="28575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4600575" y="1838325"/>
              <a:ext cx="419100" cy="419100"/>
            </a:xfrm>
            <a:prstGeom prst="ellipse">
              <a:avLst/>
            </a:prstGeom>
            <a:noFill/>
            <a:ln w="14288">
              <a:solidFill>
                <a:srgbClr val="7C3AED">
                  <a:alpha val="4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58285" y="20012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7795" y="1850708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四大平台数据链路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2558" y="2176939"/>
              <a:ext cx="19791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消防 · 楼宇 · 安防 · 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22558" y="243411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跨平台数据实时互通互联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96250" y="1571625"/>
            <a:ext cx="3524250" cy="1238250"/>
            <a:chOff x="8096250" y="1571625"/>
            <a:chExt cx="3524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096250" y="1571625"/>
              <a:ext cx="3524250" cy="1238250"/>
            </a:xfrm>
            <a:prstGeom prst="roundRect">
              <a:avLst>
                <a:gd name="adj" fmla="val 6154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96250" y="1571625"/>
              <a:ext cx="3524250" cy="28575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60000"/>
              </a:srgbClr>
            </a:solidFill>
            <a:ln>
              <a:noFill/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8362950" y="1838325"/>
              <a:ext cx="419100" cy="419100"/>
            </a:xfrm>
            <a:prstGeom prst="ellipse">
              <a:avLst/>
            </a:prstGeom>
            <a:noFill/>
            <a:ln w="14288">
              <a:solidFill>
                <a:srgbClr val="10B981">
                  <a:alpha val="4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0660" y="200120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80170" y="1850708"/>
              <a:ext cx="19363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安防APP接入E事通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84932" y="217693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移动端统一安防事件入口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84932" y="2434114"/>
              <a:ext cx="24636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事件上报 · 处置闭环 · 移动审批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676900" y="3267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实施路线</a:t>
            </a:r>
          </a:p>
        </p:txBody>
      </p:sp>
      <p:sp>
        <p:nvSpPr>
          <p:cNvPr id="34" name="Line 34"/>
          <p:cNvSpPr/>
          <p:nvPr/>
        </p:nvSpPr>
        <p:spPr>
          <a:xfrm>
            <a:off x="952500" y="409575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19050">
            <a:solidFill>
              <a:srgbClr val="1E293B"/>
            </a:solidFill>
            <a:prstDash val="lgDash"/>
          </a:ln>
        </p:spPr>
      </p:sp>
      <p:grpSp>
        <p:nvGrpSpPr>
          <p:cNvPr id="39" name="Group 39"/>
          <p:cNvGrpSpPr/>
          <p:nvPr/>
        </p:nvGrpSpPr>
        <p:grpSpPr>
          <a:xfrm>
            <a:off x="1299210" y="4019550"/>
            <a:ext cx="830580" cy="1238250"/>
            <a:chOff x="1299210" y="4019550"/>
            <a:chExt cx="830580" cy="1238250"/>
          </a:xfrm>
        </p:grpSpPr>
        <p:sp>
          <p:nvSpPr>
            <p:cNvPr id="35" name="Line 35"/>
            <p:cNvSpPr/>
            <p:nvPr/>
          </p:nvSpPr>
          <p:spPr>
            <a:xfrm>
              <a:off x="1714500" y="4095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00D4FF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638300" y="4019550"/>
              <a:ext cx="152400" cy="152400"/>
            </a:xfrm>
            <a:prstGeom prst="ellipse">
              <a:avLst/>
            </a:prstGeom>
            <a:solidFill>
              <a:srgbClr val="0A0E17"/>
            </a:solidFill>
            <a:ln w="23812">
              <a:solidFill>
                <a:srgbClr val="00D4FF"/>
              </a:solidFill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1380020" y="4775835"/>
              <a:ext cx="668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2026 Q3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99210" y="50139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数据湖搭建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7160" y="4019550"/>
            <a:ext cx="1630680" cy="1238250"/>
            <a:chOff x="3947160" y="4019550"/>
            <a:chExt cx="1630680" cy="1238250"/>
          </a:xfrm>
        </p:grpSpPr>
        <p:sp>
          <p:nvSpPr>
            <p:cNvPr id="40" name="Line 40"/>
            <p:cNvSpPr/>
            <p:nvPr/>
          </p:nvSpPr>
          <p:spPr>
            <a:xfrm>
              <a:off x="4762500" y="4095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7C3AED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686300" y="4019550"/>
              <a:ext cx="152400" cy="152400"/>
            </a:xfrm>
            <a:prstGeom prst="ellipse">
              <a:avLst/>
            </a:prstGeom>
            <a:solidFill>
              <a:srgbClr val="0A0E17"/>
            </a:solidFill>
            <a:ln w="23812">
              <a:solidFill>
                <a:srgbClr val="7C3AED"/>
              </a:solidFill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42" name="TextBox 42"/>
            <p:cNvSpPr txBox="1"/>
            <p:nvPr/>
          </p:nvSpPr>
          <p:spPr>
            <a:xfrm>
              <a:off x="4428020" y="4775835"/>
              <a:ext cx="668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C3AED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2026 Q4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47160" y="50139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四大平台数据链路打通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139178" y="4019550"/>
            <a:ext cx="1342644" cy="1238250"/>
            <a:chOff x="7139178" y="4019550"/>
            <a:chExt cx="1342644" cy="1238250"/>
          </a:xfrm>
        </p:grpSpPr>
        <p:sp>
          <p:nvSpPr>
            <p:cNvPr id="45" name="Line 45"/>
            <p:cNvSpPr/>
            <p:nvPr/>
          </p:nvSpPr>
          <p:spPr>
            <a:xfrm>
              <a:off x="7810500" y="4095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10B981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734300" y="4019550"/>
              <a:ext cx="152400" cy="152400"/>
            </a:xfrm>
            <a:prstGeom prst="ellipse">
              <a:avLst/>
            </a:prstGeom>
            <a:solidFill>
              <a:srgbClr val="0A0E17"/>
            </a:solidFill>
            <a:ln w="23812">
              <a:solidFill>
                <a:srgbClr val="10B981"/>
              </a:solidFill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7476020" y="4775835"/>
              <a:ext cx="668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0B981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2027 Q1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9178" y="5013960"/>
              <a:ext cx="13426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安防APP接入E事通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662160" y="3943350"/>
            <a:ext cx="1630680" cy="1545431"/>
            <a:chOff x="9662160" y="3943350"/>
            <a:chExt cx="1630680" cy="1545431"/>
          </a:xfrm>
        </p:grpSpPr>
        <p:sp>
          <p:nvSpPr>
            <p:cNvPr id="50" name="Line 50"/>
            <p:cNvSpPr/>
            <p:nvPr/>
          </p:nvSpPr>
          <p:spPr>
            <a:xfrm>
              <a:off x="10477500" y="4095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4288">
              <a:solidFill>
                <a:srgbClr val="00D4FF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325100" y="3943350"/>
              <a:ext cx="304800" cy="304800"/>
            </a:xfrm>
            <a:prstGeom prst="ellipse">
              <a:avLst/>
            </a:prstGeom>
            <a:noFill/>
            <a:ln w="9525">
              <a:solidFill>
                <a:srgbClr val="00D4FF">
                  <a:alpha val="30000"/>
                </a:srgbClr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0401300" y="4019550"/>
              <a:ext cx="152400" cy="152400"/>
            </a:xfrm>
            <a:prstGeom prst="ellipse">
              <a:avLst/>
            </a:prstGeom>
            <a:solidFill>
              <a:srgbClr val="00D4FF"/>
            </a:solidFill>
            <a:ln w="23812">
              <a:solidFill>
                <a:srgbClr val="00D4FF"/>
              </a:solidFill>
            </a:ln>
            <a:effectLst>
              <a:glow rad="28575">
                <a:srgbClr val="000000">
                  <a:alpha val="30000"/>
                </a:srgbClr>
              </a:glo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10143020" y="4775835"/>
              <a:ext cx="668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D4FF"/>
                  </a:solidFill>
                  <a:effectLst>
                    <a:glow rad="2857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2027 Q2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62160" y="50139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统一风险预警视图上线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96500" y="5257800"/>
              <a:ext cx="762000" cy="209550"/>
            </a:xfrm>
            <a:prstGeom prst="roundRect">
              <a:avLst>
                <a:gd name="adj" fmla="val 50000"/>
              </a:avLst>
            </a:prstGeom>
            <a:solidFill>
              <a:srgbClr val="00D4FF">
                <a:alpha val="1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35006" y="5321141"/>
              <a:ext cx="2849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5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GOAL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5476875"/>
            <a:ext cx="11049000" cy="714375"/>
            <a:chOff x="571500" y="5476875"/>
            <a:chExt cx="11049000" cy="714375"/>
          </a:xfrm>
        </p:grpSpPr>
        <p:sp>
          <p:nvSpPr>
            <p:cNvPr id="58" name="Rectangle 58"/>
            <p:cNvSpPr/>
            <p:nvPr/>
          </p:nvSpPr>
          <p:spPr>
            <a:xfrm>
              <a:off x="571500" y="5476875"/>
              <a:ext cx="11049000" cy="714375"/>
            </a:xfrm>
            <a:prstGeom prst="roundRect">
              <a:avLst>
                <a:gd name="adj" fmla="val 8000"/>
              </a:avLst>
            </a:prstGeom>
            <a:solidFill>
              <a:srgbClr val="111827"/>
            </a:solidFill>
            <a:ln w="9525">
              <a:solidFill>
                <a:srgbClr val="1E293B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1500" y="5476875"/>
              <a:ext cx="11049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D4FF">
                    <a:alpha val="40000"/>
                  </a:srgbClr>
                </a:gs>
                <a:gs pos="100000">
                  <a:srgbClr val="7C3AED">
                    <a:alpha val="4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47725" y="5676900"/>
              <a:ext cx="304800" cy="304800"/>
            </a:xfrm>
            <a:prstGeom prst="ellipse">
              <a:avLst/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5691" y="5789295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0D4FF"/>
                  </a:solidFill>
                  <a:latin typeface="Consolas"/>
                  <a:ea typeface="Consolas"/>
                  <a:cs typeface="Consolas"/>
                </a:rPr>
                <a:t>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16355" y="5750242"/>
              <a:ext cx="63170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2027 Q2 终态：数据湖 + 四大平台 + 安防APP + E事通 = 智慧安防统一态势感知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2026-06-21T11:08:37Z</dcterms:created>
  <dcterms:modified xsi:type="dcterms:W3CDTF">2026-06-21T11:08:37Z</dcterms:modified>
  <cp:category/>
  <cp:contentStatus/>
</cp:coreProperties>
</file>