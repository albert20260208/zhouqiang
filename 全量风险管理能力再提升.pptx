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94415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54864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03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Microsoft YaHei"/>
              </a:defRPr>
            </a:pPr>
            <a:r>
              <a:t>全量风险管理能力再提升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基于专业视角的课题研究  ·  数据湖建设  ·  AI智能分析辅助决策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109441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01 / 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3520440" cy="4434840"/>
          </a:xfrm>
          <a:prstGeom prst="roundRect">
            <a:avLst/>
          </a:prstGeom>
          <a:solidFill>
            <a:srgbClr val="0F14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828800"/>
            <a:ext cx="3520440" cy="457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2029968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20848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课题研究驱动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230428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Professional 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2578608"/>
            <a:ext cx="960120" cy="256032"/>
          </a:xfrm>
          <a:prstGeom prst="roundRect">
            <a:avLst/>
          </a:prstGeom>
          <a:solidFill>
            <a:srgbClr val="141F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5968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4FF"/>
                </a:solidFill>
                <a:latin typeface="Microsoft YaHei"/>
              </a:defRPr>
            </a:pPr>
            <a:r>
              <a:t>全量风险管理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28216" y="2578608"/>
            <a:ext cx="960120" cy="256032"/>
          </a:xfrm>
          <a:prstGeom prst="roundRect">
            <a:avLst/>
          </a:prstGeom>
          <a:solidFill>
            <a:srgbClr val="141F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25968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4FF"/>
                </a:solidFill>
                <a:latin typeface="Microsoft YaHei"/>
              </a:defRPr>
            </a:pPr>
            <a:r>
              <a:t>专业视角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52344" y="2578608"/>
            <a:ext cx="960120" cy="256032"/>
          </a:xfrm>
          <a:prstGeom prst="roundRect">
            <a:avLst/>
          </a:prstGeom>
          <a:solidFill>
            <a:srgbClr val="141F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7208" y="25968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4FF"/>
                </a:solidFill>
                <a:latin typeface="Microsoft YaHei"/>
              </a:defRPr>
            </a:pPr>
            <a:r>
              <a:t>能力再提升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2971800"/>
            <a:ext cx="14630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200400"/>
            <a:ext cx="311810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基于《全量风险管理能力再提升》课题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覆盖风险识别、评估、预警全链条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引入行业最佳实践与专业方法论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建立量化指标体系与评估模型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推动风险管理从被动应对到主动防控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828800"/>
            <a:ext cx="3520440" cy="4434840"/>
          </a:xfrm>
          <a:prstGeom prst="roundRect">
            <a:avLst/>
          </a:prstGeom>
          <a:solidFill>
            <a:srgbClr val="0F14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43400" y="1828800"/>
            <a:ext cx="3520440" cy="457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44568" y="2029968"/>
            <a:ext cx="365760" cy="3657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0056" y="20848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数据湖建设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6" y="230428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Data Lake Construction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44568" y="2578608"/>
            <a:ext cx="960120" cy="256032"/>
          </a:xfrm>
          <a:prstGeom prst="roundRect">
            <a:avLst/>
          </a:prstGeom>
          <a:solidFill>
            <a:srgbClr val="141F2E"/>
          </a:solidFill>
          <a:ln w="63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25968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C00"/>
                </a:solidFill>
                <a:latin typeface="Microsoft YaHei"/>
              </a:defRPr>
            </a:pPr>
            <a:r>
              <a:t>数据湖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68696" y="2578608"/>
            <a:ext cx="960120" cy="256032"/>
          </a:xfrm>
          <a:prstGeom prst="roundRect">
            <a:avLst/>
          </a:prstGeom>
          <a:solidFill>
            <a:srgbClr val="141F2E"/>
          </a:solidFill>
          <a:ln w="63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3560" y="25968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C00"/>
                </a:solidFill>
                <a:latin typeface="Microsoft YaHei"/>
              </a:defRPr>
            </a:pPr>
            <a:r>
              <a:t>线上流程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92824" y="2578608"/>
            <a:ext cx="960120" cy="256032"/>
          </a:xfrm>
          <a:prstGeom prst="roundRect">
            <a:avLst/>
          </a:prstGeom>
          <a:solidFill>
            <a:srgbClr val="141F2E"/>
          </a:solidFill>
          <a:ln w="63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7688" y="25968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C00"/>
                </a:solidFill>
                <a:latin typeface="Microsoft YaHei"/>
              </a:defRPr>
            </a:pPr>
            <a:r>
              <a:t>数据治理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44568" y="2971800"/>
            <a:ext cx="146304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3200400"/>
            <a:ext cx="311810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构建统一数据湖汇聚全域安全数据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完善线上流程实现全链路数字化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打通数据孤岛促进跨系统融合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建立数据标准化与质量管控机制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支撑实时分析与历史回溯双场景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1828800"/>
            <a:ext cx="3520440" cy="4434840"/>
          </a:xfrm>
          <a:prstGeom prst="roundRect">
            <a:avLst/>
          </a:prstGeom>
          <a:solidFill>
            <a:srgbClr val="0F14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83879" y="1828800"/>
            <a:ext cx="3520440" cy="45720"/>
          </a:xfrm>
          <a:prstGeom prst="roundRect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85047" y="2029968"/>
            <a:ext cx="365760" cy="365760"/>
          </a:xfrm>
          <a:prstGeom prst="ellipse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0535" y="20848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AI智能分析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0535" y="230428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AI-Powered Analytics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85047" y="2578608"/>
            <a:ext cx="960120" cy="256032"/>
          </a:xfrm>
          <a:prstGeom prst="roundRect">
            <a:avLst/>
          </a:prstGeom>
          <a:solidFill>
            <a:srgbClr val="141F2E"/>
          </a:solidFill>
          <a:ln w="6350">
            <a:solidFill>
              <a:srgbClr val="00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9911" y="25968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CF8E"/>
                </a:solidFill>
                <a:latin typeface="Microsoft YaHei"/>
              </a:defRPr>
            </a:pPr>
            <a:r>
              <a:t>安全态势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09175" y="2578608"/>
            <a:ext cx="960120" cy="256032"/>
          </a:xfrm>
          <a:prstGeom prst="roundRect">
            <a:avLst/>
          </a:prstGeom>
          <a:solidFill>
            <a:srgbClr val="141F2E"/>
          </a:solidFill>
          <a:ln w="6350">
            <a:solidFill>
              <a:srgbClr val="00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39" y="25968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CF8E"/>
                </a:solidFill>
                <a:latin typeface="Microsoft YaHei"/>
              </a:defRPr>
            </a:pPr>
            <a:r>
              <a:t>AI分析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33303" y="2578608"/>
            <a:ext cx="960120" cy="256032"/>
          </a:xfrm>
          <a:prstGeom prst="roundRect">
            <a:avLst/>
          </a:prstGeom>
          <a:solidFill>
            <a:srgbClr val="141F2E"/>
          </a:solidFill>
          <a:ln w="6350">
            <a:solidFill>
              <a:srgbClr val="00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88167" y="25968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CF8E"/>
                </a:solidFill>
                <a:latin typeface="Microsoft YaHei"/>
              </a:defRPr>
            </a:pPr>
            <a:r>
              <a:t>辅助决策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85047" y="2971800"/>
            <a:ext cx="1463040" cy="25400"/>
          </a:xfrm>
          <a:prstGeom prst="rect">
            <a:avLst/>
          </a:prstGeom>
          <a:solidFill>
            <a:srgbClr val="00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5047" y="3200400"/>
            <a:ext cx="311810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新增安全态势 AI 智能分析引擎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基于机器学习识别风险规律与趋势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智能关联分析异常事件根因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可视化态势驾驶舱辅助管理决策</a:t>
            </a:r>
          </a:p>
          <a:p>
            <a:pPr>
              <a:spcAft>
                <a:spcPts val="1000"/>
              </a:spcAft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▸ 自动化报告生成提升响应效率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446520"/>
            <a:ext cx="12191695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510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Microsoft YaHei"/>
              </a:defRPr>
            </a:pPr>
            <a:r>
              <a:t>风险识别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6510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——  全量覆盖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510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Microsoft YaHei"/>
              </a:defRPr>
            </a:pPr>
            <a:r>
              <a:t>数据融合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0" y="6510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——  在线闭环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6510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F8E"/>
                </a:solidFill>
                <a:latin typeface="Microsoft YaHei"/>
              </a:defRPr>
            </a:pPr>
            <a:r>
              <a:t>AI决策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6510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——  智能辅助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