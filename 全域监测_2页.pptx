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2E8F0"/>
                </a:solidFill>
                <a:latin typeface="Microsoft YaHei"/>
              </a:defRPr>
            </a:pPr>
            <a:r>
              <a:t>全域看得全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35类风险场景监测模型 · 四域赋能全覆盖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01 /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1106424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Microsoft YaHei"/>
              </a:defRPr>
            </a:pPr>
            <a: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类风险场景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28800"/>
            <a:ext cx="18288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1828800"/>
            <a:ext cx="18288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1828800"/>
            <a:ext cx="18288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0" y="1828800"/>
            <a:ext cx="18288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监管要求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286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个场景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绿  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286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个场景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安全生产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286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个场景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客户服务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2860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个场景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788920"/>
            <a:ext cx="53949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788920"/>
            <a:ext cx="36576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监管要求场景监测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28986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8 个场景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29183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接送库全流程监测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54787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账户异常交易实时预警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803904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监管报送数据质量核查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059935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反洗钱可疑交易监测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29183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关联交易合规审查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54787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内控缺陷自动识别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803904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监管政策变更追踪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59935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合规培训覆盖率监测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788920"/>
            <a:ext cx="539496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2788920"/>
            <a:ext cx="36576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绿营赋能场景监测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28986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5 个场景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29183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绿色信贷全流程追踪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54787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ESG评级动态更新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29183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绿色债券发行监测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354787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碳减排效益核算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803904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绿营考核指标看板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434840"/>
            <a:ext cx="5394960" cy="2194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4434840"/>
            <a:ext cx="36576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5445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安全生产场景监测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5445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7 个场景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493775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消防设施联动监测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19379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重点区域视频巡检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449823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人员行为规范识别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493775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危险源实时定位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19379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应急预案演练追踪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0" y="5449823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安全隐患闭环管理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5705855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事故根因自动分析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4434840"/>
            <a:ext cx="539496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0" y="4434840"/>
            <a:ext cx="36576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45445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客户服务场景监测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45445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15 个场景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55080" y="493775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服务品质实时评分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519379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客户投诉智能分类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449823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服务流程SOP合规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4937759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排队等候时长预警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0" y="5193792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客户情绪识别分析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5449823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▸  服务之星自动评选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54864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2E8F0"/>
                </a:solidFill>
                <a:latin typeface="Microsoft YaHei"/>
              </a:defRPr>
            </a:pPr>
            <a:r>
              <a:t>下阶段规划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升级现有能力 · 扩展新型监测场景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02 /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20440" cy="4663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520440" cy="45720"/>
          </a:xfrm>
          <a:prstGeom prst="rect">
            <a:avLst/>
          </a:prstGeom>
          <a:solidFill>
            <a:srgbClr val="0D4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59" y="1965960"/>
            <a:ext cx="914400" cy="320040"/>
          </a:xfrm>
          <a:prstGeom prst="rect">
            <a:avLst/>
          </a:prstGeom>
          <a:solidFill>
            <a:srgbClr val="0D4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93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Microsoft YaHei"/>
              </a:defRPr>
            </a:pPr>
            <a:r>
              <a:t>升  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D4F0F"/>
                </a:solidFill>
                <a:latin typeface="Microsoft YaHei"/>
              </a:defRPr>
            </a:pPr>
            <a:r>
              <a:t>2 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人员履职监测场景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3291840"/>
            <a:ext cx="29718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747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值班人员在岗状态实时监测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94759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关键岗位轮岗合规监测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2628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在现有模型基础上增强监测精度</a:t>
            </a:r>
            <a:br/>
            <a:r>
              <a:t>与实时性，补齐履职盲区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691640"/>
            <a:ext cx="3520440" cy="4663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1691640"/>
            <a:ext cx="3520440" cy="45720"/>
          </a:xfrm>
          <a:prstGeom prst="rect">
            <a:avLst/>
          </a:prstGeom>
          <a:solidFill>
            <a:srgbClr val="C3A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1999" y="1965960"/>
            <a:ext cx="914400" cy="320040"/>
          </a:xfrm>
          <a:prstGeom prst="rect">
            <a:avLst/>
          </a:prstGeom>
          <a:solidFill>
            <a:srgbClr val="C3AE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1993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Microsoft YaHei"/>
              </a:defRPr>
            </a:pPr>
            <a:r>
              <a:t>新  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3AE0D"/>
                </a:solidFill>
                <a:latin typeface="Microsoft YaHei"/>
              </a:defRPr>
            </a:pPr>
            <a:r>
              <a:t>3 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操作履职监测场景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1999" y="3291840"/>
            <a:ext cx="29718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4747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业务操作流程偏离告警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3794759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授权审批越权实时拦截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4114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双人复核执行合规监测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452628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覆盖关键操作环节，从事后</a:t>
            </a:r>
            <a:br/>
            <a:r>
              <a:t>追溯升级为事中实时拦截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1691640"/>
            <a:ext cx="3520440" cy="4663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1691640"/>
            <a:ext cx="3520440" cy="45720"/>
          </a:xfrm>
          <a:prstGeom prst="rect">
            <a:avLst/>
          </a:prstGeom>
          <a:solidFill>
            <a:srgbClr val="0B9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1965960"/>
            <a:ext cx="914400" cy="320040"/>
          </a:xfrm>
          <a:prstGeom prst="rect">
            <a:avLst/>
          </a:prstGeom>
          <a:solidFill>
            <a:srgbClr val="0B9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993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E17"/>
                </a:solidFill>
                <a:latin typeface="Microsoft YaHei"/>
              </a:defRPr>
            </a:pPr>
            <a:r>
              <a:t>新  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423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B9801"/>
                </a:solidFill>
                <a:latin typeface="Microsoft YaHei"/>
              </a:defRPr>
            </a:pPr>
            <a:r>
              <a:t>3 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高风险行为自动监测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291840"/>
            <a:ext cx="2971800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4747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异常时段敏感操作捕获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794759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批量数据导出行为监测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114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▸  权限异常提升自动熔断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2628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AI实时分析行为序列，毫秒级</a:t>
            </a:r>
            <a:br/>
            <a:r>
              <a:t>响应高风险异常，自动阻断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6424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367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升级 2 项 + 新增 6 项 = 8 项新型监测场景，实现从「看得全」到「管得住」的跨越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