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8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54864" cy="1645920"/>
          </a:xfrm>
          <a:prstGeom prst="rect">
            <a:avLst/>
          </a:prstGeom>
          <a:solidFill>
            <a:srgbClr val="008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物联感知 · 自动预警 · 数据赋能</a:t>
            </a:r>
          </a:p>
          <a:p>
            <a:pPr algn="l">
              <a:defRPr sz="1600">
                <a:solidFill>
                  <a:srgbClr val="5588BB"/>
                </a:solidFill>
              </a:defRPr>
            </a:pPr>
            <a:r>
              <a:t>智慧物联安全监测体系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4114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291840" cy="45720"/>
          </a:xfrm>
          <a:prstGeom prst="rect">
            <a:avLst/>
          </a:prstGeom>
          <a:solidFill>
            <a:srgbClr val="008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📡  物联感知</a:t>
            </a:r>
          </a:p>
          <a:p>
            <a:pPr>
              <a:defRPr sz="1100">
                <a:solidFill>
                  <a:srgbClr val="557799"/>
                </a:solidFill>
              </a:defRPr>
            </a:pPr>
            <a:r>
              <a:t>IoT Perception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520440"/>
            <a:ext cx="1097280" cy="18288"/>
          </a:xfrm>
          <a:prstGeom prst="rect">
            <a:avLst/>
          </a:prstGeom>
          <a:solidFill>
            <a:srgbClr val="008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4904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BBCCDD"/>
                </a:solidFill>
              </a:defRPr>
            </a:pPr>
            <a:r>
              <a:t>▸ 全域传感器联网，实时采集运行数据</a:t>
            </a:r>
          </a:p>
          <a:p>
            <a:pPr>
              <a:spcAft>
                <a:spcPts val="800"/>
              </a:spcAft>
              <a:defRPr sz="1100">
                <a:solidFill>
                  <a:srgbClr val="BBCCDD"/>
                </a:solidFill>
              </a:defRPr>
            </a:pPr>
            <a:r>
              <a:t>▸ 多维度状态监测与异常识别</a:t>
            </a:r>
          </a:p>
          <a:p>
            <a:pPr>
              <a:spcAft>
                <a:spcPts val="800"/>
              </a:spcAft>
              <a:defRPr sz="1100">
                <a:solidFill>
                  <a:srgbClr val="BBCCDD"/>
                </a:solidFill>
              </a:defRPr>
            </a:pPr>
            <a:r>
              <a:t>▸ 边缘计算前置处理，降低中心压力</a:t>
            </a:r>
          </a:p>
          <a:p>
            <a:pPr>
              <a:spcAft>
                <a:spcPts val="800"/>
              </a:spcAft>
              <a:defRPr sz="1100">
                <a:solidFill>
                  <a:srgbClr val="BBCCDD"/>
                </a:solidFill>
              </a:defRPr>
            </a:pPr>
            <a:r>
              <a:t>▸ 毫秒级数据采集，覆盖全场景感知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291840" cy="4114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286000"/>
            <a:ext cx="329184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606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⚡  自动预警</a:t>
            </a:r>
          </a:p>
          <a:p>
            <a:pPr>
              <a:defRPr sz="1100">
                <a:solidFill>
                  <a:srgbClr val="557799"/>
                </a:solidFill>
              </a:defRPr>
            </a:pPr>
            <a:r>
              <a:t>Auto Alert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3520440"/>
            <a:ext cx="1097280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74904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BBCCDD"/>
                </a:solidFill>
              </a:defRPr>
            </a:pPr>
            <a:r>
              <a:t>▸ AI智能研判，多级预警分级推送</a:t>
            </a:r>
          </a:p>
          <a:p>
            <a:pPr>
              <a:spcAft>
                <a:spcPts val="800"/>
              </a:spcAft>
              <a:defRPr sz="1100">
                <a:solidFill>
                  <a:srgbClr val="BBCCDD"/>
                </a:solidFill>
              </a:defRPr>
            </a:pPr>
            <a:r>
              <a:t>▸ 规则引擎+机器学习双模驱动</a:t>
            </a:r>
          </a:p>
          <a:p>
            <a:pPr>
              <a:spcAft>
                <a:spcPts val="800"/>
              </a:spcAft>
              <a:defRPr sz="1100">
                <a:solidFill>
                  <a:srgbClr val="BBCCDD"/>
                </a:solidFill>
              </a:defRPr>
            </a:pPr>
            <a:r>
              <a:t>▸ 声光联动，自动派单闭环处置</a:t>
            </a:r>
          </a:p>
          <a:p>
            <a:pPr>
              <a:spcAft>
                <a:spcPts val="800"/>
              </a:spcAft>
              <a:defRPr sz="1100">
                <a:solidFill>
                  <a:srgbClr val="BBCCDD"/>
                </a:solidFill>
              </a:defRPr>
            </a:pPr>
            <a:r>
              <a:t>▸ 预警信息秒级触达责任人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86000"/>
            <a:ext cx="3291840" cy="4114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286000"/>
            <a:ext cx="3291840" cy="45720"/>
          </a:xfrm>
          <a:prstGeom prst="rect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📊  数据赋能</a:t>
            </a:r>
          </a:p>
          <a:p>
            <a:pPr>
              <a:defRPr sz="1100">
                <a:solidFill>
                  <a:srgbClr val="557799"/>
                </a:solidFill>
              </a:defRPr>
            </a:pPr>
            <a:r>
              <a:t>Data Empowerment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520440"/>
            <a:ext cx="1097280" cy="18288"/>
          </a:xfrm>
          <a:prstGeom prst="rect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74904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BBCCDD"/>
                </a:solidFill>
              </a:defRPr>
            </a:pPr>
            <a:r>
              <a:t>▸ 大数据分析挖掘风险规律</a:t>
            </a:r>
          </a:p>
          <a:p>
            <a:pPr>
              <a:spcAft>
                <a:spcPts val="800"/>
              </a:spcAft>
              <a:defRPr sz="1100">
                <a:solidFill>
                  <a:srgbClr val="BBCCDD"/>
                </a:solidFill>
              </a:defRPr>
            </a:pPr>
            <a:r>
              <a:t>▸ 可视化驾驶舱一览全局态势</a:t>
            </a:r>
          </a:p>
          <a:p>
            <a:pPr>
              <a:spcAft>
                <a:spcPts val="800"/>
              </a:spcAft>
              <a:defRPr sz="1100">
                <a:solidFill>
                  <a:srgbClr val="BBCCDD"/>
                </a:solidFill>
              </a:defRPr>
            </a:pPr>
            <a:r>
              <a:t>▸ 数据驱动决策，持续优化策略</a:t>
            </a:r>
          </a:p>
          <a:p>
            <a:pPr>
              <a:spcAft>
                <a:spcPts val="800"/>
              </a:spcAft>
              <a:defRPr sz="1100">
                <a:solidFill>
                  <a:srgbClr val="BBCCDD"/>
                </a:solidFill>
              </a:defRPr>
            </a:pPr>
            <a:r>
              <a:t>▸ 历史追溯与趋势预测双向赋能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46688"/>
                </a:solidFill>
              </a:defRPr>
            </a:pPr>
            <a:r>
              <a:t>全域感知  ·  智能联动  ·  实时响应  ·  闭环处置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