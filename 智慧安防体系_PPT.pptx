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7C3AED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572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预警信息看得清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097280"/>
            <a:ext cx="13716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C3AED"/>
                </a:solidFill>
                <a:latin typeface="微软雅黑"/>
              </a:defRPr>
            </a:pPr>
            <a:r>
              <a:t>EARLY WARNING VISIBILITY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389120"/>
          </a:xfrm>
          <a:prstGeom prst="roundRect">
            <a:avLst/>
          </a:prstGeom>
          <a:solidFill>
            <a:srgbClr val="13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864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7C3AED"/>
                </a:solidFill>
                <a:latin typeface="微软雅黑"/>
              </a:defRPr>
            </a:pPr>
            <a:r>
              <a:t>消防云平台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🔥 消防设施感知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  <a:latin typeface="微软雅黑"/>
              </a:defRPr>
            </a:pPr>
            <a:r>
              <a:t>实时监测烟雾 · 温度 · 火焰传感器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  <a:latin typeface="微软雅黑"/>
              </a:defRPr>
            </a:pPr>
            <a:r>
              <a:t>IoT设备全链路接入，秒级数据采集与回传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📹 视频联动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  <a:latin typeface="微软雅黑"/>
              </a:defRPr>
            </a:pPr>
            <a:r>
              <a:t>预警触发自动调取周边摄像头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  <a:latin typeface="微软雅黑"/>
              </a:defRPr>
            </a:pPr>
            <a:r>
              <a:t>AI图像识别辅助判断火情，精准定位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00D4FF"/>
                </a:solidFill>
                <a:latin typeface="微软雅黑"/>
              </a:defRPr>
            </a:pPr>
            <a:r>
              <a:t>IoT感知  ·  AI识别  ·  自动联动  ·  秒级预警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828800"/>
            <a:ext cx="5029200" cy="4389120"/>
          </a:xfrm>
          <a:prstGeom prst="roundRect">
            <a:avLst/>
          </a:prstGeom>
          <a:solidFill>
            <a:srgbClr val="13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⚡ 响应链路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0" y="338328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3474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传感器感知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07808" y="3703320"/>
            <a:ext cx="146304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772400" y="338328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3474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数据汇聚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30768" y="3703320"/>
            <a:ext cx="146304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595360" y="3383280"/>
            <a:ext cx="640080" cy="6400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3474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AI研判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53728" y="3703320"/>
            <a:ext cx="146304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418320" y="3383280"/>
            <a:ext cx="640080" cy="640080"/>
          </a:xfrm>
          <a:prstGeom prst="ellipse">
            <a:avLst/>
          </a:prstGeom>
          <a:solidFill>
            <a:srgbClr val="F5D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3474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预警触发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76688" y="3703320"/>
            <a:ext cx="146304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0241280" y="338328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0" y="3474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视频联动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899648" y="3703320"/>
            <a:ext cx="146304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1064240" y="338328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64240" y="3474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处置闭环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5720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4FF"/>
                </a:solidFill>
                <a:latin typeface="微软雅黑"/>
              </a:defRPr>
            </a:pPr>
            <a:r>
              <a:t>＜3s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50292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预警延迟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45720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4FF"/>
                </a:solidFill>
                <a:latin typeface="微软雅黑"/>
              </a:defRPr>
            </a:pPr>
            <a:r>
              <a:t>99.9%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50292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感知覆盖率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45720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4FF"/>
                </a:solidFill>
                <a:latin typeface="微软雅黑"/>
              </a:defRPr>
            </a:pPr>
            <a:r>
              <a:t>7×24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50292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不间断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92240"/>
            <a:ext cx="2194560" cy="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10B981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572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管理手势看得清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097280"/>
            <a:ext cx="1371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微软雅黑"/>
              </a:defRPr>
            </a:pPr>
            <a:r>
              <a:t>MANAGEMENT VISIBILITY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389120"/>
          </a:xfrm>
          <a:prstGeom prst="roundRect">
            <a:avLst/>
          </a:prstGeom>
          <a:solidFill>
            <a:srgbClr val="13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864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0B981"/>
                </a:solidFill>
                <a:latin typeface="微软雅黑"/>
              </a:defRPr>
            </a:pPr>
            <a:r>
              <a:t>智慧楼宇管理平台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🏢 总行本级办公楼宇可视化管理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  <a:latin typeface="微软雅黑"/>
              </a:defRPr>
            </a:pPr>
            <a:r>
              <a:t>BIM + 3D数字孪生，楼宇结构 / 设备 / 管线一屏掌控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📋 核心能力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  <a:latin typeface="微软雅黑"/>
              </a:defRPr>
            </a:pPr>
            <a:r>
              <a:t>空间管理  ·  能耗监控  ·  设备运维  ·  访客轨迹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  <a:latin typeface="微软雅黑"/>
              </a:defRPr>
            </a:pPr>
            <a:r>
              <a:t>安防态势  ·  环境监测  ·  应急指挥  ·  资产盘点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10B981"/>
                </a:solidFill>
                <a:latin typeface="微软雅黑"/>
              </a:defRPr>
            </a:pPr>
            <a:r>
              <a:t>一屏统览 · 一键调度 · 一图决策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828800"/>
            <a:ext cx="5029200" cy="4389120"/>
          </a:xfrm>
          <a:prstGeom prst="roundRect">
            <a:avLst/>
          </a:prstGeom>
          <a:solidFill>
            <a:srgbClr val="13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🏗️ 数字化楼宇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5431536"/>
            <a:ext cx="1874519" cy="3383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543153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F1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5047488"/>
            <a:ext cx="2377440" cy="3383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5047488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F2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4663440"/>
            <a:ext cx="2880360" cy="3383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4663440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F3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4279392"/>
            <a:ext cx="3383280" cy="3383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4279392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F4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3895344"/>
            <a:ext cx="3886200" cy="3383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895344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F5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3511296"/>
            <a:ext cx="4389120" cy="3383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511296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F6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3127248"/>
            <a:ext cx="4892040" cy="3383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3127248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F7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2743200"/>
            <a:ext cx="5394960" cy="3383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2743200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微软雅黑"/>
              </a:defRPr>
            </a:pPr>
            <a:r>
              <a:t>F8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760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微软雅黑"/>
              </a:defRPr>
            </a:pPr>
            <a:r>
              <a:t>BIM数字孪生  ·  IoT全感知  ·  3D可视化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492240"/>
            <a:ext cx="2194560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D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5D06B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572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处置流程看得清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097280"/>
            <a:ext cx="1371600" cy="38100"/>
          </a:xfrm>
          <a:prstGeom prst="rect">
            <a:avLst/>
          </a:prstGeom>
          <a:solidFill>
            <a:srgbClr val="F5D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D06B"/>
                </a:solidFill>
                <a:latin typeface="微软雅黑"/>
              </a:defRPr>
            </a:pPr>
            <a:r>
              <a:t>PROCESS VISIBILITY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389120"/>
          </a:xfrm>
          <a:prstGeom prst="roundRect">
            <a:avLst/>
          </a:prstGeom>
          <a:solidFill>
            <a:srgbClr val="13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86400" cy="50800"/>
          </a:xfrm>
          <a:prstGeom prst="rect">
            <a:avLst/>
          </a:prstGeom>
          <a:solidFill>
            <a:srgbClr val="F5D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F5D06B"/>
                </a:solidFill>
                <a:latin typeface="微软雅黑"/>
              </a:defRPr>
            </a:pPr>
            <a:r>
              <a:t>金库智能安防系统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🔐 金库安全数字化统一管理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  <a:latin typeface="微软雅黑"/>
              </a:defRPr>
            </a:pPr>
            <a:r>
              <a:t>多因子认证 · 行为分析 · 全流程可追溯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🛡️ 安全层级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C3AED"/>
                </a:solidFill>
                <a:latin typeface="微软雅黑"/>
              </a:defRPr>
            </a:pPr>
            <a:r>
              <a:t>第一层  生物识别 + 多因子认证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59E0B"/>
                </a:solidFill>
                <a:latin typeface="微软雅黑"/>
              </a:defRPr>
            </a:pPr>
            <a:r>
              <a:t>第二层  智能视频分析 + 异常行为检测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D4FF"/>
                </a:solidFill>
                <a:latin typeface="微软雅黑"/>
              </a:defRPr>
            </a:pPr>
            <a:r>
              <a:t>第三层  全流程审计追溯 + 区块链存证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微软雅黑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F5D06B"/>
                </a:solidFill>
                <a:latin typeface="微软雅黑"/>
              </a:defRPr>
            </a:pPr>
            <a:r>
              <a:t>统一管控 · 实时告警 · 合规审计 · 零信任架构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828800"/>
            <a:ext cx="5029200" cy="4389120"/>
          </a:xfrm>
          <a:prstGeom prst="roundRect">
            <a:avLst/>
          </a:prstGeom>
          <a:solidFill>
            <a:srgbClr val="13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🛡️ 安全防护环</a:t>
            </a:r>
          </a:p>
        </p:txBody>
      </p:sp>
      <p:sp>
        <p:nvSpPr>
          <p:cNvPr id="12" name="Oval 11"/>
          <p:cNvSpPr/>
          <p:nvPr/>
        </p:nvSpPr>
        <p:spPr>
          <a:xfrm>
            <a:off x="7223760" y="2011680"/>
            <a:ext cx="2743200" cy="2743200"/>
          </a:xfrm>
          <a:prstGeom prst="ellipse">
            <a:avLst/>
          </a:prstGeom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4343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7C3AED"/>
                </a:solidFill>
                <a:latin typeface="微软雅黑"/>
              </a:defRPr>
            </a:pPr>
            <a:r>
              <a:t>身份认证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2423160"/>
            <a:ext cx="1920240" cy="1920240"/>
          </a:xfrm>
          <a:prstGeom prst="ellipse">
            <a:avLst/>
          </a:prstGeom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4069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微软雅黑"/>
              </a:defRPr>
            </a:pPr>
            <a:r>
              <a:t>行为分析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0" y="2834640"/>
            <a:ext cx="1097280" cy="1097280"/>
          </a:xfrm>
          <a:prstGeom prst="ellipse">
            <a:avLst/>
          </a:prstGeom>
          <a:ln w="19050">
            <a:solidFill>
              <a:srgbClr val="F5D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37947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D06B"/>
                </a:solidFill>
                <a:latin typeface="微软雅黑"/>
              </a:defRPr>
            </a:pPr>
            <a:r>
              <a:t>审计追溯</a:t>
            </a:r>
          </a:p>
        </p:txBody>
      </p:sp>
      <p:sp>
        <p:nvSpPr>
          <p:cNvPr id="18" name="Oval 17"/>
          <p:cNvSpPr/>
          <p:nvPr/>
        </p:nvSpPr>
        <p:spPr>
          <a:xfrm>
            <a:off x="8348472" y="3136392"/>
            <a:ext cx="502920" cy="502920"/>
          </a:xfrm>
          <a:prstGeom prst="ellipse">
            <a:avLst/>
          </a:prstGeom>
          <a:solidFill>
            <a:srgbClr val="F5D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32004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0E14"/>
                </a:solidFill>
                <a:latin typeface="微软雅黑"/>
              </a:defRPr>
            </a:pPr>
            <a:r>
              <a:t>核心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760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D06B"/>
                </a:solidFill>
                <a:latin typeface="微软雅黑"/>
              </a:defRPr>
            </a:pPr>
            <a:r>
              <a:t>全链路数字化  ·  零信任架构  ·  实时风控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6492240"/>
            <a:ext cx="2194560" cy="0"/>
          </a:xfrm>
          <a:prstGeom prst="line">
            <a:avLst/>
          </a:prstGeom>
          <a:ln w="12700">
            <a:solidFill>
              <a:srgbClr val="F5D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D4FF"/>
                </a:solidFill>
                <a:latin typeface="微软雅黑"/>
              </a:defRPr>
            </a:pPr>
            <a: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4572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下阶段规划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09728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微软雅黑"/>
              </a:defRPr>
            </a:pPr>
            <a:r>
              <a:t>NEXT PHASE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2606040" cy="3108960"/>
          </a:xfrm>
          <a:prstGeom prst="roundRect">
            <a:avLst/>
          </a:prstGeom>
          <a:solidFill>
            <a:srgbClr val="13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26060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FFFFFF"/>
                </a:solidFill>
                <a:latin typeface="微软雅黑"/>
              </a:defRPr>
            </a:pPr>
            <a:r>
              <a:t>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2148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搭建数据湖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2148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统一数据底座</a:t>
            </a:r>
            <a:br/>
            <a:r>
              <a:t>汇聚消防 · 楼宇 · 安防全维度数据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920240"/>
            <a:ext cx="2606040" cy="3108960"/>
          </a:xfrm>
          <a:prstGeom prst="roundRect">
            <a:avLst/>
          </a:prstGeom>
          <a:solidFill>
            <a:srgbClr val="13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920240"/>
            <a:ext cx="26060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1945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FFFFFF"/>
                </a:solidFill>
                <a:latin typeface="微软雅黑"/>
              </a:defRPr>
            </a:pPr>
            <a:r>
              <a:t>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017520"/>
            <a:ext cx="2148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打通四大平台</a:t>
            </a:r>
            <a:br/>
            <a:r>
              <a:t>数据链路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023360"/>
            <a:ext cx="2148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消防云 · 楼宇管理 · 金库安防</a:t>
            </a:r>
            <a:br/>
            <a:r>
              <a:t>· E事通数据互联互通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1920240"/>
            <a:ext cx="2606040" cy="3108960"/>
          </a:xfrm>
          <a:prstGeom prst="roundRect">
            <a:avLst/>
          </a:prstGeom>
          <a:solidFill>
            <a:srgbClr val="13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1920240"/>
            <a:ext cx="260604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21945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FFFFFF"/>
                </a:solidFill>
                <a:latin typeface="微软雅黑"/>
              </a:defRPr>
            </a:pPr>
            <a:r>
              <a:t>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3017520"/>
            <a:ext cx="2148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安防APP</a:t>
            </a:r>
            <a:br/>
            <a:r>
              <a:t>接入E事通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4023360"/>
            <a:ext cx="2148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移动端统一入口</a:t>
            </a:r>
            <a:br/>
            <a:r>
              <a:t>随时随地掌握安防态势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19" y="1920240"/>
            <a:ext cx="2606040" cy="3108960"/>
          </a:xfrm>
          <a:prstGeom prst="roundRect">
            <a:avLst/>
          </a:prstGeom>
          <a:solidFill>
            <a:srgbClr val="13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19" y="1920240"/>
            <a:ext cx="2606040" cy="50800"/>
          </a:xfrm>
          <a:prstGeom prst="rect">
            <a:avLst/>
          </a:prstGeom>
          <a:solidFill>
            <a:srgbClr val="F5D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19" y="21945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FFFFFF"/>
                </a:solidFill>
                <a:latin typeface="微软雅黑"/>
              </a:defRPr>
            </a:pPr>
            <a:r>
              <a:t>⚠️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19" y="3017520"/>
            <a:ext cx="2148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构建统一风险</a:t>
            </a:r>
            <a:br/>
            <a:r>
              <a:t>预警视图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19" y="4023360"/>
            <a:ext cx="2148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一张图呈现全行风险态势</a:t>
            </a:r>
            <a:br/>
            <a:r>
              <a:t>智能分级预警 · 联动处置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5486400"/>
            <a:ext cx="11064240" cy="0"/>
          </a:xfrm>
          <a:prstGeom prst="line">
            <a:avLst/>
          </a:prstGeom>
          <a:ln w="1905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554480" y="5349240"/>
            <a:ext cx="256032" cy="256032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66928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Q3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4360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数据湖搭建</a:t>
            </a:r>
          </a:p>
        </p:txBody>
      </p:sp>
      <p:sp>
        <p:nvSpPr>
          <p:cNvPr id="31" name="Oval 30"/>
          <p:cNvSpPr/>
          <p:nvPr/>
        </p:nvSpPr>
        <p:spPr>
          <a:xfrm>
            <a:off x="4434840" y="5349240"/>
            <a:ext cx="256032" cy="256032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566928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Q4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594360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平台对接</a:t>
            </a:r>
          </a:p>
        </p:txBody>
      </p:sp>
      <p:sp>
        <p:nvSpPr>
          <p:cNvPr id="34" name="Oval 33"/>
          <p:cNvSpPr/>
          <p:nvPr/>
        </p:nvSpPr>
        <p:spPr>
          <a:xfrm>
            <a:off x="7315199" y="5349240"/>
            <a:ext cx="256032" cy="256032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566928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Q1 2027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59" y="594360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APP集成</a:t>
            </a:r>
          </a:p>
        </p:txBody>
      </p:sp>
      <p:sp>
        <p:nvSpPr>
          <p:cNvPr id="37" name="Oval 36"/>
          <p:cNvSpPr/>
          <p:nvPr/>
        </p:nvSpPr>
        <p:spPr>
          <a:xfrm>
            <a:off x="10195559" y="5349240"/>
            <a:ext cx="256032" cy="256032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19" y="566928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Q2 2027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19" y="594360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全景上线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8640" y="6492240"/>
            <a:ext cx="2194560" cy="0"/>
          </a:xfrm>
          <a:prstGeom prst="line">
            <a:avLst/>
          </a:prstGeom>
          <a:ln w="127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